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7"/>
  </p:notesMasterIdLst>
  <p:sldIdLst>
    <p:sldId id="28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3A9F75-0D71-4C33-92E3-DF036C11306A}">
  <a:tblStyle styleId="{FC3A9F75-0D71-4C33-92E3-DF036C11306A}"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9"/>
    <p:restoredTop sz="94681"/>
  </p:normalViewPr>
  <p:slideViewPr>
    <p:cSldViewPr snapToGrid="0">
      <p:cViewPr varScale="1">
        <p:scale>
          <a:sx n="112" d="100"/>
          <a:sy n="112" d="100"/>
        </p:scale>
        <p:origin x="208" y="9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106" name="Google Shape;10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129" name="Google Shape;12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The Toyota Production System (TPS) originated from a man named Sakichi Toyoda in the 1920s.</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Sakichi had a strong sense of public service and “doing things for others.”</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One of the first people he wanted to help was his mom, who would sew all night using manual loom.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To help her, he invented an automatic loom.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What made it unique was it would stop if a sewing needle broke.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With a manual loom, the loom continues even if the needle is broken.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When this occurred, the downstream process would produce runs in the fabric stitches of the final product.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By eliminating both defective products and the associated wasteful practices, Sakichi succeeded in rapidly improving both productivity and work efficiency.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This is where the concept of jidoka was born.</a:t>
            </a:r>
            <a:endParaRPr/>
          </a:p>
          <a:p>
            <a:pPr marL="342900" lvl="0" indent="-266700" algn="l" rtl="0">
              <a:spcBef>
                <a:spcPts val="0"/>
              </a:spcBef>
              <a:spcAft>
                <a:spcPts val="0"/>
              </a:spcAft>
              <a:buClr>
                <a:schemeClr val="dk1"/>
              </a:buClr>
              <a:buSzPts val="1200"/>
              <a:buFont typeface="Arial"/>
              <a:buNone/>
            </a:pPr>
            <a:endParaRPr/>
          </a:p>
        </p:txBody>
      </p:sp>
      <p:sp>
        <p:nvSpPr>
          <p:cNvPr id="152" name="Google Shape;15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Clr>
                <a:schemeClr val="dk1"/>
              </a:buClr>
              <a:buSzPts val="1200"/>
              <a:buFont typeface="Arial"/>
              <a:buNone/>
            </a:pPr>
            <a:r>
              <a:rPr lang="en-US"/>
              <a:t>Human is always in the loop</a:t>
            </a:r>
            <a:endParaRPr/>
          </a:p>
        </p:txBody>
      </p:sp>
      <p:sp>
        <p:nvSpPr>
          <p:cNvPr id="177" name="Google Shape;17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The idea behind Jidoka is that by stopping the system you get an immediate opportunity for improvement</a:t>
            </a:r>
            <a:endParaRPr/>
          </a:p>
        </p:txBody>
      </p:sp>
      <p:sp>
        <p:nvSpPr>
          <p:cNvPr id="200" name="Google Shape;20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The idea behind Jidoka is that by stopping the system you get an immediate opportunity for improvement</a:t>
            </a:r>
            <a:endParaRPr/>
          </a:p>
          <a:p>
            <a:pPr marL="171450" lvl="0" indent="-171450" algn="l" rtl="0">
              <a:spcBef>
                <a:spcPts val="0"/>
              </a:spcBef>
              <a:spcAft>
                <a:spcPts val="0"/>
              </a:spcAft>
              <a:buClr>
                <a:schemeClr val="dk1"/>
              </a:buClr>
              <a:buSzPts val="1200"/>
              <a:buFont typeface="Arial"/>
              <a:buChar char="•"/>
            </a:pPr>
            <a:r>
              <a:rPr lang="en-US"/>
              <a:t>Another key take way is to “make work visible” so others can help surge on the problem (Lean introduces kanban boards)</a:t>
            </a:r>
            <a:endParaRPr/>
          </a:p>
          <a:p>
            <a:pPr marL="171450" lvl="0" indent="-171450" algn="l" rtl="0">
              <a:spcBef>
                <a:spcPts val="0"/>
              </a:spcBef>
              <a:spcAft>
                <a:spcPts val="0"/>
              </a:spcAft>
              <a:buClr>
                <a:schemeClr val="dk1"/>
              </a:buClr>
              <a:buSzPts val="1200"/>
              <a:buFont typeface="Arial"/>
              <a:buChar char="•"/>
            </a:pPr>
            <a:r>
              <a:rPr lang="en-US"/>
              <a:t>Everyone should be working towards global goals</a:t>
            </a:r>
            <a:endParaRPr/>
          </a:p>
        </p:txBody>
      </p:sp>
      <p:sp>
        <p:nvSpPr>
          <p:cNvPr id="224" name="Google Shape;22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n-US"/>
              <a:t>1</a:t>
            </a:r>
            <a:r>
              <a:rPr lang="en-US" baseline="30000"/>
              <a:t>st</a:t>
            </a:r>
            <a:r>
              <a:rPr lang="en-US"/>
              <a:t> Waste: Partial work</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Sign up to do something</a:t>
            </a:r>
            <a:endParaRPr/>
          </a:p>
          <a:p>
            <a:pPr marL="1085850" lvl="2" indent="-171450" algn="l" rtl="0">
              <a:spcBef>
                <a:spcPts val="0"/>
              </a:spcBef>
              <a:spcAft>
                <a:spcPts val="0"/>
              </a:spcAft>
              <a:buClr>
                <a:schemeClr val="dk1"/>
              </a:buClr>
              <a:buSzPts val="1200"/>
              <a:buFont typeface="Arial"/>
              <a:buChar char="•"/>
            </a:pPr>
            <a:r>
              <a:rPr lang="en-US"/>
              <a:t>Waiting around to finish that something</a:t>
            </a:r>
            <a:endParaRPr/>
          </a:p>
          <a:p>
            <a:pPr marL="1085850" lvl="2" indent="-171450" algn="l" rtl="0">
              <a:spcBef>
                <a:spcPts val="0"/>
              </a:spcBef>
              <a:spcAft>
                <a:spcPts val="0"/>
              </a:spcAft>
              <a:buClr>
                <a:schemeClr val="dk1"/>
              </a:buClr>
              <a:buSzPts val="1200"/>
              <a:buFont typeface="Arial"/>
              <a:buChar char="•"/>
            </a:pPr>
            <a:r>
              <a:rPr lang="en-US"/>
              <a:t>There comes a point where you’re spending more time managing projects than making progress on them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Identify what your “buckets” and how much they can handle and then enforce that </a:t>
            </a:r>
            <a:endParaRPr/>
          </a:p>
          <a:p>
            <a:pPr marL="171450" lvl="0" indent="-171450" algn="l" rtl="0">
              <a:spcBef>
                <a:spcPts val="0"/>
              </a:spcBef>
              <a:spcAft>
                <a:spcPts val="0"/>
              </a:spcAft>
              <a:buClr>
                <a:schemeClr val="dk1"/>
              </a:buClr>
              <a:buSzPts val="1200"/>
              <a:buFont typeface="Arial"/>
              <a:buChar char="•"/>
            </a:pPr>
            <a:r>
              <a:rPr lang="en-US"/>
              <a:t>2</a:t>
            </a:r>
            <a:r>
              <a:rPr lang="en-US" baseline="30000"/>
              <a:t>nd</a:t>
            </a:r>
            <a:r>
              <a:rPr lang="en-US"/>
              <a:t> Waste: Transportation</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Be diligent in your communication</a:t>
            </a:r>
            <a:endParaRPr/>
          </a:p>
          <a:p>
            <a:pPr marL="1085850" lvl="2" indent="-171450" algn="l" rtl="0">
              <a:spcBef>
                <a:spcPts val="0"/>
              </a:spcBef>
              <a:spcAft>
                <a:spcPts val="0"/>
              </a:spcAft>
              <a:buClr>
                <a:schemeClr val="dk1"/>
              </a:buClr>
              <a:buSzPts val="1200"/>
              <a:buFont typeface="Arial"/>
              <a:buChar char="•"/>
            </a:pPr>
            <a:r>
              <a:rPr lang="en-US"/>
              <a:t>Follow a protocol that improves quality and reduces quantity of DMs</a:t>
            </a:r>
            <a:endParaRPr/>
          </a:p>
          <a:p>
            <a:pPr marL="628650" lvl="1" indent="-171450" algn="l" rtl="0">
              <a:spcBef>
                <a:spcPts val="0"/>
              </a:spcBef>
              <a:spcAft>
                <a:spcPts val="0"/>
              </a:spcAft>
              <a:buClr>
                <a:schemeClr val="dk1"/>
              </a:buClr>
              <a:buSzPts val="1200"/>
              <a:buFont typeface="Arial"/>
              <a:buChar char="•"/>
            </a:pPr>
            <a:r>
              <a:rPr lang="en-US"/>
              <a:t>Reference: Hamster Revolution</a:t>
            </a:r>
            <a:endParaRPr/>
          </a:p>
          <a:p>
            <a:pPr marL="171450" lvl="0" indent="-171450" algn="l" rtl="0">
              <a:spcBef>
                <a:spcPts val="0"/>
              </a:spcBef>
              <a:spcAft>
                <a:spcPts val="0"/>
              </a:spcAft>
              <a:buClr>
                <a:schemeClr val="dk1"/>
              </a:buClr>
              <a:buSzPts val="1200"/>
              <a:buFont typeface="Arial"/>
              <a:buChar char="•"/>
            </a:pPr>
            <a:r>
              <a:rPr lang="en-US"/>
              <a:t>3</a:t>
            </a:r>
            <a:r>
              <a:rPr lang="en-US" baseline="30000"/>
              <a:t>rd</a:t>
            </a:r>
            <a:r>
              <a:rPr lang="en-US"/>
              <a:t> Waste: Movement (looking for stuff)</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Sort by COTA (Customers, Outputs, Teams, Admin)</a:t>
            </a:r>
            <a:endParaRPr/>
          </a:p>
          <a:p>
            <a:pPr marL="171450" lvl="0" indent="-171450" algn="l" rtl="0">
              <a:spcBef>
                <a:spcPts val="0"/>
              </a:spcBef>
              <a:spcAft>
                <a:spcPts val="0"/>
              </a:spcAft>
              <a:buClr>
                <a:schemeClr val="dk1"/>
              </a:buClr>
              <a:buSzPts val="1200"/>
              <a:buFont typeface="Arial"/>
              <a:buChar char="•"/>
            </a:pPr>
            <a:r>
              <a:rPr lang="en-US"/>
              <a:t>4</a:t>
            </a:r>
            <a:r>
              <a:rPr lang="en-US" baseline="30000"/>
              <a:t>th</a:t>
            </a:r>
            <a:r>
              <a:rPr lang="en-US"/>
              <a:t> Waste: Waiting</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Spend that time thinking</a:t>
            </a:r>
            <a:endParaRPr/>
          </a:p>
          <a:p>
            <a:pPr marL="1085850" lvl="2" indent="-171450" algn="l" rtl="0">
              <a:spcBef>
                <a:spcPts val="0"/>
              </a:spcBef>
              <a:spcAft>
                <a:spcPts val="0"/>
              </a:spcAft>
              <a:buClr>
                <a:schemeClr val="dk1"/>
              </a:buClr>
              <a:buSzPts val="1200"/>
              <a:buFont typeface="Arial"/>
              <a:buChar char="•"/>
            </a:pPr>
            <a:r>
              <a:rPr lang="en-US"/>
              <a:t>Reorganize</a:t>
            </a:r>
            <a:endParaRPr/>
          </a:p>
          <a:p>
            <a:pPr marL="1085850" lvl="2" indent="-171450" algn="l" rtl="0">
              <a:spcBef>
                <a:spcPts val="0"/>
              </a:spcBef>
              <a:spcAft>
                <a:spcPts val="0"/>
              </a:spcAft>
              <a:buClr>
                <a:schemeClr val="dk1"/>
              </a:buClr>
              <a:buSzPts val="1200"/>
              <a:buFont typeface="Arial"/>
              <a:buChar char="•"/>
            </a:pPr>
            <a:r>
              <a:rPr lang="en-US"/>
              <a:t>Surge</a:t>
            </a:r>
            <a:endParaRPr/>
          </a:p>
          <a:p>
            <a:pPr marL="171450" lvl="0" indent="-171450" algn="l" rtl="0">
              <a:spcBef>
                <a:spcPts val="0"/>
              </a:spcBef>
              <a:spcAft>
                <a:spcPts val="0"/>
              </a:spcAft>
              <a:buClr>
                <a:schemeClr val="dk1"/>
              </a:buClr>
              <a:buSzPts val="1200"/>
              <a:buFont typeface="Arial"/>
              <a:buChar char="•"/>
            </a:pPr>
            <a:r>
              <a:rPr lang="en-US"/>
              <a:t>5</a:t>
            </a:r>
            <a:r>
              <a:rPr lang="en-US" baseline="30000"/>
              <a:t>th</a:t>
            </a:r>
            <a:r>
              <a:rPr lang="en-US"/>
              <a:t> Waste: Defects</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Use checklists</a:t>
            </a:r>
            <a:endParaRPr/>
          </a:p>
          <a:p>
            <a:pPr marL="171450" lvl="0" indent="-171450" algn="l" rtl="0">
              <a:spcBef>
                <a:spcPts val="0"/>
              </a:spcBef>
              <a:spcAft>
                <a:spcPts val="0"/>
              </a:spcAft>
              <a:buClr>
                <a:schemeClr val="dk1"/>
              </a:buClr>
              <a:buSzPts val="1200"/>
              <a:buFont typeface="Arial"/>
              <a:buChar char="•"/>
            </a:pPr>
            <a:r>
              <a:rPr lang="en-US"/>
              <a:t>6</a:t>
            </a:r>
            <a:r>
              <a:rPr lang="en-US" baseline="30000"/>
              <a:t>th</a:t>
            </a:r>
            <a:r>
              <a:rPr lang="en-US"/>
              <a:t> Waste: Overprocessing</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Doing more than what the customer wants</a:t>
            </a:r>
            <a:endParaRPr/>
          </a:p>
          <a:p>
            <a:pPr marL="1085850" lvl="2" indent="-171450" algn="l" rtl="0">
              <a:spcBef>
                <a:spcPts val="0"/>
              </a:spcBef>
              <a:spcAft>
                <a:spcPts val="0"/>
              </a:spcAft>
              <a:buClr>
                <a:schemeClr val="dk1"/>
              </a:buClr>
              <a:buSzPts val="1200"/>
              <a:buFont typeface="Arial"/>
              <a:buChar char="•"/>
            </a:pPr>
            <a:r>
              <a:rPr lang="en-US"/>
              <a:t>Multi-tasking (maker vs manager schedule)</a:t>
            </a:r>
            <a:endParaRPr/>
          </a:p>
          <a:p>
            <a:pPr marL="628650" lvl="1" indent="-171450" algn="l" rtl="0">
              <a:spcBef>
                <a:spcPts val="0"/>
              </a:spcBef>
              <a:spcAft>
                <a:spcPts val="0"/>
              </a:spcAft>
              <a:buClr>
                <a:schemeClr val="dk1"/>
              </a:buClr>
              <a:buSzPts val="1200"/>
              <a:buFont typeface="Arial"/>
              <a:buChar char="•"/>
            </a:pPr>
            <a:r>
              <a:rPr lang="en-US"/>
              <a:t>Solution: </a:t>
            </a:r>
            <a:endParaRPr/>
          </a:p>
          <a:p>
            <a:pPr marL="171450" lvl="0" indent="-171450" algn="l" rtl="0">
              <a:spcBef>
                <a:spcPts val="0"/>
              </a:spcBef>
              <a:spcAft>
                <a:spcPts val="0"/>
              </a:spcAft>
              <a:buClr>
                <a:schemeClr val="dk1"/>
              </a:buClr>
              <a:buSzPts val="1200"/>
              <a:buFont typeface="Arial"/>
              <a:buChar char="•"/>
            </a:pPr>
            <a:r>
              <a:rPr lang="en-US"/>
              <a:t>7</a:t>
            </a:r>
            <a:r>
              <a:rPr lang="en-US" baseline="30000"/>
              <a:t>th</a:t>
            </a:r>
            <a:r>
              <a:rPr lang="en-US"/>
              <a:t> Waste: Overproduction</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Knowledge too early (it expires before it can be applied)</a:t>
            </a:r>
            <a:endParaRPr/>
          </a:p>
          <a:p>
            <a:pPr marL="628650" lvl="1" indent="-171450" algn="l" rtl="0">
              <a:spcBef>
                <a:spcPts val="0"/>
              </a:spcBef>
              <a:spcAft>
                <a:spcPts val="0"/>
              </a:spcAft>
              <a:buClr>
                <a:schemeClr val="dk1"/>
              </a:buClr>
              <a:buSzPts val="1200"/>
              <a:buFont typeface="Arial"/>
              <a:buChar char="•"/>
            </a:pPr>
            <a:r>
              <a:rPr lang="en-US"/>
              <a:t>Solution:</a:t>
            </a:r>
            <a:endParaRPr/>
          </a:p>
          <a:p>
            <a:pPr marL="628650" lvl="1" indent="-95250" algn="l" rtl="0">
              <a:spcBef>
                <a:spcPts val="0"/>
              </a:spcBef>
              <a:spcAft>
                <a:spcPts val="0"/>
              </a:spcAft>
              <a:buClr>
                <a:schemeClr val="dk1"/>
              </a:buClr>
              <a:buSzPts val="1200"/>
              <a:buFont typeface="Arial"/>
              <a:buNone/>
            </a:pPr>
            <a:endParaRPr/>
          </a:p>
          <a:p>
            <a:pPr marL="1085850" lvl="2" indent="-95250" algn="l" rtl="0">
              <a:spcBef>
                <a:spcPts val="0"/>
              </a:spcBef>
              <a:spcAft>
                <a:spcPts val="0"/>
              </a:spcAft>
              <a:buClr>
                <a:schemeClr val="dk1"/>
              </a:buClr>
              <a:buSzPts val="1200"/>
              <a:buFont typeface="Arial"/>
              <a:buNone/>
            </a:pPr>
            <a:endParaRPr/>
          </a:p>
        </p:txBody>
      </p:sp>
      <p:sp>
        <p:nvSpPr>
          <p:cNvPr id="247" name="Google Shape;24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n-US"/>
              <a:t>1</a:t>
            </a:r>
            <a:r>
              <a:rPr lang="en-US" baseline="30000"/>
              <a:t>st</a:t>
            </a:r>
            <a:r>
              <a:rPr lang="en-US"/>
              <a:t> Waste: Partial work</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Sign up to do something</a:t>
            </a:r>
            <a:endParaRPr/>
          </a:p>
          <a:p>
            <a:pPr marL="1085850" lvl="2" indent="-171450" algn="l" rtl="0">
              <a:spcBef>
                <a:spcPts val="0"/>
              </a:spcBef>
              <a:spcAft>
                <a:spcPts val="0"/>
              </a:spcAft>
              <a:buClr>
                <a:schemeClr val="dk1"/>
              </a:buClr>
              <a:buSzPts val="1200"/>
              <a:buFont typeface="Arial"/>
              <a:buChar char="•"/>
            </a:pPr>
            <a:r>
              <a:rPr lang="en-US"/>
              <a:t>Waiting around to finish that something</a:t>
            </a:r>
            <a:endParaRPr/>
          </a:p>
          <a:p>
            <a:pPr marL="1085850" lvl="2" indent="-171450" algn="l" rtl="0">
              <a:spcBef>
                <a:spcPts val="0"/>
              </a:spcBef>
              <a:spcAft>
                <a:spcPts val="0"/>
              </a:spcAft>
              <a:buClr>
                <a:schemeClr val="dk1"/>
              </a:buClr>
              <a:buSzPts val="1200"/>
              <a:buFont typeface="Arial"/>
              <a:buChar char="•"/>
            </a:pPr>
            <a:r>
              <a:rPr lang="en-US"/>
              <a:t>There comes a point where you’re spending more time managing projects than making progress on them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Identify what your “buckets” and how much they can handle and then enforce that </a:t>
            </a:r>
            <a:endParaRPr/>
          </a:p>
          <a:p>
            <a:pPr marL="171450" lvl="0" indent="-171450" algn="l" rtl="0">
              <a:spcBef>
                <a:spcPts val="0"/>
              </a:spcBef>
              <a:spcAft>
                <a:spcPts val="0"/>
              </a:spcAft>
              <a:buClr>
                <a:schemeClr val="dk1"/>
              </a:buClr>
              <a:buSzPts val="1200"/>
              <a:buFont typeface="Arial"/>
              <a:buChar char="•"/>
            </a:pPr>
            <a:r>
              <a:rPr lang="en-US"/>
              <a:t>2</a:t>
            </a:r>
            <a:r>
              <a:rPr lang="en-US" baseline="30000"/>
              <a:t>nd</a:t>
            </a:r>
            <a:r>
              <a:rPr lang="en-US"/>
              <a:t> Waste: Transportation</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Be diligent in your communication</a:t>
            </a:r>
            <a:endParaRPr/>
          </a:p>
          <a:p>
            <a:pPr marL="1085850" lvl="2" indent="-171450" algn="l" rtl="0">
              <a:spcBef>
                <a:spcPts val="0"/>
              </a:spcBef>
              <a:spcAft>
                <a:spcPts val="0"/>
              </a:spcAft>
              <a:buClr>
                <a:schemeClr val="dk1"/>
              </a:buClr>
              <a:buSzPts val="1200"/>
              <a:buFont typeface="Arial"/>
              <a:buChar char="•"/>
            </a:pPr>
            <a:r>
              <a:rPr lang="en-US"/>
              <a:t>Follow a protocol that improves quality and reduces quantity of DMs</a:t>
            </a:r>
            <a:endParaRPr/>
          </a:p>
          <a:p>
            <a:pPr marL="628650" lvl="1" indent="-171450" algn="l" rtl="0">
              <a:spcBef>
                <a:spcPts val="0"/>
              </a:spcBef>
              <a:spcAft>
                <a:spcPts val="0"/>
              </a:spcAft>
              <a:buClr>
                <a:schemeClr val="dk1"/>
              </a:buClr>
              <a:buSzPts val="1200"/>
              <a:buFont typeface="Arial"/>
              <a:buChar char="•"/>
            </a:pPr>
            <a:r>
              <a:rPr lang="en-US"/>
              <a:t>Reference: Hamster Revolution</a:t>
            </a:r>
            <a:endParaRPr/>
          </a:p>
          <a:p>
            <a:pPr marL="171450" lvl="0" indent="-171450" algn="l" rtl="0">
              <a:spcBef>
                <a:spcPts val="0"/>
              </a:spcBef>
              <a:spcAft>
                <a:spcPts val="0"/>
              </a:spcAft>
              <a:buClr>
                <a:schemeClr val="dk1"/>
              </a:buClr>
              <a:buSzPts val="1200"/>
              <a:buFont typeface="Arial"/>
              <a:buChar char="•"/>
            </a:pPr>
            <a:r>
              <a:rPr lang="en-US"/>
              <a:t>3</a:t>
            </a:r>
            <a:r>
              <a:rPr lang="en-US" baseline="30000"/>
              <a:t>rd</a:t>
            </a:r>
            <a:r>
              <a:rPr lang="en-US"/>
              <a:t> Waste: Movement (looking for stuff)</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Sort by COTA (Customers, Outputs, Teams, Admin)</a:t>
            </a:r>
            <a:endParaRPr/>
          </a:p>
          <a:p>
            <a:pPr marL="171450" lvl="0" indent="-171450" algn="l" rtl="0">
              <a:spcBef>
                <a:spcPts val="0"/>
              </a:spcBef>
              <a:spcAft>
                <a:spcPts val="0"/>
              </a:spcAft>
              <a:buClr>
                <a:schemeClr val="dk1"/>
              </a:buClr>
              <a:buSzPts val="1200"/>
              <a:buFont typeface="Arial"/>
              <a:buChar char="•"/>
            </a:pPr>
            <a:r>
              <a:rPr lang="en-US"/>
              <a:t>4</a:t>
            </a:r>
            <a:r>
              <a:rPr lang="en-US" baseline="30000"/>
              <a:t>th</a:t>
            </a:r>
            <a:r>
              <a:rPr lang="en-US"/>
              <a:t> Waste: Waiting</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Spend that time thinking</a:t>
            </a:r>
            <a:endParaRPr/>
          </a:p>
          <a:p>
            <a:pPr marL="1085850" lvl="2" indent="-171450" algn="l" rtl="0">
              <a:spcBef>
                <a:spcPts val="0"/>
              </a:spcBef>
              <a:spcAft>
                <a:spcPts val="0"/>
              </a:spcAft>
              <a:buClr>
                <a:schemeClr val="dk1"/>
              </a:buClr>
              <a:buSzPts val="1200"/>
              <a:buFont typeface="Arial"/>
              <a:buChar char="•"/>
            </a:pPr>
            <a:r>
              <a:rPr lang="en-US"/>
              <a:t>Reorganize</a:t>
            </a:r>
            <a:endParaRPr/>
          </a:p>
          <a:p>
            <a:pPr marL="1085850" lvl="2" indent="-171450" algn="l" rtl="0">
              <a:spcBef>
                <a:spcPts val="0"/>
              </a:spcBef>
              <a:spcAft>
                <a:spcPts val="0"/>
              </a:spcAft>
              <a:buClr>
                <a:schemeClr val="dk1"/>
              </a:buClr>
              <a:buSzPts val="1200"/>
              <a:buFont typeface="Arial"/>
              <a:buChar char="•"/>
            </a:pPr>
            <a:r>
              <a:rPr lang="en-US"/>
              <a:t>Surge</a:t>
            </a:r>
            <a:endParaRPr/>
          </a:p>
          <a:p>
            <a:pPr marL="171450" lvl="0" indent="-171450" algn="l" rtl="0">
              <a:spcBef>
                <a:spcPts val="0"/>
              </a:spcBef>
              <a:spcAft>
                <a:spcPts val="0"/>
              </a:spcAft>
              <a:buClr>
                <a:schemeClr val="dk1"/>
              </a:buClr>
              <a:buSzPts val="1200"/>
              <a:buFont typeface="Arial"/>
              <a:buChar char="•"/>
            </a:pPr>
            <a:r>
              <a:rPr lang="en-US"/>
              <a:t>5</a:t>
            </a:r>
            <a:r>
              <a:rPr lang="en-US" baseline="30000"/>
              <a:t>th</a:t>
            </a:r>
            <a:r>
              <a:rPr lang="en-US"/>
              <a:t> Waste: Defects</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Use checklists</a:t>
            </a:r>
            <a:endParaRPr/>
          </a:p>
          <a:p>
            <a:pPr marL="171450" lvl="0" indent="-171450" algn="l" rtl="0">
              <a:spcBef>
                <a:spcPts val="0"/>
              </a:spcBef>
              <a:spcAft>
                <a:spcPts val="0"/>
              </a:spcAft>
              <a:buClr>
                <a:schemeClr val="dk1"/>
              </a:buClr>
              <a:buSzPts val="1200"/>
              <a:buFont typeface="Arial"/>
              <a:buChar char="•"/>
            </a:pPr>
            <a:r>
              <a:rPr lang="en-US"/>
              <a:t>6</a:t>
            </a:r>
            <a:r>
              <a:rPr lang="en-US" baseline="30000"/>
              <a:t>th</a:t>
            </a:r>
            <a:r>
              <a:rPr lang="en-US"/>
              <a:t> Waste: Overprocessing</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Doing more than what the customer wants</a:t>
            </a:r>
            <a:endParaRPr/>
          </a:p>
          <a:p>
            <a:pPr marL="1085850" lvl="2" indent="-171450" algn="l" rtl="0">
              <a:spcBef>
                <a:spcPts val="0"/>
              </a:spcBef>
              <a:spcAft>
                <a:spcPts val="0"/>
              </a:spcAft>
              <a:buClr>
                <a:schemeClr val="dk1"/>
              </a:buClr>
              <a:buSzPts val="1200"/>
              <a:buFont typeface="Arial"/>
              <a:buChar char="•"/>
            </a:pPr>
            <a:r>
              <a:rPr lang="en-US"/>
              <a:t>Multi-tasking (maker vs manager schedule)</a:t>
            </a:r>
            <a:endParaRPr/>
          </a:p>
          <a:p>
            <a:pPr marL="628650" lvl="1" indent="-171450" algn="l" rtl="0">
              <a:spcBef>
                <a:spcPts val="0"/>
              </a:spcBef>
              <a:spcAft>
                <a:spcPts val="0"/>
              </a:spcAft>
              <a:buClr>
                <a:schemeClr val="dk1"/>
              </a:buClr>
              <a:buSzPts val="1200"/>
              <a:buFont typeface="Arial"/>
              <a:buChar char="•"/>
            </a:pPr>
            <a:r>
              <a:rPr lang="en-US"/>
              <a:t>Solution: </a:t>
            </a:r>
            <a:endParaRPr/>
          </a:p>
          <a:p>
            <a:pPr marL="171450" lvl="0" indent="-171450" algn="l" rtl="0">
              <a:spcBef>
                <a:spcPts val="0"/>
              </a:spcBef>
              <a:spcAft>
                <a:spcPts val="0"/>
              </a:spcAft>
              <a:buClr>
                <a:schemeClr val="dk1"/>
              </a:buClr>
              <a:buSzPts val="1200"/>
              <a:buFont typeface="Arial"/>
              <a:buChar char="•"/>
            </a:pPr>
            <a:r>
              <a:rPr lang="en-US"/>
              <a:t>7</a:t>
            </a:r>
            <a:r>
              <a:rPr lang="en-US" baseline="30000"/>
              <a:t>th</a:t>
            </a:r>
            <a:r>
              <a:rPr lang="en-US"/>
              <a:t> Waste: Overproduction</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Knowledge too early (it expires before it can be applied)</a:t>
            </a:r>
            <a:endParaRPr/>
          </a:p>
          <a:p>
            <a:pPr marL="628650" lvl="1" indent="-171450" algn="l" rtl="0">
              <a:spcBef>
                <a:spcPts val="0"/>
              </a:spcBef>
              <a:spcAft>
                <a:spcPts val="0"/>
              </a:spcAft>
              <a:buClr>
                <a:schemeClr val="dk1"/>
              </a:buClr>
              <a:buSzPts val="1200"/>
              <a:buFont typeface="Arial"/>
              <a:buChar char="•"/>
            </a:pPr>
            <a:r>
              <a:rPr lang="en-US"/>
              <a:t>Solution:</a:t>
            </a:r>
            <a:endParaRPr/>
          </a:p>
          <a:p>
            <a:pPr marL="628650" lvl="1" indent="-95250" algn="l" rtl="0">
              <a:spcBef>
                <a:spcPts val="0"/>
              </a:spcBef>
              <a:spcAft>
                <a:spcPts val="0"/>
              </a:spcAft>
              <a:buClr>
                <a:schemeClr val="dk1"/>
              </a:buClr>
              <a:buSzPts val="1200"/>
              <a:buFont typeface="Arial"/>
              <a:buNone/>
            </a:pPr>
            <a:endParaRPr/>
          </a:p>
          <a:p>
            <a:pPr marL="1085850" lvl="2" indent="-95250" algn="l" rtl="0">
              <a:spcBef>
                <a:spcPts val="0"/>
              </a:spcBef>
              <a:spcAft>
                <a:spcPts val="0"/>
              </a:spcAft>
              <a:buClr>
                <a:schemeClr val="dk1"/>
              </a:buClr>
              <a:buSzPts val="1200"/>
              <a:buFont typeface="Arial"/>
              <a:buNone/>
            </a:pPr>
            <a:endParaRPr/>
          </a:p>
        </p:txBody>
      </p:sp>
      <p:sp>
        <p:nvSpPr>
          <p:cNvPr id="271" name="Google Shape;2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spcBef>
                <a:spcPts val="0"/>
              </a:spcBef>
              <a:spcAft>
                <a:spcPts val="0"/>
              </a:spcAft>
              <a:buClr>
                <a:schemeClr val="dk1"/>
              </a:buClr>
              <a:buSzPts val="1200"/>
              <a:buFont typeface="Arial"/>
              <a:buNone/>
            </a:pPr>
            <a:endParaRPr/>
          </a:p>
        </p:txBody>
      </p:sp>
      <p:sp>
        <p:nvSpPr>
          <p:cNvPr id="278" name="Google Shape;27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p:txBody>
      </p:sp>
      <p:sp>
        <p:nvSpPr>
          <p:cNvPr id="301" name="Google Shape;30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13" name="Google Shape;31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36" name="Google Shape;33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46" name="Google Shape;34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52" name="Google Shape;35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375" name="Google Shape;37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00" name="Google Shape;40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23" name="Google Shape;42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46" name="Google Shape;44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69" name="Google Shape;46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1" name="Google Shape;49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dirty="0"/>
          </a:p>
          <a:p>
            <a:pPr marL="628650" lvl="1" indent="-95250" algn="l" rtl="0">
              <a:spcBef>
                <a:spcPts val="0"/>
              </a:spcBef>
              <a:spcAft>
                <a:spcPts val="0"/>
              </a:spcAft>
              <a:buClr>
                <a:schemeClr val="dk1"/>
              </a:buClr>
              <a:buSzPts val="1200"/>
              <a:buFont typeface="Arial"/>
              <a:buNone/>
            </a:pPr>
            <a:endParaRPr dirty="0"/>
          </a:p>
        </p:txBody>
      </p:sp>
      <p:sp>
        <p:nvSpPr>
          <p:cNvPr id="492" name="Google Shape;49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506" name="Google Shape;50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endParaRPr lang="en-US" dirty="0"/>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solidFill>
                  <a:schemeClr val="tx2"/>
                </a:solidFill>
              </a:defRPr>
            </a:lvl1pPr>
          </a:lstStyle>
          <a:p>
            <a:r>
              <a:rPr kumimoji="0" lang="en-US" sz="3600" b="0" i="0" u="none" strike="noStrike" kern="1200" cap="all" spc="0" normalizeH="0" baseline="0" noProof="0" dirty="0">
                <a:ln>
                  <a:noFill/>
                </a:ln>
                <a:solidFill>
                  <a:srgbClr val="FFCC01"/>
                </a:solidFill>
                <a:effectLst/>
                <a:uLnTx/>
                <a:uFillTx/>
                <a:latin typeface="Arial"/>
                <a:ea typeface="+mj-ea"/>
                <a:cs typeface="+mj-cs"/>
              </a:rPr>
              <a:t>THREE LINES MAX</a:t>
            </a:r>
            <a:endParaRPr lang="en-US" dirty="0"/>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78233950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endParaRPr lang="en-US" dirty="0"/>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963517207"/>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 Imag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71308866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 White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bg2"/>
                </a:solidFill>
              </a:defRPr>
            </a:lvl1pPr>
          </a:lstStyle>
          <a:p>
            <a:r>
              <a:rPr lang="en-US" dirty="0"/>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28507439"/>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366931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2625796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ogo">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265107402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0_Title Slide">
  <p:cSld name="40_Title Slide">
    <p:spTree>
      <p:nvGrpSpPr>
        <p:cNvPr id="1" name="Shape 15"/>
        <p:cNvGrpSpPr/>
        <p:nvPr/>
      </p:nvGrpSpPr>
      <p:grpSpPr>
        <a:xfrm>
          <a:off x="0" y="0"/>
          <a:ext cx="0" cy="0"/>
          <a:chOff x="0" y="0"/>
          <a:chExt cx="0" cy="0"/>
        </a:xfrm>
      </p:grpSpPr>
      <p:sp>
        <p:nvSpPr>
          <p:cNvPr id="18" name="Google Shape;18;p2"/>
          <p:cNvSpPr txBox="1">
            <a:spLocks noGrp="1"/>
          </p:cNvSpPr>
          <p:nvPr>
            <p:ph type="title"/>
          </p:nvPr>
        </p:nvSpPr>
        <p:spPr>
          <a:xfrm>
            <a:off x="2435538" y="3680024"/>
            <a:ext cx="7320923" cy="107443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668818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2_Title Slide">
  <p:cSld name="22_Title Slide">
    <p:spTree>
      <p:nvGrpSpPr>
        <p:cNvPr id="1" name="Shape 22"/>
        <p:cNvGrpSpPr/>
        <p:nvPr/>
      </p:nvGrpSpPr>
      <p:grpSpPr>
        <a:xfrm>
          <a:off x="0" y="0"/>
          <a:ext cx="0" cy="0"/>
          <a:chOff x="0" y="0"/>
          <a:chExt cx="0" cy="0"/>
        </a:xfrm>
      </p:grpSpPr>
    </p:spTree>
    <p:extLst>
      <p:ext uri="{BB962C8B-B14F-4D97-AF65-F5344CB8AC3E}">
        <p14:creationId xmlns:p14="http://schemas.microsoft.com/office/powerpoint/2010/main" val="2444592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21F2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11"/>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dirty="0"/>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bg2"/>
                </a:solidFill>
              </a:defRPr>
            </a:lvl1pPr>
          </a:lstStyle>
          <a:p>
            <a:endParaRPr lang="en-US" dirty="0"/>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12"/>
          <a:stretch>
            <a:fillRect/>
          </a:stretch>
        </p:blipFill>
        <p:spPr>
          <a:xfrm>
            <a:off x="9926020" y="424087"/>
            <a:ext cx="502494" cy="477704"/>
          </a:xfrm>
          <a:prstGeom prst="rect">
            <a:avLst/>
          </a:prstGeom>
        </p:spPr>
      </p:pic>
      <p:pic>
        <p:nvPicPr>
          <p:cNvPr id="4" name="Picture 3">
            <a:extLst>
              <a:ext uri="{FF2B5EF4-FFF2-40B4-BE49-F238E27FC236}">
                <a16:creationId xmlns:a16="http://schemas.microsoft.com/office/drawing/2014/main" id="{BCC07766-4C8F-4F66-6F15-4A15B00AD7EB}"/>
              </a:ext>
            </a:extLst>
          </p:cNvPr>
          <p:cNvPicPr>
            <a:picLocks noChangeAspect="1"/>
          </p:cNvPicPr>
          <p:nvPr userDrawn="1"/>
        </p:nvPicPr>
        <p:blipFill>
          <a:blip r:embed="rId13"/>
          <a:srcRect/>
          <a:stretch/>
        </p:blipFill>
        <p:spPr>
          <a:xfrm>
            <a:off x="10004616" y="411162"/>
            <a:ext cx="1629707" cy="478023"/>
          </a:xfrm>
          <a:prstGeom prst="rect">
            <a:avLst/>
          </a:prstGeom>
        </p:spPr>
      </p:pic>
    </p:spTree>
    <p:extLst>
      <p:ext uri="{BB962C8B-B14F-4D97-AF65-F5344CB8AC3E}">
        <p14:creationId xmlns:p14="http://schemas.microsoft.com/office/powerpoint/2010/main" val="2567649207"/>
      </p:ext>
    </p:extLst>
  </p:cSld>
  <p:clrMap bg1="lt1" tx1="dk1" bg2="lt2" tx2="dk2" accent1="accent1" accent2="accent2" accent3="accent3" accent4="accent4" accent5="accent5" accent6="accent6" hlink="hlink" folHlink="folHlink"/>
  <p:sldLayoutIdLst>
    <p:sldLayoutId id="2147483663" r:id="rId1"/>
    <p:sldLayoutId id="2147483681" r:id="rId2"/>
    <p:sldLayoutId id="2147483682" r:id="rId3"/>
    <p:sldLayoutId id="2147483683" r:id="rId4"/>
    <p:sldLayoutId id="2147483687" r:id="rId5"/>
    <p:sldLayoutId id="2147483691" r:id="rId6"/>
    <p:sldLayoutId id="2147483692" r:id="rId7"/>
    <p:sldLayoutId id="2147483693" r:id="rId8"/>
    <p:sldLayoutId id="2147483694" r:id="rId9"/>
  </p:sldLayoutIdLst>
  <p:hf sldNum="0" hdr="0" ftr="0" dt="0"/>
  <p:txStyles>
    <p:titleStyle>
      <a:lvl1pPr algn="l" defTabSz="914400" rtl="0" eaLnBrk="1" latinLnBrk="0" hangingPunct="1">
        <a:lnSpc>
          <a:spcPct val="90000"/>
        </a:lnSpc>
        <a:spcBef>
          <a:spcPct val="0"/>
        </a:spcBef>
        <a:buNone/>
        <a:defRPr sz="3200" kern="1200" cap="all" baseline="0">
          <a:solidFill>
            <a:schemeClr val="bg2"/>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bg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12.jp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global.toyota/en/company/vision-and-philosophy/production-system/"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hyperlink" Target="https://itrevolution.com/product/the-devops-handbook-second-edition/" TargetMode="External"/><Relationship Id="rId5" Type="http://schemas.openxmlformats.org/officeDocument/2006/relationships/hyperlink" Target="https://agilemanifesto.org/" TargetMode="External"/><Relationship Id="rId4" Type="http://schemas.openxmlformats.org/officeDocument/2006/relationships/hyperlink" Target="https://youtu.be/tfQiGDUBdD0?si=rPpgv_lnBAJB0LK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afc-ai2c/coding-katas/"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23 December 2025</a:t>
            </a:fld>
            <a:endParaRPr lang="en-US"/>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b="1" cap="none" dirty="0" err="1">
                <a:ea typeface="Arial"/>
                <a:cs typeface="Arial"/>
                <a:sym typeface="Arial"/>
              </a:rPr>
              <a:t>DevSecOps</a:t>
            </a:r>
            <a:br>
              <a:rPr lang="en-US" dirty="0"/>
            </a:br>
            <a:endParaRPr lang="en-US" dirty="0"/>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
        <p:nvSpPr>
          <p:cNvPr id="17" name="TextBox 16">
            <a:extLst>
              <a:ext uri="{FF2B5EF4-FFF2-40B4-BE49-F238E27FC236}">
                <a16:creationId xmlns:a16="http://schemas.microsoft.com/office/drawing/2014/main" id="{D3077BAB-AF46-B0AC-FB82-B4674B72CCA3}"/>
              </a:ext>
            </a:extLst>
          </p:cNvPr>
          <p:cNvSpPr txBox="1"/>
          <p:nvPr/>
        </p:nvSpPr>
        <p:spPr>
          <a:xfrm>
            <a:off x="4331368" y="2791326"/>
            <a:ext cx="0" cy="0"/>
          </a:xfrm>
          <a:prstGeom prst="rect">
            <a:avLst/>
          </a:prstGeom>
          <a:noFill/>
        </p:spPr>
        <p:txBody>
          <a:bodyPr wrap="none" lIns="0" tIns="0" rIns="0" bIns="0" rtlCol="0">
            <a:noAutofit/>
          </a:bodyPr>
          <a:lstStyle/>
          <a:p>
            <a:pPr>
              <a:lnSpc>
                <a:spcPct val="95000"/>
              </a:lnSpc>
              <a:spcBef>
                <a:spcPts val="1000"/>
              </a:spcBef>
              <a:buSzPct val="100000"/>
            </a:pPr>
            <a:endParaRPr lang="en-US" sz="1700" dirty="0"/>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Agenda</a:t>
            </a:r>
            <a:endParaRPr sz="4400" dirty="0">
              <a:solidFill>
                <a:schemeClr val="bg2"/>
              </a:solidFill>
              <a:latin typeface="Arial"/>
              <a:ea typeface="Arial"/>
              <a:cs typeface="Arial"/>
              <a:sym typeface="Arial"/>
            </a:endParaRPr>
          </a:p>
        </p:txBody>
      </p:sp>
      <p:sp>
        <p:nvSpPr>
          <p:cNvPr id="109" name="Google Shape;109;p16"/>
          <p:cNvSpPr txBox="1"/>
          <p:nvPr/>
        </p:nvSpPr>
        <p:spPr>
          <a:xfrm>
            <a:off x="838200" y="1325563"/>
            <a:ext cx="4506214"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0900</a:t>
            </a:r>
            <a:endParaRPr dirty="0">
              <a:solidFill>
                <a:schemeClr val="bg2"/>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Value Streams</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The Toyota Production System</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Lean</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Agile</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err="1">
                <a:solidFill>
                  <a:schemeClr val="bg1"/>
                </a:solidFill>
                <a:latin typeface="Arial"/>
                <a:ea typeface="Arial"/>
                <a:cs typeface="Arial"/>
                <a:sym typeface="Arial"/>
              </a:rPr>
              <a:t>DevSecOps</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Break</a:t>
            </a:r>
            <a:endParaRPr dirty="0">
              <a:solidFill>
                <a:schemeClr val="bg1"/>
              </a:solidFill>
            </a:endParaRPr>
          </a:p>
          <a:p>
            <a:pPr marL="0" marR="0" lvl="0" indent="0" algn="l" rtl="0">
              <a:spcBef>
                <a:spcPts val="0"/>
              </a:spcBef>
              <a:spcAft>
                <a:spcPts val="0"/>
              </a:spcAft>
              <a:buClr>
                <a:schemeClr val="bg2"/>
              </a:buClr>
              <a:buNone/>
            </a:pPr>
            <a:endParaRPr sz="1200" dirty="0">
              <a:solidFill>
                <a:schemeClr val="dk1"/>
              </a:solidFill>
              <a:latin typeface="Arial"/>
              <a:ea typeface="Arial"/>
              <a:cs typeface="Arial"/>
              <a:sym typeface="Arial"/>
            </a:endParaRPr>
          </a:p>
          <a:p>
            <a:pPr marL="0" marR="0" lvl="0" indent="0" algn="l" rtl="0">
              <a:spcBef>
                <a:spcPts val="0"/>
              </a:spcBef>
              <a:spcAft>
                <a:spcPts val="0"/>
              </a:spcAft>
              <a:buClr>
                <a:schemeClr val="bg2"/>
              </a:buClr>
              <a:buNone/>
            </a:pPr>
            <a:r>
              <a:rPr lang="en-US" sz="2400" b="1" dirty="0">
                <a:solidFill>
                  <a:schemeClr val="bg2"/>
                </a:solidFill>
                <a:latin typeface="Arial"/>
                <a:ea typeface="Arial"/>
                <a:cs typeface="Arial"/>
                <a:sym typeface="Arial"/>
              </a:rPr>
              <a:t>1000</a:t>
            </a:r>
            <a:endParaRPr dirty="0">
              <a:solidFill>
                <a:schemeClr val="bg2"/>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Practical Exercise</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Break</a:t>
            </a:r>
            <a:endParaRPr dirty="0">
              <a:solidFill>
                <a:schemeClr val="bg1"/>
              </a:solidFill>
            </a:endParaRPr>
          </a:p>
          <a:p>
            <a:pPr marL="0" marR="0" lvl="0" indent="0" algn="l" rtl="0">
              <a:spcBef>
                <a:spcPts val="0"/>
              </a:spcBef>
              <a:spcAft>
                <a:spcPts val="0"/>
              </a:spcAft>
              <a:buClr>
                <a:schemeClr val="bg2"/>
              </a:buClr>
              <a:buNone/>
            </a:pPr>
            <a:endParaRPr sz="1200" dirty="0">
              <a:solidFill>
                <a:schemeClr val="dk1"/>
              </a:solidFill>
              <a:latin typeface="Arial"/>
              <a:ea typeface="Arial"/>
              <a:cs typeface="Arial"/>
              <a:sym typeface="Arial"/>
            </a:endParaRPr>
          </a:p>
          <a:p>
            <a:pPr marL="0" marR="0" lvl="0" indent="0" algn="l" rtl="0">
              <a:spcBef>
                <a:spcPts val="0"/>
              </a:spcBef>
              <a:spcAft>
                <a:spcPts val="0"/>
              </a:spcAft>
              <a:buClr>
                <a:schemeClr val="bg2"/>
              </a:buClr>
              <a:buNone/>
            </a:pPr>
            <a:r>
              <a:rPr lang="en-US" sz="2400" b="1" dirty="0">
                <a:solidFill>
                  <a:schemeClr val="bg2"/>
                </a:solidFill>
                <a:latin typeface="Arial"/>
                <a:ea typeface="Arial"/>
                <a:cs typeface="Arial"/>
                <a:sym typeface="Arial"/>
              </a:rPr>
              <a:t>1100</a:t>
            </a:r>
            <a:endParaRPr dirty="0">
              <a:solidFill>
                <a:schemeClr val="bg2"/>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Quiz</a:t>
            </a:r>
            <a:endParaRPr dirty="0">
              <a:solidFill>
                <a:schemeClr val="bg1"/>
              </a:solidFill>
            </a:endParaRPr>
          </a:p>
        </p:txBody>
      </p:sp>
      <p:grpSp>
        <p:nvGrpSpPr>
          <p:cNvPr id="2" name="Group 1">
            <a:extLst>
              <a:ext uri="{FF2B5EF4-FFF2-40B4-BE49-F238E27FC236}">
                <a16:creationId xmlns:a16="http://schemas.microsoft.com/office/drawing/2014/main" id="{05239B9C-8219-BC0F-9FAE-9C4243AD8AE7}"/>
              </a:ext>
            </a:extLst>
          </p:cNvPr>
          <p:cNvGrpSpPr/>
          <p:nvPr/>
        </p:nvGrpSpPr>
        <p:grpSpPr>
          <a:xfrm>
            <a:off x="5644894" y="584939"/>
            <a:ext cx="4413505" cy="5355879"/>
            <a:chOff x="7514852" y="448397"/>
            <a:chExt cx="4084063" cy="5440846"/>
          </a:xfrm>
        </p:grpSpPr>
        <p:grpSp>
          <p:nvGrpSpPr>
            <p:cNvPr id="110" name="Google Shape;110;p16"/>
            <p:cNvGrpSpPr/>
            <p:nvPr/>
          </p:nvGrpSpPr>
          <p:grpSpPr>
            <a:xfrm>
              <a:off x="8389071" y="448397"/>
              <a:ext cx="3209844" cy="3622538"/>
              <a:chOff x="848152" y="22927"/>
              <a:chExt cx="3209844" cy="3622538"/>
            </a:xfrm>
          </p:grpSpPr>
          <p:sp>
            <p:nvSpPr>
              <p:cNvPr id="111" name="Google Shape;111;p16"/>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6"/>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6"/>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5" name="Google Shape;115;p16"/>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17" name="Google Shape;117;p16"/>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6"/>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19" name="Google Shape;119;p16"/>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6"/>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21" name="Google Shape;121;p16"/>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2" name="Google Shape;122;p16"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23" name="Google Shape;123;p16" descr="1,248 River Isometric View Stock Vectors and Vector Art | Shutterstock"/>
            <p:cNvPicPr preferRelativeResize="0"/>
            <p:nvPr/>
          </p:nvPicPr>
          <p:blipFill rotWithShape="1">
            <a:blip r:embed="rId4">
              <a:alphaModFix/>
            </a:blip>
            <a:srcRect l="3369" t="4695" r="3464" b="9779"/>
            <a:stretch/>
          </p:blipFill>
          <p:spPr>
            <a:xfrm>
              <a:off x="7857966" y="3143516"/>
              <a:ext cx="3265714" cy="2280976"/>
            </a:xfrm>
            <a:prstGeom prst="rect">
              <a:avLst/>
            </a:prstGeom>
            <a:noFill/>
            <a:ln>
              <a:noFill/>
            </a:ln>
          </p:spPr>
        </p:pic>
        <p:pic>
          <p:nvPicPr>
            <p:cNvPr id="124" name="Google Shape;124;p16"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Value Streams</a:t>
            </a:r>
            <a:endParaRPr sz="4400" dirty="0">
              <a:solidFill>
                <a:schemeClr val="bg2"/>
              </a:solidFill>
              <a:latin typeface="Arial"/>
              <a:ea typeface="Arial"/>
              <a:cs typeface="Arial"/>
              <a:sym typeface="Arial"/>
            </a:endParaRPr>
          </a:p>
        </p:txBody>
      </p:sp>
      <p:sp>
        <p:nvSpPr>
          <p:cNvPr id="132" name="Google Shape;132;p17"/>
          <p:cNvSpPr txBox="1"/>
          <p:nvPr/>
        </p:nvSpPr>
        <p:spPr>
          <a:xfrm>
            <a:off x="838200" y="1577263"/>
            <a:ext cx="5257800" cy="41549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A value stream is the process required to convert a business hypothesis into a service or feature for a customer.</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Examples:</a:t>
            </a:r>
            <a:endParaRPr dirty="0">
              <a:solidFill>
                <a:schemeClr val="bg1"/>
              </a:solidFill>
            </a:endParaRPr>
          </a:p>
          <a:p>
            <a:pPr marL="800100" marR="0" lvl="1" indent="-342900" algn="l" rtl="0">
              <a:spcBef>
                <a:spcPts val="0"/>
              </a:spcBef>
              <a:spcAft>
                <a:spcPts val="0"/>
              </a:spcAft>
              <a:buClr>
                <a:schemeClr val="bg2"/>
              </a:buClr>
              <a:buSzPts val="2400"/>
              <a:buFont typeface="Arial"/>
              <a:buChar char="•"/>
            </a:pPr>
            <a:r>
              <a:rPr lang="en-US" sz="2400" b="0" i="0" u="none" strike="noStrike" cap="none" dirty="0">
                <a:solidFill>
                  <a:schemeClr val="bg1"/>
                </a:solidFill>
                <a:latin typeface="Arial"/>
                <a:ea typeface="Arial"/>
                <a:cs typeface="Arial"/>
                <a:sym typeface="Arial"/>
              </a:rPr>
              <a:t>Power, gas, and water utilities</a:t>
            </a:r>
            <a:endParaRPr dirty="0">
              <a:solidFill>
                <a:schemeClr val="bg1"/>
              </a:solidFill>
            </a:endParaRPr>
          </a:p>
          <a:p>
            <a:pPr marL="800100" marR="0" lvl="1" indent="-342900" algn="l" rtl="0">
              <a:spcBef>
                <a:spcPts val="0"/>
              </a:spcBef>
              <a:spcAft>
                <a:spcPts val="0"/>
              </a:spcAft>
              <a:buClr>
                <a:schemeClr val="bg2"/>
              </a:buClr>
              <a:buSzPts val="2400"/>
              <a:buFont typeface="Arial"/>
              <a:buChar char="•"/>
            </a:pPr>
            <a:r>
              <a:rPr lang="en-US" sz="2400" b="0" i="0" u="none" strike="noStrike" cap="none" dirty="0">
                <a:solidFill>
                  <a:schemeClr val="bg1"/>
                </a:solidFill>
                <a:latin typeface="Arial"/>
                <a:ea typeface="Arial"/>
                <a:cs typeface="Arial"/>
                <a:sym typeface="Arial"/>
              </a:rPr>
              <a:t>Internet access</a:t>
            </a:r>
            <a:endParaRPr dirty="0">
              <a:solidFill>
                <a:schemeClr val="bg1"/>
              </a:solidFill>
            </a:endParaRPr>
          </a:p>
          <a:p>
            <a:pPr marL="800100" marR="0" lvl="1" indent="-342900" algn="l" rtl="0">
              <a:spcBef>
                <a:spcPts val="0"/>
              </a:spcBef>
              <a:spcAft>
                <a:spcPts val="0"/>
              </a:spcAft>
              <a:buClr>
                <a:schemeClr val="bg2"/>
              </a:buClr>
              <a:buSzPts val="2400"/>
              <a:buFont typeface="Arial"/>
              <a:buChar char="•"/>
            </a:pPr>
            <a:r>
              <a:rPr lang="en-US" sz="2400" b="0" i="0" u="none" strike="noStrike" cap="none" dirty="0">
                <a:solidFill>
                  <a:schemeClr val="bg1"/>
                </a:solidFill>
                <a:latin typeface="Arial"/>
                <a:ea typeface="Arial"/>
                <a:cs typeface="Arial"/>
                <a:sym typeface="Arial"/>
              </a:rPr>
              <a:t>Laundry</a:t>
            </a:r>
            <a:endParaRPr dirty="0">
              <a:solidFill>
                <a:schemeClr val="bg1"/>
              </a:solidFill>
            </a:endParaRPr>
          </a:p>
          <a:p>
            <a:pPr marL="800100" marR="0" lvl="1" indent="-342900" algn="l" rtl="0">
              <a:spcBef>
                <a:spcPts val="0"/>
              </a:spcBef>
              <a:spcAft>
                <a:spcPts val="0"/>
              </a:spcAft>
              <a:buClr>
                <a:schemeClr val="bg2"/>
              </a:buClr>
              <a:buSzPts val="2400"/>
              <a:buFont typeface="Arial"/>
              <a:buChar char="•"/>
            </a:pPr>
            <a:r>
              <a:rPr lang="en-US" sz="2400" b="0" i="0" u="none" strike="noStrike" cap="none" dirty="0">
                <a:solidFill>
                  <a:schemeClr val="bg1"/>
                </a:solidFill>
                <a:latin typeface="Arial"/>
                <a:ea typeface="Arial"/>
                <a:cs typeface="Arial"/>
                <a:sym typeface="Arial"/>
              </a:rPr>
              <a:t>Food delivery</a:t>
            </a:r>
            <a:endParaRPr dirty="0">
              <a:solidFill>
                <a:schemeClr val="bg1"/>
              </a:solidFill>
            </a:endParaRPr>
          </a:p>
          <a:p>
            <a:pPr marL="800100" marR="0" lvl="1" indent="-342900" algn="l" rtl="0">
              <a:spcBef>
                <a:spcPts val="0"/>
              </a:spcBef>
              <a:spcAft>
                <a:spcPts val="0"/>
              </a:spcAft>
              <a:buClr>
                <a:schemeClr val="bg2"/>
              </a:buClr>
              <a:buSzPts val="2400"/>
              <a:buFont typeface="Arial"/>
              <a:buChar char="•"/>
            </a:pPr>
            <a:r>
              <a:rPr lang="en-US" sz="2400" b="0" i="0" u="none" strike="noStrike" cap="none" dirty="0">
                <a:solidFill>
                  <a:schemeClr val="bg1"/>
                </a:solidFill>
                <a:latin typeface="Arial"/>
                <a:ea typeface="Arial"/>
                <a:cs typeface="Arial"/>
                <a:sym typeface="Arial"/>
              </a:rPr>
              <a:t>3D printing</a:t>
            </a:r>
            <a:endParaRPr dirty="0">
              <a:solidFill>
                <a:schemeClr val="bg1"/>
              </a:solidFill>
            </a:endParaRPr>
          </a:p>
          <a:p>
            <a:pPr marL="800100" marR="0" lvl="1" indent="-342900" algn="l" rtl="0">
              <a:spcBef>
                <a:spcPts val="0"/>
              </a:spcBef>
              <a:spcAft>
                <a:spcPts val="0"/>
              </a:spcAft>
              <a:buClr>
                <a:schemeClr val="bg2"/>
              </a:buClr>
              <a:buSzPts val="2400"/>
              <a:buFont typeface="Arial"/>
              <a:buChar char="•"/>
            </a:pPr>
            <a:r>
              <a:rPr lang="en-US" sz="2400" b="0" i="0" u="none" strike="noStrike" cap="none" dirty="0">
                <a:solidFill>
                  <a:schemeClr val="bg1"/>
                </a:solidFill>
                <a:latin typeface="Arial"/>
                <a:ea typeface="Arial"/>
                <a:cs typeface="Arial"/>
                <a:sym typeface="Arial"/>
              </a:rPr>
              <a:t>Social media content </a:t>
            </a:r>
            <a:endParaRPr dirty="0">
              <a:solidFill>
                <a:schemeClr val="bg1"/>
              </a:solidFill>
            </a:endParaRPr>
          </a:p>
        </p:txBody>
      </p:sp>
      <p:grpSp>
        <p:nvGrpSpPr>
          <p:cNvPr id="2" name="Group 1">
            <a:extLst>
              <a:ext uri="{FF2B5EF4-FFF2-40B4-BE49-F238E27FC236}">
                <a16:creationId xmlns:a16="http://schemas.microsoft.com/office/drawing/2014/main" id="{F1994965-FA10-952F-1C5B-354243EA3EE2}"/>
              </a:ext>
            </a:extLst>
          </p:cNvPr>
          <p:cNvGrpSpPr/>
          <p:nvPr/>
        </p:nvGrpSpPr>
        <p:grpSpPr>
          <a:xfrm>
            <a:off x="5957901" y="423684"/>
            <a:ext cx="4084063" cy="5440846"/>
            <a:chOff x="7514852" y="448397"/>
            <a:chExt cx="4084063" cy="5440846"/>
          </a:xfrm>
        </p:grpSpPr>
        <p:grpSp>
          <p:nvGrpSpPr>
            <p:cNvPr id="133" name="Google Shape;133;p17"/>
            <p:cNvGrpSpPr/>
            <p:nvPr/>
          </p:nvGrpSpPr>
          <p:grpSpPr>
            <a:xfrm>
              <a:off x="8389071" y="448397"/>
              <a:ext cx="3209844" cy="3622538"/>
              <a:chOff x="848152" y="22927"/>
              <a:chExt cx="3209844" cy="3622538"/>
            </a:xfrm>
          </p:grpSpPr>
          <p:sp>
            <p:nvSpPr>
              <p:cNvPr id="134" name="Google Shape;134;p17"/>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7"/>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7"/>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38" name="Google Shape;138;p17"/>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40" name="Google Shape;140;p17"/>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7"/>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42" name="Google Shape;142;p17"/>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7"/>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44" name="Google Shape;144;p17"/>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5" name="Google Shape;145;p17"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46" name="Google Shape;146;p17"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147" name="Google Shape;147;p17"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Toyota Production System</a:t>
            </a:r>
            <a:endParaRPr sz="4400" dirty="0">
              <a:solidFill>
                <a:schemeClr val="bg2"/>
              </a:solidFill>
              <a:latin typeface="Arial"/>
              <a:ea typeface="Arial"/>
              <a:cs typeface="Arial"/>
              <a:sym typeface="Arial"/>
            </a:endParaRPr>
          </a:p>
        </p:txBody>
      </p:sp>
      <p:sp>
        <p:nvSpPr>
          <p:cNvPr id="155" name="Google Shape;155;p18"/>
          <p:cNvSpPr txBox="1"/>
          <p:nvPr/>
        </p:nvSpPr>
        <p:spPr>
          <a:xfrm>
            <a:off x="838200" y="1577263"/>
            <a:ext cx="5280476" cy="230828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A production system based on the philosophy of achieving the complete elimination of waste in pursuit of the most efficient methods.</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rgbClr val="FF0000"/>
                </a:solidFill>
                <a:latin typeface="Arial"/>
                <a:ea typeface="Arial"/>
                <a:cs typeface="Arial"/>
                <a:sym typeface="Arial"/>
              </a:rPr>
              <a:t>Making work easier for workers.</a:t>
            </a:r>
            <a:endParaRPr dirty="0"/>
          </a:p>
        </p:txBody>
      </p:sp>
      <p:grpSp>
        <p:nvGrpSpPr>
          <p:cNvPr id="2" name="Group 1">
            <a:extLst>
              <a:ext uri="{FF2B5EF4-FFF2-40B4-BE49-F238E27FC236}">
                <a16:creationId xmlns:a16="http://schemas.microsoft.com/office/drawing/2014/main" id="{BA5A3801-8D3A-6246-1A10-E97DBA73B720}"/>
              </a:ext>
            </a:extLst>
          </p:cNvPr>
          <p:cNvGrpSpPr/>
          <p:nvPr/>
        </p:nvGrpSpPr>
        <p:grpSpPr>
          <a:xfrm>
            <a:off x="7217352" y="955024"/>
            <a:ext cx="4084063" cy="5440846"/>
            <a:chOff x="7514852" y="448397"/>
            <a:chExt cx="4084063" cy="5440846"/>
          </a:xfrm>
        </p:grpSpPr>
        <p:grpSp>
          <p:nvGrpSpPr>
            <p:cNvPr id="156" name="Google Shape;156;p18"/>
            <p:cNvGrpSpPr/>
            <p:nvPr/>
          </p:nvGrpSpPr>
          <p:grpSpPr>
            <a:xfrm>
              <a:off x="8389071" y="448397"/>
              <a:ext cx="3209844" cy="3622538"/>
              <a:chOff x="848152" y="22927"/>
              <a:chExt cx="3209844" cy="3622538"/>
            </a:xfrm>
          </p:grpSpPr>
          <p:sp>
            <p:nvSpPr>
              <p:cNvPr id="157" name="Google Shape;157;p18"/>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8"/>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8"/>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8"/>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61" name="Google Shape;161;p18"/>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8"/>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63" name="Google Shape;163;p18"/>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65" name="Google Shape;165;p18"/>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67" name="Google Shape;167;p18"/>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8" name="Google Shape;168;p18"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69" name="Google Shape;169;p18"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170" name="Google Shape;170;p18"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pic>
        <p:nvPicPr>
          <p:cNvPr id="172" name="Google Shape;172;p18"/>
          <p:cNvPicPr preferRelativeResize="0"/>
          <p:nvPr/>
        </p:nvPicPr>
        <p:blipFill rotWithShape="1">
          <a:blip r:embed="rId6">
            <a:alphaModFix/>
          </a:blip>
          <a:srcRect/>
          <a:stretch/>
        </p:blipFill>
        <p:spPr>
          <a:xfrm>
            <a:off x="421770" y="4103563"/>
            <a:ext cx="1804013" cy="2561699"/>
          </a:xfrm>
          <a:prstGeom prst="rect">
            <a:avLst/>
          </a:prstGeom>
          <a:noFill/>
          <a:ln>
            <a:noFill/>
          </a:ln>
        </p:spPr>
      </p:pic>
      <p:pic>
        <p:nvPicPr>
          <p:cNvPr id="173" name="Google Shape;173;p18" descr="Power loom | Science Museum Group Collection"/>
          <p:cNvPicPr preferRelativeResize="0"/>
          <p:nvPr/>
        </p:nvPicPr>
        <p:blipFill rotWithShape="1">
          <a:blip r:embed="rId7">
            <a:alphaModFix/>
          </a:blip>
          <a:srcRect/>
          <a:stretch/>
        </p:blipFill>
        <p:spPr>
          <a:xfrm>
            <a:off x="2470043" y="4070935"/>
            <a:ext cx="2854631" cy="25513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9"/>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Toyota Production System</a:t>
            </a:r>
            <a:endParaRPr sz="4400" dirty="0">
              <a:solidFill>
                <a:schemeClr val="bg2"/>
              </a:solidFill>
              <a:latin typeface="Arial"/>
              <a:ea typeface="Arial"/>
              <a:cs typeface="Arial"/>
              <a:sym typeface="Arial"/>
            </a:endParaRPr>
          </a:p>
        </p:txBody>
      </p:sp>
      <p:sp>
        <p:nvSpPr>
          <p:cNvPr id="180" name="Google Shape;180;p19"/>
          <p:cNvSpPr txBox="1"/>
          <p:nvPr/>
        </p:nvSpPr>
        <p:spPr>
          <a:xfrm>
            <a:off x="838200" y="1577263"/>
            <a:ext cx="5280476"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err="1">
                <a:solidFill>
                  <a:schemeClr val="bg2"/>
                </a:solidFill>
                <a:latin typeface="Arial"/>
                <a:ea typeface="Arial"/>
                <a:cs typeface="Arial"/>
                <a:sym typeface="Arial"/>
              </a:rPr>
              <a:t>Jidoka</a:t>
            </a:r>
            <a:endParaRPr sz="2400" b="1" dirty="0">
              <a:solidFill>
                <a:schemeClr val="bg2"/>
              </a:solidFill>
              <a:latin typeface="Arial"/>
              <a:ea typeface="Arial"/>
              <a:cs typeface="Arial"/>
              <a:sym typeface="Aria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Automation with a human touch</a:t>
            </a:r>
            <a:endParaRPr dirty="0">
              <a:solidFill>
                <a:schemeClr val="bg1"/>
              </a:solidFill>
            </a:endParaRPr>
          </a:p>
          <a:p>
            <a:pPr marL="0" marR="0" lvl="0" indent="0" algn="l" rtl="0">
              <a:spcBef>
                <a:spcPts val="0"/>
              </a:spcBef>
              <a:spcAft>
                <a:spcPts val="0"/>
              </a:spcAft>
              <a:buClr>
                <a:schemeClr val="bg2"/>
              </a:buClr>
              <a:buNone/>
            </a:pPr>
            <a:endParaRPr sz="2400" b="1" dirty="0">
              <a:solidFill>
                <a:schemeClr val="dk1"/>
              </a:solidFill>
              <a:latin typeface="Arial"/>
              <a:ea typeface="Arial"/>
              <a:cs typeface="Arial"/>
              <a:sym typeface="Arial"/>
            </a:endParaRPr>
          </a:p>
          <a:p>
            <a:pPr marL="0" marR="0" lvl="0" indent="0" algn="l" rtl="0">
              <a:spcBef>
                <a:spcPts val="0"/>
              </a:spcBef>
              <a:spcAft>
                <a:spcPts val="0"/>
              </a:spcAft>
              <a:buClr>
                <a:schemeClr val="bg2"/>
              </a:buClr>
              <a:buNone/>
            </a:pPr>
            <a:r>
              <a:rPr lang="en-US" sz="2400" b="1" dirty="0">
                <a:solidFill>
                  <a:schemeClr val="bg2"/>
                </a:solidFill>
                <a:latin typeface="Arial"/>
                <a:ea typeface="Arial"/>
                <a:cs typeface="Arial"/>
                <a:sym typeface="Arial"/>
              </a:rPr>
              <a:t>Just-In-Time</a:t>
            </a:r>
            <a:endParaRPr dirty="0">
              <a:solidFill>
                <a:schemeClr val="bg2"/>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Making only what is needed, when it is needed, and in the amount needed</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Fulfilling orders from customers as quickly as possible</a:t>
            </a:r>
            <a:endParaRPr dirty="0">
              <a:solidFill>
                <a:schemeClr val="bg1"/>
              </a:solidFill>
            </a:endParaRPr>
          </a:p>
        </p:txBody>
      </p:sp>
      <p:grpSp>
        <p:nvGrpSpPr>
          <p:cNvPr id="2" name="Group 1">
            <a:extLst>
              <a:ext uri="{FF2B5EF4-FFF2-40B4-BE49-F238E27FC236}">
                <a16:creationId xmlns:a16="http://schemas.microsoft.com/office/drawing/2014/main" id="{C7A321C7-00B5-FCC4-FF83-1738FBFA8FC1}"/>
              </a:ext>
            </a:extLst>
          </p:cNvPr>
          <p:cNvGrpSpPr/>
          <p:nvPr/>
        </p:nvGrpSpPr>
        <p:grpSpPr>
          <a:xfrm>
            <a:off x="6468555" y="905597"/>
            <a:ext cx="4084063" cy="5440846"/>
            <a:chOff x="7514852" y="448397"/>
            <a:chExt cx="4084063" cy="5440846"/>
          </a:xfrm>
        </p:grpSpPr>
        <p:grpSp>
          <p:nvGrpSpPr>
            <p:cNvPr id="181" name="Google Shape;181;p19"/>
            <p:cNvGrpSpPr/>
            <p:nvPr/>
          </p:nvGrpSpPr>
          <p:grpSpPr>
            <a:xfrm>
              <a:off x="8389071" y="448397"/>
              <a:ext cx="3209844" cy="3622538"/>
              <a:chOff x="848152" y="22927"/>
              <a:chExt cx="3209844" cy="3622538"/>
            </a:xfrm>
          </p:grpSpPr>
          <p:sp>
            <p:nvSpPr>
              <p:cNvPr id="182" name="Google Shape;182;p19"/>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9"/>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9"/>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9"/>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86" name="Google Shape;186;p19"/>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9"/>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88" name="Google Shape;188;p19"/>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9"/>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90" name="Google Shape;190;p19"/>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9"/>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92" name="Google Shape;192;p19"/>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3" name="Google Shape;193;p19"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94" name="Google Shape;194;p19"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195" name="Google Shape;195;p19"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0"/>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Toyota Production System</a:t>
            </a:r>
            <a:endParaRPr sz="4400" dirty="0">
              <a:solidFill>
                <a:schemeClr val="bg2"/>
              </a:solidFill>
              <a:latin typeface="Arial"/>
              <a:ea typeface="Arial"/>
              <a:cs typeface="Arial"/>
              <a:sym typeface="Arial"/>
            </a:endParaRPr>
          </a:p>
        </p:txBody>
      </p:sp>
      <p:pic>
        <p:nvPicPr>
          <p:cNvPr id="219" name="Google Shape;219;p20"/>
          <p:cNvPicPr preferRelativeResize="0"/>
          <p:nvPr/>
        </p:nvPicPr>
        <p:blipFill rotWithShape="1">
          <a:blip r:embed="rId3">
            <a:alphaModFix/>
          </a:blip>
          <a:srcRect/>
          <a:stretch/>
        </p:blipFill>
        <p:spPr>
          <a:xfrm>
            <a:off x="990149" y="1676992"/>
            <a:ext cx="5706271" cy="4401164"/>
          </a:xfrm>
          <a:prstGeom prst="rect">
            <a:avLst/>
          </a:prstGeom>
          <a:noFill/>
          <a:ln>
            <a:noFill/>
          </a:ln>
        </p:spPr>
      </p:pic>
      <p:pic>
        <p:nvPicPr>
          <p:cNvPr id="220" name="Google Shape;220;p20"/>
          <p:cNvPicPr preferRelativeResize="0"/>
          <p:nvPr/>
        </p:nvPicPr>
        <p:blipFill rotWithShape="1">
          <a:blip r:embed="rId4">
            <a:alphaModFix/>
          </a:blip>
          <a:srcRect/>
          <a:stretch/>
        </p:blipFill>
        <p:spPr>
          <a:xfrm>
            <a:off x="981688" y="1676992"/>
            <a:ext cx="5725324" cy="4382112"/>
          </a:xfrm>
          <a:prstGeom prst="rect">
            <a:avLst/>
          </a:prstGeom>
          <a:noFill/>
          <a:ln>
            <a:noFill/>
          </a:ln>
        </p:spPr>
      </p:pic>
      <p:grpSp>
        <p:nvGrpSpPr>
          <p:cNvPr id="6" name="Group 5">
            <a:extLst>
              <a:ext uri="{FF2B5EF4-FFF2-40B4-BE49-F238E27FC236}">
                <a16:creationId xmlns:a16="http://schemas.microsoft.com/office/drawing/2014/main" id="{3408EEE4-59BA-2A4F-6FA8-DBEADEC31062}"/>
              </a:ext>
            </a:extLst>
          </p:cNvPr>
          <p:cNvGrpSpPr/>
          <p:nvPr/>
        </p:nvGrpSpPr>
        <p:grpSpPr>
          <a:xfrm>
            <a:off x="7286475" y="1147625"/>
            <a:ext cx="4545343" cy="5440846"/>
            <a:chOff x="7514852" y="448397"/>
            <a:chExt cx="4545343" cy="5440846"/>
          </a:xfrm>
        </p:grpSpPr>
        <p:grpSp>
          <p:nvGrpSpPr>
            <p:cNvPr id="203" name="Google Shape;203;p20"/>
            <p:cNvGrpSpPr/>
            <p:nvPr/>
          </p:nvGrpSpPr>
          <p:grpSpPr>
            <a:xfrm>
              <a:off x="8389071" y="448397"/>
              <a:ext cx="3209844" cy="3622538"/>
              <a:chOff x="848152" y="22927"/>
              <a:chExt cx="3209844" cy="3622538"/>
            </a:xfrm>
          </p:grpSpPr>
          <p:sp>
            <p:nvSpPr>
              <p:cNvPr id="204" name="Google Shape;204;p20"/>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0"/>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0"/>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0"/>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08" name="Google Shape;208;p20"/>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0"/>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10" name="Google Shape;210;p20"/>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0"/>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12" name="Google Shape;212;p20"/>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0"/>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14" name="Google Shape;214;p20"/>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roup 4">
              <a:extLst>
                <a:ext uri="{FF2B5EF4-FFF2-40B4-BE49-F238E27FC236}">
                  <a16:creationId xmlns:a16="http://schemas.microsoft.com/office/drawing/2014/main" id="{D5F25F91-8525-F8A4-B1F9-02BE94A6578D}"/>
                </a:ext>
              </a:extLst>
            </p:cNvPr>
            <p:cNvGrpSpPr/>
            <p:nvPr/>
          </p:nvGrpSpPr>
          <p:grpSpPr>
            <a:xfrm>
              <a:off x="7514852" y="2801885"/>
              <a:ext cx="4545343" cy="3087358"/>
              <a:chOff x="7514852" y="2801885"/>
              <a:chExt cx="4545343" cy="3087358"/>
            </a:xfrm>
          </p:grpSpPr>
          <p:pic>
            <p:nvPicPr>
              <p:cNvPr id="215" name="Google Shape;215;p20" descr="41,400+ Isometric People Computer Stock Photos, Pictures &amp; Royalty-Free  Images - iStock | Computer illustration"/>
              <p:cNvPicPr preferRelativeResize="0"/>
              <p:nvPr/>
            </p:nvPicPr>
            <p:blipFill rotWithShape="1">
              <a:blip r:embed="rId5">
                <a:alphaModFix/>
              </a:blip>
              <a:srcRect l="8858" t="50000" r="49680"/>
              <a:stretch/>
            </p:blipFill>
            <p:spPr>
              <a:xfrm>
                <a:off x="7514852" y="2801885"/>
                <a:ext cx="1260650" cy="1301678"/>
              </a:xfrm>
              <a:prstGeom prst="rect">
                <a:avLst/>
              </a:prstGeom>
              <a:noFill/>
              <a:ln>
                <a:noFill/>
              </a:ln>
            </p:spPr>
          </p:pic>
          <p:pic>
            <p:nvPicPr>
              <p:cNvPr id="216" name="Google Shape;216;p20" descr="1,248 River Isometric View Stock Vectors and Vector Art | Shutterstock"/>
              <p:cNvPicPr preferRelativeResize="0"/>
              <p:nvPr/>
            </p:nvPicPr>
            <p:blipFill rotWithShape="1">
              <a:blip r:embed="rId6">
                <a:alphaModFix/>
              </a:blip>
              <a:srcRect l="3369" t="4695" r="3464" b="9779"/>
              <a:stretch/>
            </p:blipFill>
            <p:spPr>
              <a:xfrm>
                <a:off x="7759112" y="3205076"/>
                <a:ext cx="3265714" cy="2280976"/>
              </a:xfrm>
              <a:prstGeom prst="rect">
                <a:avLst/>
              </a:prstGeom>
              <a:noFill/>
              <a:ln>
                <a:noFill/>
              </a:ln>
            </p:spPr>
          </p:pic>
          <p:pic>
            <p:nvPicPr>
              <p:cNvPr id="217" name="Google Shape;217;p20" descr="41,400+ Isometric People Computer Stock Photos, Pictures &amp; Royalty-Free  Images - iStock | Computer illustration"/>
              <p:cNvPicPr preferRelativeResize="0"/>
              <p:nvPr/>
            </p:nvPicPr>
            <p:blipFill rotWithShape="1">
              <a:blip r:embed="rId7">
                <a:alphaModFix/>
              </a:blip>
              <a:srcRect l="47990" t="7856" r="7537" b="42600"/>
              <a:stretch/>
            </p:blipFill>
            <p:spPr>
              <a:xfrm flipH="1">
                <a:off x="10227447" y="4587564"/>
                <a:ext cx="1364723" cy="1301679"/>
              </a:xfrm>
              <a:prstGeom prst="rect">
                <a:avLst/>
              </a:prstGeom>
              <a:noFill/>
              <a:ln>
                <a:noFill/>
              </a:ln>
            </p:spPr>
          </p:pic>
          <p:sp>
            <p:nvSpPr>
              <p:cNvPr id="2" name="TextBox 1">
                <a:extLst>
                  <a:ext uri="{FF2B5EF4-FFF2-40B4-BE49-F238E27FC236}">
                    <a16:creationId xmlns:a16="http://schemas.microsoft.com/office/drawing/2014/main" id="{ED3CC52D-210D-E161-E9FE-F6250C68D057}"/>
                  </a:ext>
                </a:extLst>
              </p:cNvPr>
              <p:cNvSpPr txBox="1"/>
              <p:nvPr/>
            </p:nvSpPr>
            <p:spPr>
              <a:xfrm>
                <a:off x="12060195" y="5795319"/>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
            <p:nvSpPr>
              <p:cNvPr id="3" name="TextBox 2">
                <a:extLst>
                  <a:ext uri="{FF2B5EF4-FFF2-40B4-BE49-F238E27FC236}">
                    <a16:creationId xmlns:a16="http://schemas.microsoft.com/office/drawing/2014/main" id="{3FEDF578-7698-FFA4-3D8A-DBD91EDB1F38}"/>
                  </a:ext>
                </a:extLst>
              </p:cNvPr>
              <p:cNvSpPr txBox="1"/>
              <p:nvPr/>
            </p:nvSpPr>
            <p:spPr>
              <a:xfrm>
                <a:off x="11714205" y="5560541"/>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grpSp>
      </p:grpSp>
      <p:sp>
        <p:nvSpPr>
          <p:cNvPr id="4" name="TextBox 3">
            <a:extLst>
              <a:ext uri="{FF2B5EF4-FFF2-40B4-BE49-F238E27FC236}">
                <a16:creationId xmlns:a16="http://schemas.microsoft.com/office/drawing/2014/main" id="{BFC25CAE-B1FC-ED80-29D4-0939F0227A63}"/>
              </a:ext>
            </a:extLst>
          </p:cNvPr>
          <p:cNvSpPr txBox="1"/>
          <p:nvPr/>
        </p:nvSpPr>
        <p:spPr>
          <a:xfrm>
            <a:off x="7080422" y="1470454"/>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1"/>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Toyota Production System</a:t>
            </a:r>
            <a:endParaRPr sz="4400" dirty="0">
              <a:solidFill>
                <a:schemeClr val="bg2"/>
              </a:solidFill>
              <a:latin typeface="Arial"/>
              <a:ea typeface="Arial"/>
              <a:cs typeface="Arial"/>
              <a:sym typeface="Arial"/>
            </a:endParaRPr>
          </a:p>
        </p:txBody>
      </p:sp>
      <p:grpSp>
        <p:nvGrpSpPr>
          <p:cNvPr id="3" name="Group 2">
            <a:extLst>
              <a:ext uri="{FF2B5EF4-FFF2-40B4-BE49-F238E27FC236}">
                <a16:creationId xmlns:a16="http://schemas.microsoft.com/office/drawing/2014/main" id="{59262F71-BBB2-07E6-0BF6-8FD07FF6127C}"/>
              </a:ext>
            </a:extLst>
          </p:cNvPr>
          <p:cNvGrpSpPr/>
          <p:nvPr/>
        </p:nvGrpSpPr>
        <p:grpSpPr>
          <a:xfrm>
            <a:off x="7269737" y="1157151"/>
            <a:ext cx="4084063" cy="5440846"/>
            <a:chOff x="7514852" y="448397"/>
            <a:chExt cx="4084063" cy="5440846"/>
          </a:xfrm>
        </p:grpSpPr>
        <p:grpSp>
          <p:nvGrpSpPr>
            <p:cNvPr id="227" name="Google Shape;227;p21"/>
            <p:cNvGrpSpPr/>
            <p:nvPr/>
          </p:nvGrpSpPr>
          <p:grpSpPr>
            <a:xfrm>
              <a:off x="8389071" y="448397"/>
              <a:ext cx="3209844" cy="3622538"/>
              <a:chOff x="848152" y="22927"/>
              <a:chExt cx="3209844" cy="3622538"/>
            </a:xfrm>
          </p:grpSpPr>
          <p:sp>
            <p:nvSpPr>
              <p:cNvPr id="228" name="Google Shape;228;p21"/>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1"/>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1"/>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1"/>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32" name="Google Shape;232;p21"/>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1"/>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34" name="Google Shape;234;p21"/>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1"/>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36" name="Google Shape;236;p21"/>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1"/>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38" name="Google Shape;238;p21"/>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9" name="Google Shape;239;p21"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240" name="Google Shape;240;p21"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241" name="Google Shape;241;p21"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pic>
        <p:nvPicPr>
          <p:cNvPr id="243" name="Google Shape;243;p21"/>
          <p:cNvPicPr preferRelativeResize="0"/>
          <p:nvPr/>
        </p:nvPicPr>
        <p:blipFill rotWithShape="1">
          <a:blip r:embed="rId6">
            <a:alphaModFix/>
          </a:blip>
          <a:srcRect/>
          <a:stretch/>
        </p:blipFill>
        <p:spPr>
          <a:xfrm>
            <a:off x="990149" y="1676992"/>
            <a:ext cx="5706271" cy="4401164"/>
          </a:xfrm>
          <a:prstGeom prst="rect">
            <a:avLst/>
          </a:prstGeom>
          <a:noFill/>
          <a:ln>
            <a:noFill/>
          </a:ln>
        </p:spPr>
      </p:pic>
      <p:sp>
        <p:nvSpPr>
          <p:cNvPr id="2" name="TextBox 1">
            <a:extLst>
              <a:ext uri="{FF2B5EF4-FFF2-40B4-BE49-F238E27FC236}">
                <a16:creationId xmlns:a16="http://schemas.microsoft.com/office/drawing/2014/main" id="{197409BE-51AE-0DA3-EBA2-158979B49098}"/>
              </a:ext>
            </a:extLst>
          </p:cNvPr>
          <p:cNvSpPr txBox="1"/>
          <p:nvPr/>
        </p:nvSpPr>
        <p:spPr>
          <a:xfrm>
            <a:off x="11652422" y="6462584"/>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2"/>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Lean</a:t>
            </a:r>
            <a:endParaRPr sz="4400" dirty="0">
              <a:solidFill>
                <a:schemeClr val="bg2"/>
              </a:solidFill>
              <a:latin typeface="Arial"/>
              <a:ea typeface="Arial"/>
              <a:cs typeface="Arial"/>
              <a:sym typeface="Arial"/>
            </a:endParaRPr>
          </a:p>
        </p:txBody>
      </p:sp>
      <p:grpSp>
        <p:nvGrpSpPr>
          <p:cNvPr id="2" name="Group 1">
            <a:extLst>
              <a:ext uri="{FF2B5EF4-FFF2-40B4-BE49-F238E27FC236}">
                <a16:creationId xmlns:a16="http://schemas.microsoft.com/office/drawing/2014/main" id="{B66D4469-5A68-E030-B3FD-F988491EE88F}"/>
              </a:ext>
            </a:extLst>
          </p:cNvPr>
          <p:cNvGrpSpPr/>
          <p:nvPr/>
        </p:nvGrpSpPr>
        <p:grpSpPr>
          <a:xfrm>
            <a:off x="6217392" y="708576"/>
            <a:ext cx="4026359" cy="5716937"/>
            <a:chOff x="7514852" y="448397"/>
            <a:chExt cx="4084063" cy="5440846"/>
          </a:xfrm>
        </p:grpSpPr>
        <p:grpSp>
          <p:nvGrpSpPr>
            <p:cNvPr id="250" name="Google Shape;250;p22"/>
            <p:cNvGrpSpPr/>
            <p:nvPr/>
          </p:nvGrpSpPr>
          <p:grpSpPr>
            <a:xfrm>
              <a:off x="8389071" y="448397"/>
              <a:ext cx="3209844" cy="3622538"/>
              <a:chOff x="848152" y="22927"/>
              <a:chExt cx="3209844" cy="3622538"/>
            </a:xfrm>
          </p:grpSpPr>
          <p:sp>
            <p:nvSpPr>
              <p:cNvPr id="251" name="Google Shape;251;p22"/>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2"/>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2"/>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55" name="Google Shape;255;p22"/>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57" name="Google Shape;257;p22"/>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2"/>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59" name="Google Shape;259;p22"/>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2"/>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61" name="Google Shape;261;p22"/>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262" name="Google Shape;262;p22"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263" name="Google Shape;263;p22"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264" name="Google Shape;264;p22"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pic>
        <p:nvPicPr>
          <p:cNvPr id="266" name="Google Shape;266;p22" descr="Amazon.com: The Machine That Changed the World: The Story of Lean  Production- Toyota's Secret Weapon in the Global Car Wars That Is Now  Revolutionizing World Industry: 9780743299794: Womack, James P.: Books"/>
          <p:cNvPicPr preferRelativeResize="0"/>
          <p:nvPr/>
        </p:nvPicPr>
        <p:blipFill rotWithShape="1">
          <a:blip r:embed="rId6">
            <a:alphaModFix/>
          </a:blip>
          <a:srcRect/>
          <a:stretch/>
        </p:blipFill>
        <p:spPr>
          <a:xfrm>
            <a:off x="1948249" y="2892925"/>
            <a:ext cx="2683414" cy="3532588"/>
          </a:xfrm>
          <a:prstGeom prst="rect">
            <a:avLst/>
          </a:prstGeom>
          <a:noFill/>
          <a:ln>
            <a:noFill/>
          </a:ln>
        </p:spPr>
      </p:pic>
      <p:sp>
        <p:nvSpPr>
          <p:cNvPr id="267" name="Google Shape;267;p22"/>
          <p:cNvSpPr txBox="1"/>
          <p:nvPr/>
        </p:nvSpPr>
        <p:spPr>
          <a:xfrm>
            <a:off x="838199" y="1577263"/>
            <a:ext cx="6805773" cy="120028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A management philosophy focused on </a:t>
            </a:r>
            <a:r>
              <a:rPr lang="en-US" sz="2400" dirty="0">
                <a:solidFill>
                  <a:srgbClr val="FF0000"/>
                </a:solidFill>
                <a:latin typeface="Arial"/>
                <a:ea typeface="Arial"/>
                <a:cs typeface="Arial"/>
                <a:sym typeface="Arial"/>
              </a:rPr>
              <a:t>maximizing value for the customer</a:t>
            </a:r>
            <a:r>
              <a:rPr lang="en-US" sz="2400" dirty="0">
                <a:solidFill>
                  <a:schemeClr val="dk1"/>
                </a:solidFill>
                <a:latin typeface="Arial"/>
                <a:ea typeface="Arial"/>
                <a:cs typeface="Arial"/>
                <a:sym typeface="Arial"/>
              </a:rPr>
              <a:t> </a:t>
            </a:r>
            <a:r>
              <a:rPr lang="en-US" sz="2400" dirty="0">
                <a:solidFill>
                  <a:srgbClr val="FF0000"/>
                </a:solidFill>
                <a:latin typeface="Arial"/>
                <a:ea typeface="Arial"/>
                <a:cs typeface="Arial"/>
                <a:sym typeface="Arial"/>
              </a:rPr>
              <a:t>while minimizing waste.</a:t>
            </a:r>
            <a:endParaRPr sz="2400" dirty="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3"/>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Lean</a:t>
            </a:r>
            <a:endParaRPr sz="4400" dirty="0">
              <a:solidFill>
                <a:schemeClr val="bg2"/>
              </a:solidFill>
              <a:latin typeface="Arial"/>
              <a:ea typeface="Arial"/>
              <a:cs typeface="Arial"/>
              <a:sym typeface="Arial"/>
            </a:endParaRPr>
          </a:p>
        </p:txBody>
      </p:sp>
      <p:pic>
        <p:nvPicPr>
          <p:cNvPr id="274" name="Google Shape;274;p23" descr="The 8 Wastes of Lean"/>
          <p:cNvPicPr preferRelativeResize="0"/>
          <p:nvPr/>
        </p:nvPicPr>
        <p:blipFill rotWithShape="1">
          <a:blip r:embed="rId3">
            <a:alphaModFix/>
          </a:blip>
          <a:srcRect t="2604"/>
          <a:stretch/>
        </p:blipFill>
        <p:spPr>
          <a:xfrm>
            <a:off x="1482675" y="1325563"/>
            <a:ext cx="9226650" cy="48880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4"/>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Lean</a:t>
            </a:r>
            <a:endParaRPr sz="4400" dirty="0">
              <a:solidFill>
                <a:schemeClr val="bg2"/>
              </a:solidFill>
              <a:latin typeface="Arial"/>
              <a:ea typeface="Arial"/>
              <a:cs typeface="Arial"/>
              <a:sym typeface="Arial"/>
            </a:endParaRPr>
          </a:p>
        </p:txBody>
      </p:sp>
      <p:sp>
        <p:nvSpPr>
          <p:cNvPr id="297" name="Google Shape;297;p24"/>
          <p:cNvSpPr txBox="1"/>
          <p:nvPr/>
        </p:nvSpPr>
        <p:spPr>
          <a:xfrm>
            <a:off x="838200" y="1577263"/>
            <a:ext cx="5868812" cy="4524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Define Value</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Focus on what solves the problem.</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Map the Value Stream</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Make work visible using a </a:t>
            </a:r>
            <a:r>
              <a:rPr lang="en-US" sz="2400" i="1" dirty="0">
                <a:solidFill>
                  <a:schemeClr val="bg1"/>
                </a:solidFill>
                <a:latin typeface="Arial"/>
                <a:ea typeface="Arial"/>
                <a:cs typeface="Arial"/>
                <a:sym typeface="Arial"/>
              </a:rPr>
              <a:t>Kanban</a:t>
            </a:r>
            <a:r>
              <a:rPr lang="en-US" sz="2400" dirty="0">
                <a:solidFill>
                  <a:schemeClr val="bg1"/>
                </a:solidFill>
                <a:latin typeface="Arial"/>
                <a:ea typeface="Arial"/>
                <a:cs typeface="Arial"/>
                <a:sym typeface="Arial"/>
              </a:rPr>
              <a:t> board.</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Create a Flow</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Keep batches of work small to avoid blockers.</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Establish Pull</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Only eat when you’re hungry.</a:t>
            </a:r>
            <a:endParaRPr dirty="0">
              <a:solidFill>
                <a:schemeClr val="bg1"/>
              </a:solidFill>
            </a:endParaRPr>
          </a:p>
        </p:txBody>
      </p:sp>
      <p:grpSp>
        <p:nvGrpSpPr>
          <p:cNvPr id="2" name="Group 1">
            <a:extLst>
              <a:ext uri="{FF2B5EF4-FFF2-40B4-BE49-F238E27FC236}">
                <a16:creationId xmlns:a16="http://schemas.microsoft.com/office/drawing/2014/main" id="{2ECBB176-BACF-1222-BC8E-26693EF5ABC1}"/>
              </a:ext>
            </a:extLst>
          </p:cNvPr>
          <p:cNvGrpSpPr/>
          <p:nvPr/>
        </p:nvGrpSpPr>
        <p:grpSpPr>
          <a:xfrm>
            <a:off x="6501597" y="796286"/>
            <a:ext cx="4026359" cy="5716937"/>
            <a:chOff x="7514852" y="448397"/>
            <a:chExt cx="4084063" cy="5440846"/>
          </a:xfrm>
        </p:grpSpPr>
        <p:grpSp>
          <p:nvGrpSpPr>
            <p:cNvPr id="3" name="Google Shape;250;p22">
              <a:extLst>
                <a:ext uri="{FF2B5EF4-FFF2-40B4-BE49-F238E27FC236}">
                  <a16:creationId xmlns:a16="http://schemas.microsoft.com/office/drawing/2014/main" id="{96859E74-94E2-AB1D-750E-C53B18681415}"/>
                </a:ext>
              </a:extLst>
            </p:cNvPr>
            <p:cNvGrpSpPr/>
            <p:nvPr/>
          </p:nvGrpSpPr>
          <p:grpSpPr>
            <a:xfrm>
              <a:off x="8389071" y="448397"/>
              <a:ext cx="3209844" cy="3622538"/>
              <a:chOff x="848152" y="22927"/>
              <a:chExt cx="3209844" cy="3622538"/>
            </a:xfrm>
          </p:grpSpPr>
          <p:sp>
            <p:nvSpPr>
              <p:cNvPr id="7" name="Google Shape;251;p22">
                <a:extLst>
                  <a:ext uri="{FF2B5EF4-FFF2-40B4-BE49-F238E27FC236}">
                    <a16:creationId xmlns:a16="http://schemas.microsoft.com/office/drawing/2014/main" id="{330D6523-ECF3-41C3-A576-A24681790136}"/>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2;p22">
                <a:extLst>
                  <a:ext uri="{FF2B5EF4-FFF2-40B4-BE49-F238E27FC236}">
                    <a16:creationId xmlns:a16="http://schemas.microsoft.com/office/drawing/2014/main" id="{DF9CE420-8771-FC24-F1D8-B3DC2729AC2C}"/>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3;p22">
                <a:extLst>
                  <a:ext uri="{FF2B5EF4-FFF2-40B4-BE49-F238E27FC236}">
                    <a16:creationId xmlns:a16="http://schemas.microsoft.com/office/drawing/2014/main" id="{61177720-9027-27B0-33F7-47F51D4AD68D}"/>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54;p22">
                <a:extLst>
                  <a:ext uri="{FF2B5EF4-FFF2-40B4-BE49-F238E27FC236}">
                    <a16:creationId xmlns:a16="http://schemas.microsoft.com/office/drawing/2014/main" id="{27CE3E2D-94E4-75A3-C9A8-F33955EA4FD1}"/>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255;p22">
                <a:extLst>
                  <a:ext uri="{FF2B5EF4-FFF2-40B4-BE49-F238E27FC236}">
                    <a16:creationId xmlns:a16="http://schemas.microsoft.com/office/drawing/2014/main" id="{54999701-E845-DB2B-1A0E-76576AFFE486}"/>
                  </a:ext>
                </a:extLst>
              </p:cNvPr>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6;p22">
                <a:extLst>
                  <a:ext uri="{FF2B5EF4-FFF2-40B4-BE49-F238E27FC236}">
                    <a16:creationId xmlns:a16="http://schemas.microsoft.com/office/drawing/2014/main" id="{D71BEA20-3FB6-06FB-5CC6-474CD15054B2}"/>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257;p22">
                <a:extLst>
                  <a:ext uri="{FF2B5EF4-FFF2-40B4-BE49-F238E27FC236}">
                    <a16:creationId xmlns:a16="http://schemas.microsoft.com/office/drawing/2014/main" id="{A0F9F02C-509D-81ED-8301-5FA89814F9C5}"/>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8;p22">
                <a:extLst>
                  <a:ext uri="{FF2B5EF4-FFF2-40B4-BE49-F238E27FC236}">
                    <a16:creationId xmlns:a16="http://schemas.microsoft.com/office/drawing/2014/main" id="{B5192AC2-E03A-8B05-CCE2-43B68E54BF50}"/>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259;p22">
                <a:extLst>
                  <a:ext uri="{FF2B5EF4-FFF2-40B4-BE49-F238E27FC236}">
                    <a16:creationId xmlns:a16="http://schemas.microsoft.com/office/drawing/2014/main" id="{0D1A14B3-AFF9-C1AC-C33D-C45F23BBE8F3}"/>
                  </a:ext>
                </a:extLst>
              </p:cNvPr>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0;p22">
                <a:extLst>
                  <a:ext uri="{FF2B5EF4-FFF2-40B4-BE49-F238E27FC236}">
                    <a16:creationId xmlns:a16="http://schemas.microsoft.com/office/drawing/2014/main" id="{E2A7A39C-D526-6FAB-C560-203566999843}"/>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261;p22">
                <a:extLst>
                  <a:ext uri="{FF2B5EF4-FFF2-40B4-BE49-F238E27FC236}">
                    <a16:creationId xmlns:a16="http://schemas.microsoft.com/office/drawing/2014/main" id="{939AE468-3E8E-455D-D23A-3A56DA23F8D9}"/>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 name="Google Shape;262;p22" descr="41,400+ Isometric People Computer Stock Photos, Pictures &amp; Royalty-Free  Images - iStock | Computer illustration">
              <a:extLst>
                <a:ext uri="{FF2B5EF4-FFF2-40B4-BE49-F238E27FC236}">
                  <a16:creationId xmlns:a16="http://schemas.microsoft.com/office/drawing/2014/main" id="{FC7E6160-0146-A5DD-B255-B81DCD030912}"/>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263;p22" descr="1,248 River Isometric View Stock Vectors and Vector Art | Shutterstock">
              <a:extLst>
                <a:ext uri="{FF2B5EF4-FFF2-40B4-BE49-F238E27FC236}">
                  <a16:creationId xmlns:a16="http://schemas.microsoft.com/office/drawing/2014/main" id="{37051CFD-8854-3D70-0D20-16A7A2D7C548}"/>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264;p22" descr="41,400+ Isometric People Computer Stock Photos, Pictures &amp; Royalty-Free  Images - iStock | Computer illustration">
              <a:extLst>
                <a:ext uri="{FF2B5EF4-FFF2-40B4-BE49-F238E27FC236}">
                  <a16:creationId xmlns:a16="http://schemas.microsoft.com/office/drawing/2014/main" id="{E83D2841-2629-1F78-3E49-84FADF622D4A}"/>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5"/>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Lean</a:t>
            </a:r>
            <a:endParaRPr sz="4400" dirty="0">
              <a:solidFill>
                <a:schemeClr val="bg2"/>
              </a:solidFill>
              <a:latin typeface="Arial"/>
              <a:ea typeface="Arial"/>
              <a:cs typeface="Arial"/>
              <a:sym typeface="Arial"/>
            </a:endParaRPr>
          </a:p>
        </p:txBody>
      </p:sp>
      <p:sp>
        <p:nvSpPr>
          <p:cNvPr id="305" name="Google Shape;305;p25"/>
          <p:cNvSpPr txBox="1"/>
          <p:nvPr/>
        </p:nvSpPr>
        <p:spPr>
          <a:xfrm>
            <a:off x="692895" y="1614836"/>
            <a:ext cx="3225800"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bg1"/>
                </a:solidFill>
                <a:latin typeface="Arial"/>
                <a:ea typeface="Arial"/>
                <a:cs typeface="Arial"/>
                <a:sym typeface="Arial"/>
              </a:rPr>
              <a:t>How many pieces of work can our value stream handle before one of our work centers are overwhelmed?</a:t>
            </a:r>
            <a:endParaRPr dirty="0">
              <a:solidFill>
                <a:schemeClr val="bg1"/>
              </a:solidFill>
            </a:endParaRPr>
          </a:p>
        </p:txBody>
      </p:sp>
      <p:grpSp>
        <p:nvGrpSpPr>
          <p:cNvPr id="2" name="Group 1">
            <a:extLst>
              <a:ext uri="{FF2B5EF4-FFF2-40B4-BE49-F238E27FC236}">
                <a16:creationId xmlns:a16="http://schemas.microsoft.com/office/drawing/2014/main" id="{77641186-2E00-C4EF-EFAA-A8A6914F40C3}"/>
              </a:ext>
            </a:extLst>
          </p:cNvPr>
          <p:cNvGrpSpPr/>
          <p:nvPr/>
        </p:nvGrpSpPr>
        <p:grpSpPr>
          <a:xfrm>
            <a:off x="3918695" y="984994"/>
            <a:ext cx="8055002" cy="5527017"/>
            <a:chOff x="4326468" y="589578"/>
            <a:chExt cx="7263379" cy="5241263"/>
          </a:xfrm>
        </p:grpSpPr>
        <p:pic>
          <p:nvPicPr>
            <p:cNvPr id="304" name="Google Shape;304;p25" descr="The Zube Blog"/>
            <p:cNvPicPr preferRelativeResize="0"/>
            <p:nvPr/>
          </p:nvPicPr>
          <p:blipFill rotWithShape="1">
            <a:blip r:embed="rId3">
              <a:alphaModFix/>
            </a:blip>
            <a:srcRect l="16772" t="11535" r="2393"/>
            <a:stretch/>
          </p:blipFill>
          <p:spPr>
            <a:xfrm>
              <a:off x="4326468" y="1325563"/>
              <a:ext cx="7263379" cy="4505278"/>
            </a:xfrm>
            <a:prstGeom prst="rect">
              <a:avLst/>
            </a:prstGeom>
            <a:noFill/>
            <a:ln w="28575" cap="flat" cmpd="sng">
              <a:solidFill>
                <a:schemeClr val="dk1"/>
              </a:solidFill>
              <a:prstDash val="solid"/>
              <a:round/>
              <a:headEnd type="none" w="sm" len="sm"/>
              <a:tailEnd type="none" w="sm" len="sm"/>
            </a:ln>
          </p:spPr>
        </p:pic>
        <p:sp>
          <p:nvSpPr>
            <p:cNvPr id="306" name="Google Shape;306;p25"/>
            <p:cNvSpPr txBox="1"/>
            <p:nvPr/>
          </p:nvSpPr>
          <p:spPr>
            <a:xfrm>
              <a:off x="4827412" y="589581"/>
              <a:ext cx="929921" cy="461665"/>
            </a:xfrm>
            <a:prstGeom prst="rect">
              <a:avLst/>
            </a:prstGeom>
            <a:solidFill>
              <a:srgbClr val="00B05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5/10</a:t>
              </a:r>
              <a:endParaRPr/>
            </a:p>
          </p:txBody>
        </p:sp>
        <p:sp>
          <p:nvSpPr>
            <p:cNvPr id="307" name="Google Shape;307;p25"/>
            <p:cNvSpPr txBox="1"/>
            <p:nvPr/>
          </p:nvSpPr>
          <p:spPr>
            <a:xfrm>
              <a:off x="6604003" y="589580"/>
              <a:ext cx="929921" cy="461665"/>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8/10</a:t>
              </a:r>
              <a:endParaRPr/>
            </a:p>
          </p:txBody>
        </p:sp>
        <p:sp>
          <p:nvSpPr>
            <p:cNvPr id="308" name="Google Shape;308;p25"/>
            <p:cNvSpPr txBox="1"/>
            <p:nvPr/>
          </p:nvSpPr>
          <p:spPr>
            <a:xfrm>
              <a:off x="8380594" y="589579"/>
              <a:ext cx="929921" cy="461665"/>
            </a:xfrm>
            <a:prstGeom prst="rect">
              <a:avLst/>
            </a:prstGeom>
            <a:solidFill>
              <a:srgbClr val="FF000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lt1"/>
                  </a:solidFill>
                  <a:latin typeface="Arial"/>
                  <a:ea typeface="Arial"/>
                  <a:cs typeface="Arial"/>
                  <a:sym typeface="Arial"/>
                </a:rPr>
                <a:t>3/2</a:t>
              </a:r>
              <a:endParaRPr/>
            </a:p>
          </p:txBody>
        </p:sp>
        <p:sp>
          <p:nvSpPr>
            <p:cNvPr id="309" name="Google Shape;309;p25"/>
            <p:cNvSpPr txBox="1"/>
            <p:nvPr/>
          </p:nvSpPr>
          <p:spPr>
            <a:xfrm>
              <a:off x="10188233" y="589578"/>
              <a:ext cx="929921" cy="461665"/>
            </a:xfrm>
            <a:prstGeom prst="rect">
              <a:avLst/>
            </a:prstGeom>
            <a:solidFill>
              <a:srgbClr val="00B05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5/10</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6"/>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Agile</a:t>
            </a:r>
            <a:endParaRPr sz="4400" dirty="0">
              <a:solidFill>
                <a:schemeClr val="bg2"/>
              </a:solidFill>
              <a:latin typeface="Arial"/>
              <a:ea typeface="Arial"/>
              <a:cs typeface="Arial"/>
              <a:sym typeface="Arial"/>
            </a:endParaRPr>
          </a:p>
        </p:txBody>
      </p:sp>
      <p:grpSp>
        <p:nvGrpSpPr>
          <p:cNvPr id="2" name="Group 1">
            <a:extLst>
              <a:ext uri="{FF2B5EF4-FFF2-40B4-BE49-F238E27FC236}">
                <a16:creationId xmlns:a16="http://schemas.microsoft.com/office/drawing/2014/main" id="{3D0A318B-0FCD-942D-58D4-0DA4D657702F}"/>
              </a:ext>
            </a:extLst>
          </p:cNvPr>
          <p:cNvGrpSpPr/>
          <p:nvPr/>
        </p:nvGrpSpPr>
        <p:grpSpPr>
          <a:xfrm>
            <a:off x="7070008" y="1115662"/>
            <a:ext cx="4084063" cy="5440846"/>
            <a:chOff x="7514852" y="448397"/>
            <a:chExt cx="4084063" cy="5440846"/>
          </a:xfrm>
        </p:grpSpPr>
        <p:grpSp>
          <p:nvGrpSpPr>
            <p:cNvPr id="316" name="Google Shape;316;p26"/>
            <p:cNvGrpSpPr/>
            <p:nvPr/>
          </p:nvGrpSpPr>
          <p:grpSpPr>
            <a:xfrm>
              <a:off x="8389071" y="448397"/>
              <a:ext cx="3209844" cy="3622538"/>
              <a:chOff x="848152" y="22927"/>
              <a:chExt cx="3209844" cy="3622538"/>
            </a:xfrm>
          </p:grpSpPr>
          <p:sp>
            <p:nvSpPr>
              <p:cNvPr id="317" name="Google Shape;317;p26"/>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321" name="Google Shape;321;p26"/>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323" name="Google Shape;323;p26"/>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325" name="Google Shape;325;p26"/>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327" name="Google Shape;327;p26"/>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28" name="Google Shape;328;p26"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329" name="Google Shape;329;p26"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330" name="Google Shape;330;p26"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
        <p:nvSpPr>
          <p:cNvPr id="332" name="Google Shape;332;p26"/>
          <p:cNvSpPr txBox="1"/>
          <p:nvPr/>
        </p:nvSpPr>
        <p:spPr>
          <a:xfrm>
            <a:off x="838200" y="1577263"/>
            <a:ext cx="6109308" cy="4154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bg2"/>
              </a:buClr>
              <a:buNone/>
            </a:pPr>
            <a:r>
              <a:rPr lang="en-US" sz="2400" dirty="0">
                <a:solidFill>
                  <a:schemeClr val="bg2"/>
                </a:solidFill>
                <a:latin typeface="Arial"/>
                <a:ea typeface="Arial"/>
                <a:cs typeface="Arial"/>
                <a:sym typeface="Arial"/>
              </a:rPr>
              <a:t>A software development methodology focused on </a:t>
            </a:r>
            <a:r>
              <a:rPr lang="en-US" sz="2400" dirty="0">
                <a:solidFill>
                  <a:srgbClr val="FF0000"/>
                </a:solidFill>
                <a:latin typeface="Arial"/>
                <a:ea typeface="Arial"/>
                <a:cs typeface="Arial"/>
                <a:sym typeface="Arial"/>
              </a:rPr>
              <a:t>delivering value to the customer rapidly.</a:t>
            </a:r>
            <a:endParaRPr dirty="0"/>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Individuals and interactions over processes and tools</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Working software over comprehensive documentation</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Customer collaboration over contract negotiation</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Responding to change over following a plan</a:t>
            </a:r>
            <a:endParaRPr sz="3200" dirty="0">
              <a:solidFill>
                <a:schemeClr val="bg1"/>
              </a:solidFill>
              <a:latin typeface="Arial"/>
              <a:ea typeface="Arial"/>
              <a:cs typeface="Arial"/>
              <a:sym typeface="Arial"/>
            </a:endParaRPr>
          </a:p>
        </p:txBody>
      </p:sp>
      <p:sp>
        <p:nvSpPr>
          <p:cNvPr id="3" name="TextBox 2">
            <a:extLst>
              <a:ext uri="{FF2B5EF4-FFF2-40B4-BE49-F238E27FC236}">
                <a16:creationId xmlns:a16="http://schemas.microsoft.com/office/drawing/2014/main" id="{A33661A2-4318-6E3F-5A72-76ACC9CEDA63}"/>
              </a:ext>
            </a:extLst>
          </p:cNvPr>
          <p:cNvSpPr txBox="1"/>
          <p:nvPr/>
        </p:nvSpPr>
        <p:spPr>
          <a:xfrm>
            <a:off x="11318789" y="2916195"/>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7"/>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Agile</a:t>
            </a:r>
            <a:endParaRPr sz="4400" dirty="0">
              <a:solidFill>
                <a:schemeClr val="bg2"/>
              </a:solidFill>
              <a:latin typeface="Arial"/>
              <a:ea typeface="Arial"/>
              <a:cs typeface="Arial"/>
              <a:sym typeface="Arial"/>
            </a:endParaRPr>
          </a:p>
        </p:txBody>
      </p:sp>
      <p:pic>
        <p:nvPicPr>
          <p:cNvPr id="339" name="Google Shape;339;p27" descr="Agile vs Waterfall Differences in Software Development Methodologies –  Yodiz Project Management Blog"/>
          <p:cNvPicPr preferRelativeResize="0"/>
          <p:nvPr/>
        </p:nvPicPr>
        <p:blipFill rotWithShape="1">
          <a:blip r:embed="rId3">
            <a:alphaModFix/>
          </a:blip>
          <a:srcRect l="2078" t="58278" r="2262" b="1380"/>
          <a:stretch/>
        </p:blipFill>
        <p:spPr>
          <a:xfrm>
            <a:off x="243937" y="3769398"/>
            <a:ext cx="6107723" cy="2766646"/>
          </a:xfrm>
          <a:prstGeom prst="rect">
            <a:avLst/>
          </a:prstGeom>
          <a:noFill/>
          <a:ln>
            <a:noFill/>
          </a:ln>
        </p:spPr>
      </p:pic>
      <p:pic>
        <p:nvPicPr>
          <p:cNvPr id="340" name="Google Shape;340;p27" descr="Agile vs Waterfall Differences in Software Development Methodologies –  Yodiz Project Management Blog"/>
          <p:cNvPicPr preferRelativeResize="0"/>
          <p:nvPr/>
        </p:nvPicPr>
        <p:blipFill rotWithShape="1">
          <a:blip r:embed="rId3">
            <a:alphaModFix/>
          </a:blip>
          <a:srcRect l="2078" t="22392" r="2262" b="52662"/>
          <a:stretch/>
        </p:blipFill>
        <p:spPr>
          <a:xfrm>
            <a:off x="4043453" y="1383750"/>
            <a:ext cx="7302109" cy="2045250"/>
          </a:xfrm>
          <a:prstGeom prst="rect">
            <a:avLst/>
          </a:prstGeom>
          <a:noFill/>
          <a:ln>
            <a:noFill/>
          </a:ln>
        </p:spPr>
      </p:pic>
      <p:sp>
        <p:nvSpPr>
          <p:cNvPr id="341" name="Google Shape;341;p27"/>
          <p:cNvSpPr txBox="1"/>
          <p:nvPr/>
        </p:nvSpPr>
        <p:spPr>
          <a:xfrm>
            <a:off x="243937" y="2857769"/>
            <a:ext cx="305386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bg1"/>
                </a:solidFill>
                <a:latin typeface="Arial"/>
                <a:ea typeface="Arial"/>
                <a:cs typeface="Arial"/>
                <a:sym typeface="Arial"/>
              </a:rPr>
              <a:t>Waterfall Methodology </a:t>
            </a:r>
            <a:endParaRPr sz="3200" dirty="0">
              <a:solidFill>
                <a:schemeClr val="bg1"/>
              </a:solidFill>
              <a:latin typeface="Arial"/>
              <a:ea typeface="Arial"/>
              <a:cs typeface="Arial"/>
              <a:sym typeface="Arial"/>
            </a:endParaRPr>
          </a:p>
        </p:txBody>
      </p:sp>
      <p:sp>
        <p:nvSpPr>
          <p:cNvPr id="342" name="Google Shape;342;p27"/>
          <p:cNvSpPr txBox="1"/>
          <p:nvPr/>
        </p:nvSpPr>
        <p:spPr>
          <a:xfrm>
            <a:off x="4043453" y="803265"/>
            <a:ext cx="305386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bg1"/>
                </a:solidFill>
                <a:latin typeface="Arial"/>
                <a:ea typeface="Arial"/>
                <a:cs typeface="Arial"/>
                <a:sym typeface="Arial"/>
              </a:rPr>
              <a:t>Agile Methodology</a:t>
            </a:r>
            <a:endParaRPr sz="3200" dirty="0">
              <a:solidFill>
                <a:schemeClr val="bg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28" descr="Waterfall Vs #Agile Vs #AI Vs #VibeCoding #nrsharing | Naveed Ramzan"/>
          <p:cNvPicPr preferRelativeResize="0"/>
          <p:nvPr/>
        </p:nvPicPr>
        <p:blipFill rotWithShape="1">
          <a:blip r:embed="rId3">
            <a:alphaModFix/>
          </a:blip>
          <a:srcRect l="1530"/>
          <a:stretch/>
        </p:blipFill>
        <p:spPr>
          <a:xfrm>
            <a:off x="3011793" y="378767"/>
            <a:ext cx="6168414" cy="6100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9"/>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err="1">
                <a:solidFill>
                  <a:schemeClr val="bg2"/>
                </a:solidFill>
                <a:latin typeface="Arial"/>
                <a:ea typeface="Arial"/>
                <a:cs typeface="Arial"/>
                <a:sym typeface="Arial"/>
              </a:rPr>
              <a:t>DevSecOps</a:t>
            </a:r>
            <a:endParaRPr sz="4400" dirty="0">
              <a:solidFill>
                <a:schemeClr val="bg2"/>
              </a:solidFill>
              <a:latin typeface="Arial"/>
              <a:ea typeface="Arial"/>
              <a:cs typeface="Arial"/>
              <a:sym typeface="Arial"/>
            </a:endParaRPr>
          </a:p>
        </p:txBody>
      </p:sp>
      <p:sp>
        <p:nvSpPr>
          <p:cNvPr id="355" name="Google Shape;355;p29"/>
          <p:cNvSpPr txBox="1"/>
          <p:nvPr/>
        </p:nvSpPr>
        <p:spPr>
          <a:xfrm>
            <a:off x="838199" y="1577263"/>
            <a:ext cx="5690661"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err="1">
                <a:solidFill>
                  <a:schemeClr val="bg1"/>
                </a:solidFill>
                <a:latin typeface="Arial"/>
                <a:ea typeface="Arial"/>
                <a:cs typeface="Arial"/>
                <a:sym typeface="Arial"/>
              </a:rPr>
              <a:t>DevSecOps</a:t>
            </a:r>
            <a:r>
              <a:rPr lang="en-US" sz="2400" dirty="0">
                <a:solidFill>
                  <a:schemeClr val="bg1"/>
                </a:solidFill>
                <a:latin typeface="Arial"/>
                <a:ea typeface="Arial"/>
                <a:cs typeface="Arial"/>
                <a:sym typeface="Arial"/>
              </a:rPr>
              <a:t> is the result of applying principles from physical manufacturing and leadership domains to your software development value stream.</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342900" marR="0" lvl="0" indent="-342900" algn="l" rtl="0">
              <a:spcBef>
                <a:spcPts val="0"/>
              </a:spcBef>
              <a:spcAft>
                <a:spcPts val="0"/>
              </a:spcAft>
              <a:buClr>
                <a:schemeClr val="bg2"/>
              </a:buClr>
              <a:buSzPts val="2400"/>
              <a:buFont typeface="Arial"/>
              <a:buChar char="•"/>
            </a:pPr>
            <a:r>
              <a:rPr lang="en-US" sz="2400" dirty="0">
                <a:solidFill>
                  <a:srgbClr val="FF0000"/>
                </a:solidFill>
                <a:latin typeface="Arial"/>
                <a:ea typeface="Arial"/>
                <a:cs typeface="Arial"/>
                <a:sym typeface="Arial"/>
              </a:rPr>
              <a:t>Making work easier for the workers</a:t>
            </a:r>
            <a:endParaRPr dirty="0"/>
          </a:p>
          <a:p>
            <a:pPr marL="342900" marR="0" lvl="0" indent="-342900" algn="l" rtl="0">
              <a:spcBef>
                <a:spcPts val="0"/>
              </a:spcBef>
              <a:spcAft>
                <a:spcPts val="0"/>
              </a:spcAft>
              <a:buClr>
                <a:schemeClr val="bg2"/>
              </a:buClr>
              <a:buSzPts val="2400"/>
              <a:buFont typeface="Arial"/>
              <a:buChar char="•"/>
            </a:pPr>
            <a:r>
              <a:rPr lang="en-US" sz="2400" dirty="0">
                <a:solidFill>
                  <a:srgbClr val="FF0000"/>
                </a:solidFill>
                <a:latin typeface="Arial"/>
                <a:ea typeface="Arial"/>
                <a:cs typeface="Arial"/>
                <a:sym typeface="Arial"/>
              </a:rPr>
              <a:t>Maximizing value while minimizing waste</a:t>
            </a:r>
            <a:endParaRPr dirty="0"/>
          </a:p>
          <a:p>
            <a:pPr marL="342900" marR="0" lvl="0" indent="-342900" algn="l" rtl="0">
              <a:spcBef>
                <a:spcPts val="0"/>
              </a:spcBef>
              <a:spcAft>
                <a:spcPts val="0"/>
              </a:spcAft>
              <a:buClr>
                <a:schemeClr val="bg2"/>
              </a:buClr>
              <a:buSzPts val="2400"/>
              <a:buFont typeface="Arial"/>
              <a:buChar char="•"/>
            </a:pPr>
            <a:r>
              <a:rPr lang="en-US" sz="2400" dirty="0">
                <a:solidFill>
                  <a:srgbClr val="FF0000"/>
                </a:solidFill>
                <a:latin typeface="Arial"/>
                <a:ea typeface="Arial"/>
                <a:cs typeface="Arial"/>
                <a:sym typeface="Arial"/>
              </a:rPr>
              <a:t>Delivering value to the customer rapidly</a:t>
            </a:r>
            <a:endParaRPr dirty="0"/>
          </a:p>
        </p:txBody>
      </p:sp>
      <p:grpSp>
        <p:nvGrpSpPr>
          <p:cNvPr id="2" name="Group 1">
            <a:extLst>
              <a:ext uri="{FF2B5EF4-FFF2-40B4-BE49-F238E27FC236}">
                <a16:creationId xmlns:a16="http://schemas.microsoft.com/office/drawing/2014/main" id="{8EDA0E4E-2307-9041-3A19-1881EF13E990}"/>
              </a:ext>
            </a:extLst>
          </p:cNvPr>
          <p:cNvGrpSpPr/>
          <p:nvPr/>
        </p:nvGrpSpPr>
        <p:grpSpPr>
          <a:xfrm>
            <a:off x="7269737" y="1103305"/>
            <a:ext cx="4084063" cy="5440846"/>
            <a:chOff x="7514852" y="448397"/>
            <a:chExt cx="4084063" cy="5440846"/>
          </a:xfrm>
        </p:grpSpPr>
        <p:grpSp>
          <p:nvGrpSpPr>
            <p:cNvPr id="356" name="Google Shape;356;p29"/>
            <p:cNvGrpSpPr/>
            <p:nvPr/>
          </p:nvGrpSpPr>
          <p:grpSpPr>
            <a:xfrm>
              <a:off x="8389071" y="448397"/>
              <a:ext cx="3209844" cy="3622538"/>
              <a:chOff x="848152" y="22927"/>
              <a:chExt cx="3209844" cy="3622538"/>
            </a:xfrm>
          </p:grpSpPr>
          <p:sp>
            <p:nvSpPr>
              <p:cNvPr id="357" name="Google Shape;357;p29"/>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9"/>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9"/>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9"/>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361" name="Google Shape;361;p29"/>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9"/>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363" name="Google Shape;363;p29"/>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9"/>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365" name="Google Shape;365;p29"/>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9"/>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367" name="Google Shape;367;p29"/>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8" name="Google Shape;368;p29"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369" name="Google Shape;369;p29"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370" name="Google Shape;370;p29"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30"/>
          <p:cNvGraphicFramePr/>
          <p:nvPr/>
        </p:nvGraphicFramePr>
        <p:xfrm>
          <a:off x="958780" y="4980940"/>
          <a:ext cx="7010400" cy="1188730"/>
        </p:xfrm>
        <a:graphic>
          <a:graphicData uri="http://schemas.openxmlformats.org/drawingml/2006/table">
            <a:tbl>
              <a:tblPr firstRow="1" bandRow="1">
                <a:noFill/>
                <a:tableStyleId>{FC3A9F75-0D71-4C33-92E3-DF036C11306A}</a:tableStyleId>
              </a:tblPr>
              <a:tblGrid>
                <a:gridCol w="2960075">
                  <a:extLst>
                    <a:ext uri="{9D8B030D-6E8A-4147-A177-3AD203B41FA5}">
                      <a16:colId xmlns:a16="http://schemas.microsoft.com/office/drawing/2014/main" val="20000"/>
                    </a:ext>
                  </a:extLst>
                </a:gridCol>
                <a:gridCol w="40503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Arial"/>
                          <a:ea typeface="Arial"/>
                          <a:cs typeface="Arial"/>
                          <a:sym typeface="Arial"/>
                        </a:rPr>
                        <a:t>The Third Way </a:t>
                      </a:r>
                      <a:endParaRPr/>
                    </a:p>
                    <a:p>
                      <a:pPr marL="0" marR="0" lvl="0" indent="0" algn="ctr" rtl="0">
                        <a:lnSpc>
                          <a:spcPct val="100000"/>
                        </a:lnSpc>
                        <a:spcBef>
                          <a:spcPts val="0"/>
                        </a:spcBef>
                        <a:spcAft>
                          <a:spcPts val="0"/>
                        </a:spcAft>
                        <a:buClr>
                          <a:schemeClr val="dk1"/>
                        </a:buClr>
                        <a:buSzPts val="1800"/>
                        <a:buFont typeface="Arial"/>
                        <a:buNone/>
                      </a:pPr>
                      <a:r>
                        <a:rPr lang="en-US" sz="1800" b="0" i="1" u="none" strike="noStrike" cap="none">
                          <a:solidFill>
                            <a:schemeClr val="dk1"/>
                          </a:solidFill>
                          <a:latin typeface="Arial"/>
                          <a:ea typeface="Arial"/>
                          <a:cs typeface="Arial"/>
                          <a:sym typeface="Arial"/>
                        </a:rPr>
                        <a:t>the principles of continuous learning and experimentation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u="none" strike="noStrike" cap="none">
                          <a:solidFill>
                            <a:schemeClr val="dk1"/>
                          </a:solidFill>
                          <a:latin typeface="Arial"/>
                          <a:ea typeface="Arial"/>
                          <a:cs typeface="Arial"/>
                          <a:sym typeface="Arial"/>
                        </a:rPr>
                        <a:t>Promote a high-trust culture that supports a dynamic, disciplined, and scientific approach to experimentation to innovate faster.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sp>
        <p:nvSpPr>
          <p:cNvPr id="378" name="Google Shape;378;p30"/>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err="1">
                <a:solidFill>
                  <a:schemeClr val="bg2"/>
                </a:solidFill>
                <a:latin typeface="Arial"/>
                <a:ea typeface="Arial"/>
                <a:cs typeface="Arial"/>
                <a:sym typeface="Arial"/>
              </a:rPr>
              <a:t>DevSecOps</a:t>
            </a:r>
            <a:endParaRPr sz="4400" dirty="0">
              <a:solidFill>
                <a:schemeClr val="bg2"/>
              </a:solidFill>
              <a:latin typeface="Arial"/>
              <a:ea typeface="Arial"/>
              <a:cs typeface="Arial"/>
              <a:sym typeface="Arial"/>
            </a:endParaRPr>
          </a:p>
        </p:txBody>
      </p:sp>
      <p:graphicFrame>
        <p:nvGraphicFramePr>
          <p:cNvPr id="379" name="Google Shape;379;p30"/>
          <p:cNvGraphicFramePr/>
          <p:nvPr>
            <p:extLst>
              <p:ext uri="{D42A27DB-BD31-4B8C-83A1-F6EECF244321}">
                <p14:modId xmlns:p14="http://schemas.microsoft.com/office/powerpoint/2010/main" val="929162913"/>
              </p:ext>
            </p:extLst>
          </p:nvPr>
        </p:nvGraphicFramePr>
        <p:xfrm>
          <a:off x="8485834" y="1417320"/>
          <a:ext cx="2586600" cy="1737370"/>
        </p:xfrm>
        <a:graphic>
          <a:graphicData uri="http://schemas.openxmlformats.org/drawingml/2006/table">
            <a:tbl>
              <a:tblPr firstRow="1" bandRow="1">
                <a:noFill/>
                <a:tableStyleId>{FC3A9F75-0D71-4C33-92E3-DF036C11306A}</a:tableStyleId>
              </a:tblPr>
              <a:tblGrid>
                <a:gridCol w="25866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1800"/>
                        <a:buFont typeface="Arial"/>
                        <a:buNone/>
                      </a:pPr>
                      <a:r>
                        <a:rPr lang="en-US" sz="1800" b="0" u="none" strike="noStrike" cap="none" dirty="0">
                          <a:solidFill>
                            <a:schemeClr val="dk1"/>
                          </a:solidFill>
                          <a:latin typeface="Arial"/>
                          <a:ea typeface="Arial"/>
                          <a:cs typeface="Arial"/>
                          <a:sym typeface="Arial"/>
                        </a:rPr>
                        <a:t>Continuous Test</a:t>
                      </a:r>
                      <a:endParaRPr dirty="0"/>
                    </a:p>
                    <a:p>
                      <a:pPr marL="0" marR="0" lvl="0" indent="0" algn="l" rtl="0">
                        <a:spcBef>
                          <a:spcPts val="0"/>
                        </a:spcBef>
                        <a:spcAft>
                          <a:spcPts val="0"/>
                        </a:spcAft>
                        <a:buNone/>
                      </a:pPr>
                      <a:r>
                        <a:rPr lang="en-US" sz="1800" b="0" u="none" strike="noStrike" cap="none" dirty="0">
                          <a:solidFill>
                            <a:schemeClr val="dk1"/>
                          </a:solidFill>
                          <a:latin typeface="Arial"/>
                          <a:ea typeface="Arial"/>
                          <a:cs typeface="Arial"/>
                          <a:sym typeface="Arial"/>
                        </a:rPr>
                        <a:t>Continuous Build</a:t>
                      </a:r>
                      <a:endParaRPr dirty="0"/>
                    </a:p>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Integration</a:t>
                      </a:r>
                      <a:endParaRPr dirty="0"/>
                    </a:p>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Delivery</a:t>
                      </a:r>
                      <a:endParaRPr dirty="0"/>
                    </a:p>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Deployment</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graphicFrame>
        <p:nvGraphicFramePr>
          <p:cNvPr id="380" name="Google Shape;380;p30"/>
          <p:cNvGraphicFramePr/>
          <p:nvPr/>
        </p:nvGraphicFramePr>
        <p:xfrm>
          <a:off x="958780" y="2993390"/>
          <a:ext cx="7010400" cy="1737370"/>
        </p:xfrm>
        <a:graphic>
          <a:graphicData uri="http://schemas.openxmlformats.org/drawingml/2006/table">
            <a:tbl>
              <a:tblPr firstRow="1" bandRow="1">
                <a:noFill/>
                <a:tableStyleId>{FC3A9F75-0D71-4C33-92E3-DF036C11306A}</a:tableStyleId>
              </a:tblPr>
              <a:tblGrid>
                <a:gridCol w="2960075">
                  <a:extLst>
                    <a:ext uri="{9D8B030D-6E8A-4147-A177-3AD203B41FA5}">
                      <a16:colId xmlns:a16="http://schemas.microsoft.com/office/drawing/2014/main" val="20000"/>
                    </a:ext>
                  </a:extLst>
                </a:gridCol>
                <a:gridCol w="40503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The Second Way</a:t>
                      </a:r>
                      <a:endParaRPr/>
                    </a:p>
                    <a:p>
                      <a:pPr marL="0" marR="0" lvl="0" indent="0" algn="ctr" rtl="0">
                        <a:lnSpc>
                          <a:spcPct val="100000"/>
                        </a:lnSpc>
                        <a:spcBef>
                          <a:spcPts val="0"/>
                        </a:spcBef>
                        <a:spcAft>
                          <a:spcPts val="0"/>
                        </a:spcAft>
                        <a:buClr>
                          <a:schemeClr val="dk1"/>
                        </a:buClr>
                        <a:buSzPts val="1800"/>
                        <a:buFont typeface="Arial"/>
                        <a:buNone/>
                      </a:pPr>
                      <a:r>
                        <a:rPr lang="en-US" sz="1800" b="0" i="1">
                          <a:solidFill>
                            <a:schemeClr val="dk1"/>
                          </a:solidFill>
                          <a:latin typeface="Arial"/>
                          <a:ea typeface="Arial"/>
                          <a:cs typeface="Arial"/>
                          <a:sym typeface="Arial"/>
                        </a:rPr>
                        <a:t>the principles of feedback</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Shorten the feedback loop between you and your deployment environment to reduce the time detect/recover of problems. </a:t>
                      </a:r>
                      <a:endParaRPr/>
                    </a:p>
                    <a:p>
                      <a:pPr marL="0" marR="0" lvl="0" indent="0" algn="l" rtl="0">
                        <a:lnSpc>
                          <a:spcPct val="10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Amplify feedback as it’s received.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graphicFrame>
        <p:nvGraphicFramePr>
          <p:cNvPr id="381" name="Google Shape;381;p30"/>
          <p:cNvGraphicFramePr/>
          <p:nvPr/>
        </p:nvGraphicFramePr>
        <p:xfrm>
          <a:off x="958780" y="1554480"/>
          <a:ext cx="7010400" cy="1188730"/>
        </p:xfrm>
        <a:graphic>
          <a:graphicData uri="http://schemas.openxmlformats.org/drawingml/2006/table">
            <a:tbl>
              <a:tblPr firstRow="1" bandRow="1">
                <a:noFill/>
                <a:tableStyleId>{FC3A9F75-0D71-4C33-92E3-DF036C11306A}</a:tableStyleId>
              </a:tblPr>
              <a:tblGrid>
                <a:gridCol w="2960075">
                  <a:extLst>
                    <a:ext uri="{9D8B030D-6E8A-4147-A177-3AD203B41FA5}">
                      <a16:colId xmlns:a16="http://schemas.microsoft.com/office/drawing/2014/main" val="20000"/>
                    </a:ext>
                  </a:extLst>
                </a:gridCol>
                <a:gridCol w="40503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The First Way</a:t>
                      </a:r>
                      <a:endParaRPr/>
                    </a:p>
                    <a:p>
                      <a:pPr marL="0" marR="0" lvl="0" indent="0" algn="ctr" rtl="0">
                        <a:lnSpc>
                          <a:spcPct val="100000"/>
                        </a:lnSpc>
                        <a:spcBef>
                          <a:spcPts val="0"/>
                        </a:spcBef>
                        <a:spcAft>
                          <a:spcPts val="0"/>
                        </a:spcAft>
                        <a:buClr>
                          <a:schemeClr val="dk1"/>
                        </a:buClr>
                        <a:buSzPts val="1800"/>
                        <a:buFont typeface="Arial"/>
                        <a:buNone/>
                      </a:pPr>
                      <a:r>
                        <a:rPr lang="en-US" sz="1800" b="0" i="1">
                          <a:solidFill>
                            <a:schemeClr val="dk1"/>
                          </a:solidFill>
                          <a:latin typeface="Arial"/>
                          <a:ea typeface="Arial"/>
                          <a:cs typeface="Arial"/>
                          <a:sym typeface="Arial"/>
                        </a:rPr>
                        <a:t>the principles of flow</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Keep your batches of work small, visible, and based on global goals for faster processing, shorter wait times, and more innovation.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graphicFrame>
        <p:nvGraphicFramePr>
          <p:cNvPr id="382" name="Google Shape;382;p30"/>
          <p:cNvGraphicFramePr/>
          <p:nvPr>
            <p:extLst>
              <p:ext uri="{D42A27DB-BD31-4B8C-83A1-F6EECF244321}">
                <p14:modId xmlns:p14="http://schemas.microsoft.com/office/powerpoint/2010/main" val="3206290781"/>
              </p:ext>
            </p:extLst>
          </p:nvPr>
        </p:nvGraphicFramePr>
        <p:xfrm>
          <a:off x="8485834" y="3676650"/>
          <a:ext cx="2586600" cy="370850"/>
        </p:xfrm>
        <a:graphic>
          <a:graphicData uri="http://schemas.openxmlformats.org/drawingml/2006/table">
            <a:tbl>
              <a:tblPr firstRow="1" bandRow="1">
                <a:noFill/>
                <a:tableStyleId>{FC3A9F75-0D71-4C33-92E3-DF036C11306A}</a:tableStyleId>
              </a:tblPr>
              <a:tblGrid>
                <a:gridCol w="2586600">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en-US" sz="1800" b="0" dirty="0">
                          <a:solidFill>
                            <a:schemeClr val="dk1"/>
                          </a:solidFill>
                          <a:latin typeface="Arial"/>
                          <a:ea typeface="Arial"/>
                          <a:cs typeface="Arial"/>
                          <a:sym typeface="Arial"/>
                        </a:rPr>
                        <a:t>Continuous Monitoring</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graphicFrame>
        <p:nvGraphicFramePr>
          <p:cNvPr id="383" name="Google Shape;383;p30"/>
          <p:cNvGraphicFramePr/>
          <p:nvPr>
            <p:extLst>
              <p:ext uri="{D42A27DB-BD31-4B8C-83A1-F6EECF244321}">
                <p14:modId xmlns:p14="http://schemas.microsoft.com/office/powerpoint/2010/main" val="1536951777"/>
              </p:ext>
            </p:extLst>
          </p:nvPr>
        </p:nvGraphicFramePr>
        <p:xfrm>
          <a:off x="8485834" y="5389880"/>
          <a:ext cx="2586600" cy="640090"/>
        </p:xfrm>
        <a:graphic>
          <a:graphicData uri="http://schemas.openxmlformats.org/drawingml/2006/table">
            <a:tbl>
              <a:tblPr firstRow="1" bandRow="1">
                <a:noFill/>
                <a:tableStyleId>{FC3A9F75-0D71-4C33-92E3-DF036C11306A}</a:tableStyleId>
              </a:tblPr>
              <a:tblGrid>
                <a:gridCol w="25866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Improvement</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1"/>
          <p:cNvSpPr txBox="1"/>
          <p:nvPr/>
        </p:nvSpPr>
        <p:spPr>
          <a:xfrm>
            <a:off x="838200" y="1931436"/>
            <a:ext cx="105156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bg2"/>
                </a:solidFill>
                <a:latin typeface="Arial"/>
                <a:ea typeface="Arial"/>
                <a:cs typeface="Arial"/>
                <a:sym typeface="Arial"/>
              </a:rPr>
              <a:t>Toyota Production System</a:t>
            </a:r>
            <a:endParaRPr dirty="0">
              <a:solidFill>
                <a:schemeClr val="bg2"/>
              </a:solidFill>
            </a:endParaRPr>
          </a:p>
          <a:p>
            <a:pPr marL="0" marR="0" lvl="0" indent="0" algn="l" rtl="0">
              <a:spcBef>
                <a:spcPts val="0"/>
              </a:spcBef>
              <a:spcAft>
                <a:spcPts val="0"/>
              </a:spcAft>
              <a:buNone/>
            </a:pPr>
            <a:r>
              <a:rPr lang="en-US" sz="1800" u="sng" dirty="0">
                <a:solidFill>
                  <a:schemeClr val="bg1"/>
                </a:solidFill>
                <a:latin typeface="Arial"/>
                <a:ea typeface="Arial"/>
                <a:cs typeface="Arial"/>
                <a:sym typeface="Arial"/>
                <a:hlinkClick r:id="rId3">
                  <a:extLst>
                    <a:ext uri="{A12FA001-AC4F-418D-AE19-62706E023703}">
                      <ahyp:hlinkClr xmlns:ahyp="http://schemas.microsoft.com/office/drawing/2018/hyperlinkcolor" val="tx"/>
                    </a:ext>
                  </a:extLst>
                </a:hlinkClick>
              </a:rPr>
              <a:t>https://global.toyota/en/company/vision-and-philosophy/production-system/</a:t>
            </a:r>
            <a:r>
              <a:rPr lang="en-US" sz="1800" dirty="0">
                <a:solidFill>
                  <a:schemeClr val="bg1"/>
                </a:solidFill>
                <a:latin typeface="Arial"/>
                <a:ea typeface="Arial"/>
                <a:cs typeface="Arial"/>
                <a:sym typeface="Arial"/>
              </a:rPr>
              <a:t> </a:t>
            </a:r>
            <a:endParaRPr dirty="0">
              <a:solidFill>
                <a:schemeClr val="bg1"/>
              </a:solidFill>
            </a:endParaRPr>
          </a:p>
          <a:p>
            <a:pPr marL="0" marR="0" lvl="0" indent="0" algn="l" rtl="0">
              <a:spcBef>
                <a:spcPts val="0"/>
              </a:spcBef>
              <a:spcAft>
                <a:spcPts val="0"/>
              </a:spcAft>
              <a:buNone/>
            </a:pPr>
            <a:endParaRPr sz="1800" b="1" dirty="0">
              <a:solidFill>
                <a:schemeClr val="dk1"/>
              </a:solidFill>
              <a:latin typeface="Arial"/>
              <a:ea typeface="Arial"/>
              <a:cs typeface="Arial"/>
              <a:sym typeface="Arial"/>
            </a:endParaRPr>
          </a:p>
          <a:p>
            <a:pPr marL="0" marR="0" lvl="0" indent="0" algn="l" rtl="0">
              <a:spcBef>
                <a:spcPts val="0"/>
              </a:spcBef>
              <a:spcAft>
                <a:spcPts val="0"/>
              </a:spcAft>
              <a:buNone/>
            </a:pPr>
            <a:r>
              <a:rPr lang="en-US" sz="1800" b="1" dirty="0">
                <a:solidFill>
                  <a:schemeClr val="bg2"/>
                </a:solidFill>
                <a:latin typeface="Arial"/>
                <a:ea typeface="Arial"/>
                <a:cs typeface="Arial"/>
                <a:sym typeface="Arial"/>
              </a:rPr>
              <a:t>“Lean Applied to Us” by Bill Peterson at </a:t>
            </a:r>
            <a:r>
              <a:rPr lang="en-US" sz="1800" b="1" dirty="0" err="1">
                <a:solidFill>
                  <a:schemeClr val="bg2"/>
                </a:solidFill>
                <a:latin typeface="Arial"/>
                <a:ea typeface="Arial"/>
                <a:cs typeface="Arial"/>
                <a:sym typeface="Arial"/>
              </a:rPr>
              <a:t>TEDxKnoxville</a:t>
            </a:r>
            <a:endParaRPr sz="1800" b="1" dirty="0">
              <a:solidFill>
                <a:schemeClr val="bg2"/>
              </a:solidFill>
              <a:latin typeface="Arial"/>
              <a:ea typeface="Arial"/>
              <a:cs typeface="Arial"/>
              <a:sym typeface="Arial"/>
            </a:endParaRPr>
          </a:p>
          <a:p>
            <a:pPr marL="0" marR="0" lvl="0" indent="0" algn="l" rtl="0">
              <a:spcBef>
                <a:spcPts val="0"/>
              </a:spcBef>
              <a:spcAft>
                <a:spcPts val="0"/>
              </a:spcAft>
              <a:buNone/>
            </a:pPr>
            <a:r>
              <a:rPr lang="en-US" sz="1800" u="sng" dirty="0">
                <a:solidFill>
                  <a:schemeClr val="bg1"/>
                </a:solidFill>
                <a:latin typeface="Arial"/>
                <a:ea typeface="Arial"/>
                <a:cs typeface="Arial"/>
                <a:sym typeface="Arial"/>
                <a:hlinkClick r:id="rId4">
                  <a:extLst>
                    <a:ext uri="{A12FA001-AC4F-418D-AE19-62706E023703}">
                      <ahyp:hlinkClr xmlns:ahyp="http://schemas.microsoft.com/office/drawing/2018/hyperlinkcolor" val="tx"/>
                    </a:ext>
                  </a:extLst>
                </a:hlinkClick>
              </a:rPr>
              <a:t>https://youtu.be/tfQiGDUBdD0?si=rPpgv_lnBAJB0LKt</a:t>
            </a:r>
            <a:r>
              <a:rPr lang="en-US" sz="1800" dirty="0">
                <a:solidFill>
                  <a:schemeClr val="bg1"/>
                </a:solidFill>
                <a:latin typeface="Arial"/>
                <a:ea typeface="Arial"/>
                <a:cs typeface="Arial"/>
                <a:sym typeface="Arial"/>
              </a:rPr>
              <a:t> </a:t>
            </a:r>
            <a:endParaRPr dirty="0">
              <a:solidFill>
                <a:schemeClr val="bg1"/>
              </a:solidFil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b="1" dirty="0">
                <a:solidFill>
                  <a:schemeClr val="bg2"/>
                </a:solidFill>
                <a:latin typeface="Arial"/>
                <a:ea typeface="Arial"/>
                <a:cs typeface="Arial"/>
                <a:sym typeface="Arial"/>
              </a:rPr>
              <a:t>Agile Manifesto</a:t>
            </a:r>
            <a:endParaRPr dirty="0">
              <a:solidFill>
                <a:schemeClr val="bg2"/>
              </a:solidFill>
            </a:endParaRPr>
          </a:p>
          <a:p>
            <a:pPr marL="0" marR="0" lvl="0" indent="0" algn="l" rtl="0">
              <a:spcBef>
                <a:spcPts val="0"/>
              </a:spcBef>
              <a:spcAft>
                <a:spcPts val="0"/>
              </a:spcAft>
              <a:buNone/>
            </a:pPr>
            <a:r>
              <a:rPr lang="en-US" sz="1800" u="sng" dirty="0">
                <a:solidFill>
                  <a:schemeClr val="bg1"/>
                </a:solidFill>
                <a:latin typeface="Arial"/>
                <a:ea typeface="Arial"/>
                <a:cs typeface="Arial"/>
                <a:sym typeface="Arial"/>
                <a:hlinkClick r:id="rId5">
                  <a:extLst>
                    <a:ext uri="{A12FA001-AC4F-418D-AE19-62706E023703}">
                      <ahyp:hlinkClr xmlns:ahyp="http://schemas.microsoft.com/office/drawing/2018/hyperlinkcolor" val="tx"/>
                    </a:ext>
                  </a:extLst>
                </a:hlinkClick>
              </a:rPr>
              <a:t>https://agilemanifesto.org/</a:t>
            </a:r>
            <a:r>
              <a:rPr lang="en-US" sz="1800" dirty="0">
                <a:solidFill>
                  <a:schemeClr val="bg1"/>
                </a:solidFill>
                <a:latin typeface="Arial"/>
                <a:ea typeface="Arial"/>
                <a:cs typeface="Arial"/>
                <a:sym typeface="Arial"/>
              </a:rPr>
              <a:t> </a:t>
            </a:r>
            <a:endParaRPr dirty="0">
              <a:solidFill>
                <a:schemeClr val="bg1"/>
              </a:solidFil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b="1" dirty="0">
                <a:solidFill>
                  <a:schemeClr val="bg2"/>
                </a:solidFill>
                <a:latin typeface="Arial"/>
                <a:ea typeface="Arial"/>
                <a:cs typeface="Arial"/>
                <a:sym typeface="Arial"/>
              </a:rPr>
              <a:t>DevOps Handbook</a:t>
            </a:r>
            <a:endParaRPr dirty="0">
              <a:solidFill>
                <a:schemeClr val="bg2"/>
              </a:solidFill>
            </a:endParaRPr>
          </a:p>
          <a:p>
            <a:pPr marL="0" marR="0" lvl="0" indent="0" algn="l" rtl="0">
              <a:spcBef>
                <a:spcPts val="0"/>
              </a:spcBef>
              <a:spcAft>
                <a:spcPts val="0"/>
              </a:spcAft>
              <a:buNone/>
            </a:pPr>
            <a:r>
              <a:rPr lang="en-US" sz="1800" u="sng" dirty="0">
                <a:solidFill>
                  <a:schemeClr val="bg1"/>
                </a:solidFill>
                <a:latin typeface="Arial"/>
                <a:ea typeface="Arial"/>
                <a:cs typeface="Arial"/>
                <a:sym typeface="Arial"/>
                <a:hlinkClick r:id="rId6">
                  <a:extLst>
                    <a:ext uri="{A12FA001-AC4F-418D-AE19-62706E023703}">
                      <ahyp:hlinkClr xmlns:ahyp="http://schemas.microsoft.com/office/drawing/2018/hyperlinkcolor" val="tx"/>
                    </a:ext>
                  </a:extLst>
                </a:hlinkClick>
              </a:rPr>
              <a:t>https://itrevolution.com/product/the-devops-handbook-second-edition/</a:t>
            </a:r>
            <a:r>
              <a:rPr lang="en-US" sz="1800" dirty="0">
                <a:solidFill>
                  <a:schemeClr val="bg1"/>
                </a:solidFill>
                <a:latin typeface="Arial"/>
                <a:ea typeface="Arial"/>
                <a:cs typeface="Arial"/>
                <a:sym typeface="Arial"/>
              </a:rPr>
              <a:t> </a:t>
            </a:r>
            <a:endParaRPr dirty="0">
              <a:solidFill>
                <a:schemeClr val="bg1"/>
              </a:solidFill>
            </a:endParaRPr>
          </a:p>
        </p:txBody>
      </p:sp>
      <p:sp>
        <p:nvSpPr>
          <p:cNvPr id="389" name="Google Shape;389;p31"/>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References</a:t>
            </a:r>
            <a:endParaRPr sz="4400" dirty="0">
              <a:solidFill>
                <a:schemeClr val="bg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2"/>
          <p:cNvSpPr txBox="1"/>
          <p:nvPr/>
        </p:nvSpPr>
        <p:spPr>
          <a:xfrm>
            <a:off x="3649226" y="2596371"/>
            <a:ext cx="4893548" cy="543739"/>
          </a:xfrm>
          <a:prstGeom prst="rect">
            <a:avLst/>
          </a:prstGeom>
          <a:noFill/>
          <a:ln>
            <a:noFill/>
          </a:ln>
        </p:spPr>
        <p:txBody>
          <a:bodyPr spcFirstLastPara="1" wrap="square" lIns="25400" tIns="25400" rIns="25400" bIns="25400" anchor="t" anchorCtr="0">
            <a:spAutoFit/>
          </a:bodyPr>
          <a:lstStyle/>
          <a:p>
            <a:pPr marL="0" marR="0" lvl="0" indent="0" algn="ctr" rtl="0">
              <a:spcBef>
                <a:spcPts val="0"/>
              </a:spcBef>
              <a:spcAft>
                <a:spcPts val="0"/>
              </a:spcAft>
              <a:buClr>
                <a:srgbClr val="FFD52F"/>
              </a:buClr>
              <a:buSzPts val="3200"/>
              <a:buFont typeface="Arial"/>
              <a:buNone/>
            </a:pPr>
            <a:r>
              <a:rPr lang="en-US" sz="3200" b="1" dirty="0">
                <a:solidFill>
                  <a:schemeClr val="bg2"/>
                </a:solidFill>
                <a:latin typeface="Arial"/>
                <a:ea typeface="Arial"/>
                <a:cs typeface="Arial"/>
                <a:sym typeface="Arial"/>
              </a:rPr>
              <a:t>Break</a:t>
            </a:r>
            <a:endParaRPr dirty="0">
              <a:solidFill>
                <a:schemeClr val="bg2"/>
              </a:solidFill>
            </a:endParaRPr>
          </a:p>
        </p:txBody>
      </p:sp>
      <p:sp>
        <p:nvSpPr>
          <p:cNvPr id="395" name="Google Shape;395;p32"/>
          <p:cNvSpPr txBox="1">
            <a:spLocks noGrp="1"/>
          </p:cNvSpPr>
          <p:nvPr>
            <p:ph type="title"/>
          </p:nvPr>
        </p:nvSpPr>
        <p:spPr>
          <a:xfrm>
            <a:off x="2741259" y="3717890"/>
            <a:ext cx="6709482" cy="10349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Arial"/>
              <a:buNone/>
            </a:pPr>
            <a:r>
              <a:rPr lang="en-US" b="1">
                <a:solidFill>
                  <a:schemeClr val="lt1"/>
                </a:solidFill>
                <a:latin typeface="Arial"/>
                <a:ea typeface="Arial"/>
                <a:cs typeface="Arial"/>
                <a:sym typeface="Arial"/>
              </a:rPr>
              <a:t>ARTIFICIAL INTELLIGENCE INTEGRATION CENTER</a:t>
            </a:r>
            <a:endParaRPr/>
          </a:p>
        </p:txBody>
      </p:sp>
      <p:sp>
        <p:nvSpPr>
          <p:cNvPr id="396" name="Google Shape;396;p32"/>
          <p:cNvSpPr txBox="1"/>
          <p:nvPr/>
        </p:nvSpPr>
        <p:spPr>
          <a:xfrm>
            <a:off x="0" y="0"/>
            <a:ext cx="903346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Arial"/>
                <a:ea typeface="Arial"/>
                <a:cs typeface="Arial"/>
                <a:sym typeface="Arial"/>
              </a:rPr>
              <a:t>CW3 Vic Fernandez III</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3"/>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Practical Exercise</a:t>
            </a:r>
            <a:endParaRPr sz="4400" dirty="0">
              <a:solidFill>
                <a:schemeClr val="bg2"/>
              </a:solidFill>
              <a:latin typeface="Arial"/>
              <a:ea typeface="Arial"/>
              <a:cs typeface="Arial"/>
              <a:sym typeface="Arial"/>
            </a:endParaRPr>
          </a:p>
        </p:txBody>
      </p:sp>
      <p:sp>
        <p:nvSpPr>
          <p:cNvPr id="403" name="Google Shape;403;p33"/>
          <p:cNvSpPr txBox="1"/>
          <p:nvPr/>
        </p:nvSpPr>
        <p:spPr>
          <a:xfrm>
            <a:off x="838200" y="1396639"/>
            <a:ext cx="6556022"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Setup</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Break up into teams (e.g., by table).</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dirty="0">
                <a:solidFill>
                  <a:schemeClr val="bg2"/>
                </a:solidFill>
                <a:latin typeface="Arial"/>
                <a:ea typeface="Arial"/>
                <a:cs typeface="Arial"/>
                <a:sym typeface="Arial"/>
              </a:rPr>
              <a:t>Your Team Lead will be anyone who meets two of the following requirements:</a:t>
            </a:r>
            <a:endParaRPr dirty="0">
              <a:solidFill>
                <a:schemeClr val="bg2"/>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Contributed to an open-source project</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Believes in aliens</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Likes early 2000s post-hardcore music</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Loves (not like) pizza</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u="sng" dirty="0">
                <a:solidFill>
                  <a:schemeClr val="bg1"/>
                </a:solidFill>
                <a:latin typeface="Arial"/>
                <a:ea typeface="Arial"/>
                <a:cs typeface="Arial"/>
                <a:sym typeface="Arial"/>
              </a:rPr>
              <a:t>Ensure the Team Lead creates a code repository in GitHub and shares access with everyone on the team. </a:t>
            </a:r>
            <a:endParaRPr u="sng" dirty="0">
              <a:solidFill>
                <a:schemeClr val="bg1"/>
              </a:solidFill>
            </a:endParaRPr>
          </a:p>
        </p:txBody>
      </p:sp>
      <p:grpSp>
        <p:nvGrpSpPr>
          <p:cNvPr id="2" name="Group 1">
            <a:extLst>
              <a:ext uri="{FF2B5EF4-FFF2-40B4-BE49-F238E27FC236}">
                <a16:creationId xmlns:a16="http://schemas.microsoft.com/office/drawing/2014/main" id="{51057AE8-5151-B5A2-EFE4-6870798D61F2}"/>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6826FE40-3030-0356-DFAB-09920455389B}"/>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66F413A1-9A83-45A9-9440-80165A2CE183}"/>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C5573C49-1E0F-86B5-4605-B475E544BA1E}"/>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95064C7A-57EB-7CAD-E62E-9FBEF280C554}"/>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30C58846-45B3-855D-0A68-FF279C4246B1}"/>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551F77E1-D235-DA39-0B26-92760D5A8B5B}"/>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DC3C48A7-CA83-DE91-9FEA-CE8BDD461BDE}"/>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932F1C27-4757-1FA7-B0D7-4A480A348755}"/>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AAB23C74-14BE-8DA1-A421-2738F7186036}"/>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78C5C386-E521-6F5B-395A-4BA972E83C61}"/>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4254B3C2-ACC8-3E2A-94A5-42A1D2C3368F}"/>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36CB1DAB-3EAE-81D1-A741-46C5A3E1794E}"/>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9B8A6E95-DADB-B3CB-E69E-E4ECCEC156A2}"/>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32C8873C-4931-EEBC-4065-C6B645B777B3}"/>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3188D543-A8D0-B148-EFC4-206ADEA22BB2}"/>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4"/>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Practical Exercise</a:t>
            </a:r>
            <a:endParaRPr sz="4400" dirty="0">
              <a:solidFill>
                <a:schemeClr val="bg2"/>
              </a:solidFill>
              <a:latin typeface="Arial"/>
              <a:ea typeface="Arial"/>
              <a:cs typeface="Arial"/>
              <a:sym typeface="Arial"/>
            </a:endParaRPr>
          </a:p>
        </p:txBody>
      </p:sp>
      <p:sp>
        <p:nvSpPr>
          <p:cNvPr id="426" name="Google Shape;426;p34"/>
          <p:cNvSpPr txBox="1"/>
          <p:nvPr/>
        </p:nvSpPr>
        <p:spPr>
          <a:xfrm>
            <a:off x="838200" y="1577263"/>
            <a:ext cx="5690660" cy="4154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Scenario</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Your team has been tasked to create an app that boosts morale. The customer has not identified where they want the app to be deployed yet, but your Portfolio Lead wants you to ensure the app is ready when they do. To meet your Portfolio Lead’s intent, your app must be containerized and tested. It must also be reviewed and approved by your Team Lead.</a:t>
            </a:r>
            <a:endParaRPr dirty="0">
              <a:solidFill>
                <a:schemeClr val="bg1"/>
              </a:solidFill>
            </a:endParaRPr>
          </a:p>
        </p:txBody>
      </p:sp>
      <p:grpSp>
        <p:nvGrpSpPr>
          <p:cNvPr id="2" name="Group 1">
            <a:extLst>
              <a:ext uri="{FF2B5EF4-FFF2-40B4-BE49-F238E27FC236}">
                <a16:creationId xmlns:a16="http://schemas.microsoft.com/office/drawing/2014/main" id="{6F0CF356-6F26-D0D1-F2C2-259ABDE84B7B}"/>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DF01287E-7EF1-8823-58C2-CEDEEBFC16CD}"/>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44D438A3-CC0B-F596-DE91-C2FE02FA6A85}"/>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C7ADBD4C-C32C-ED4E-E8D8-260B8A9CCF89}"/>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743E7103-9D4F-1165-02FA-22F87E652032}"/>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B5FBF7E8-6FC3-82CE-6428-5F4CD1042AF7}"/>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BDE1C8BE-4D0A-C591-F939-883A8E07D327}"/>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4B515614-350A-3F40-AC68-2ABE5E346183}"/>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EED7F469-8282-30BE-855F-1A0DE8A35815}"/>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A8631918-A151-2A27-69C2-BD82D7EE05AB}"/>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0217A6CE-8EB2-10C0-868C-E7397A2DE186}"/>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8223BBD6-5CDC-3D60-5294-C505D79279A6}"/>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3ADAA32D-8CFF-97B3-B4E3-E84365069B9C}"/>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4BCD7ABD-CDFE-6B87-7A21-F14D6A1DE12B}"/>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7A531C3C-BACD-D8AA-D076-17A5B019BBCC}"/>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B9B1E840-B3A8-21A0-D2C7-6138DEDD9474}"/>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5"/>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Practical Exercise</a:t>
            </a:r>
            <a:endParaRPr sz="4400" dirty="0">
              <a:solidFill>
                <a:schemeClr val="bg2"/>
              </a:solidFill>
              <a:latin typeface="Arial"/>
              <a:ea typeface="Arial"/>
              <a:cs typeface="Arial"/>
              <a:sym typeface="Arial"/>
            </a:endParaRPr>
          </a:p>
        </p:txBody>
      </p:sp>
      <p:sp>
        <p:nvSpPr>
          <p:cNvPr id="465" name="Google Shape;465;p35"/>
          <p:cNvSpPr txBox="1"/>
          <p:nvPr/>
        </p:nvSpPr>
        <p:spPr>
          <a:xfrm>
            <a:off x="838200" y="1577263"/>
            <a:ext cx="5690660" cy="4524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Task</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Create and containerize a morale-boosting app that has been reviewed and approved internally by someone else on your team. </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Conditions</a:t>
            </a:r>
            <a:endParaRPr dirty="0">
              <a:solidFill>
                <a:schemeClr val="bg2"/>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You have one hour to complete this task </a:t>
            </a:r>
            <a:r>
              <a:rPr lang="en-US" sz="2400" dirty="0">
                <a:solidFill>
                  <a:srgbClr val="FF0000"/>
                </a:solidFill>
                <a:latin typeface="Arial"/>
                <a:ea typeface="Arial"/>
                <a:cs typeface="Arial"/>
                <a:sym typeface="Arial"/>
              </a:rPr>
              <a:t>using the provided instructions</a:t>
            </a:r>
            <a:r>
              <a:rPr lang="en-US" sz="2400" dirty="0">
                <a:solidFill>
                  <a:schemeClr val="dk1"/>
                </a:solidFill>
                <a:latin typeface="Arial"/>
                <a:ea typeface="Arial"/>
                <a:cs typeface="Arial"/>
                <a:sym typeface="Arial"/>
              </a:rPr>
              <a:t>.</a:t>
            </a:r>
            <a:endParaRPr dirty="0"/>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You have access to a GitHub.</a:t>
            </a:r>
            <a:endParaRPr dirty="0">
              <a:solidFill>
                <a:schemeClr val="bg1"/>
              </a:solidFill>
            </a:endParaRPr>
          </a:p>
          <a:p>
            <a:pPr marL="342900" marR="0" lvl="0" indent="-342900" algn="l" rtl="0">
              <a:spcBef>
                <a:spcPts val="0"/>
              </a:spcBef>
              <a:spcAft>
                <a:spcPts val="0"/>
              </a:spcAft>
              <a:buClr>
                <a:schemeClr val="bg2"/>
              </a:buClr>
              <a:buSzPts val="2400"/>
              <a:buFont typeface="Arial"/>
              <a:buChar char="•"/>
            </a:pPr>
            <a:r>
              <a:rPr lang="en-US" sz="2400" dirty="0">
                <a:solidFill>
                  <a:schemeClr val="bg1"/>
                </a:solidFill>
                <a:latin typeface="Arial"/>
                <a:ea typeface="Arial"/>
                <a:cs typeface="Arial"/>
                <a:sym typeface="Arial"/>
              </a:rPr>
              <a:t>You are authorized to use whatever code editor you want.</a:t>
            </a:r>
            <a:endParaRPr dirty="0">
              <a:solidFill>
                <a:schemeClr val="bg1"/>
              </a:solidFill>
            </a:endParaRPr>
          </a:p>
        </p:txBody>
      </p:sp>
      <p:grpSp>
        <p:nvGrpSpPr>
          <p:cNvPr id="2" name="Group 1">
            <a:extLst>
              <a:ext uri="{FF2B5EF4-FFF2-40B4-BE49-F238E27FC236}">
                <a16:creationId xmlns:a16="http://schemas.microsoft.com/office/drawing/2014/main" id="{6274E0F2-22CB-F2B6-FA0E-321B38D13E17}"/>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2C71AA4A-C10D-B699-B163-75322A054657}"/>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5536BBC0-316D-ADD2-40ED-8DBCD9100187}"/>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6DED559D-5B36-9853-E298-6C49394516F0}"/>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E1966FBF-549A-17E1-B886-2DF838713D60}"/>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CC3AB063-010B-5377-8EB0-5F2A6E9F3717}"/>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57ED51AD-4CA3-38DC-2CFD-D2A2DA7E485E}"/>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E7B06125-EF3F-35AE-39AF-6F166B1ECA38}"/>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6B3091B5-790B-B458-F586-D3904CBB403D}"/>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2AAA0109-ECB3-7D30-F355-2618669AE900}"/>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59E9C082-4B5A-BA4F-D36C-36B5ABED8E68}"/>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824BE33C-0D7E-AD7D-C57D-C953B1624CAD}"/>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C4C9737E-69A3-6EB0-48AA-D378975BB1FB}"/>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DAAABDFB-AC98-ECA8-57B1-47C053237A15}"/>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25DB3964-282E-6FC1-99DC-788DC036CB97}"/>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ABEC72F5-D7A7-85A1-47D0-5832AEEB1C1A}"/>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6"/>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Practical Exercise</a:t>
            </a:r>
            <a:endParaRPr sz="4400" dirty="0">
              <a:solidFill>
                <a:schemeClr val="bg2"/>
              </a:solidFill>
              <a:latin typeface="Arial"/>
              <a:ea typeface="Arial"/>
              <a:cs typeface="Arial"/>
              <a:sym typeface="Arial"/>
            </a:endParaRPr>
          </a:p>
        </p:txBody>
      </p:sp>
      <p:sp>
        <p:nvSpPr>
          <p:cNvPr id="488" name="Google Shape;488;p36"/>
          <p:cNvSpPr txBox="1"/>
          <p:nvPr/>
        </p:nvSpPr>
        <p:spPr>
          <a:xfrm>
            <a:off x="838200" y="1577263"/>
            <a:ext cx="5690660"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Standard</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You have met the standard of this task once you have created and containerized a morale-boosting app that has been reviewed and approved internally by someone else on your team. </a:t>
            </a:r>
            <a:endParaRPr dirty="0">
              <a:solidFill>
                <a:schemeClr val="bg1"/>
              </a:solidFill>
            </a:endParaRPr>
          </a:p>
        </p:txBody>
      </p:sp>
      <p:grpSp>
        <p:nvGrpSpPr>
          <p:cNvPr id="2" name="Group 1">
            <a:extLst>
              <a:ext uri="{FF2B5EF4-FFF2-40B4-BE49-F238E27FC236}">
                <a16:creationId xmlns:a16="http://schemas.microsoft.com/office/drawing/2014/main" id="{B798DFD1-5948-B66E-947F-91B6B2AA72AF}"/>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467729A0-16B1-99FF-B04E-6A53D7495C29}"/>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9A8EAC4E-0288-877E-50CF-0DF1759C6237}"/>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20A49DC1-C7E2-D3ED-6277-3654D70C6C6B}"/>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116C71E7-47D1-4EE8-AAF9-E1A9FD0776D4}"/>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33DCC439-4B92-17A1-8AF1-625B150BD7BC}"/>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D111740E-686B-25D8-BD5E-CDAC9854D014}"/>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8A861E42-1D18-9E46-352E-75AFF34E3600}"/>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F364B23A-74E8-6988-A582-C61840187B43}"/>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109FB317-E961-8A35-4344-E59BB337E3B8}"/>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3D030961-7493-2215-00CA-17906F8A791B}"/>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CF6BA469-31A7-4192-4371-F6F24D105011}"/>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79859D1B-C491-1F55-D984-FD56860D75DE}"/>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2DC2D30F-5A3C-67CF-C751-13BDC3C0B3D9}"/>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6DB9014D-B930-F184-9B22-12B3E3761948}"/>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A29EFF04-9A75-631E-0168-55945D688D06}"/>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7"/>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Practical Exercise</a:t>
            </a:r>
            <a:endParaRPr sz="4400" dirty="0">
              <a:solidFill>
                <a:schemeClr val="bg2"/>
              </a:solidFill>
              <a:latin typeface="Arial"/>
              <a:ea typeface="Arial"/>
              <a:cs typeface="Arial"/>
              <a:sym typeface="Arial"/>
            </a:endParaRPr>
          </a:p>
        </p:txBody>
      </p:sp>
      <p:sp>
        <p:nvSpPr>
          <p:cNvPr id="495" name="Google Shape;495;p37"/>
          <p:cNvSpPr txBox="1"/>
          <p:nvPr/>
        </p:nvSpPr>
        <p:spPr>
          <a:xfrm>
            <a:off x="838200" y="1610703"/>
            <a:ext cx="1030805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Instructions</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Do coding kata 1.</a:t>
            </a:r>
            <a:endParaRPr dirty="0">
              <a:solidFill>
                <a:schemeClr val="bg1"/>
              </a:solidFill>
            </a:endParaRPr>
          </a:p>
          <a:p>
            <a:pPr marL="0" marR="0" lvl="0" indent="0" algn="l" rtl="0">
              <a:spcBef>
                <a:spcPts val="0"/>
              </a:spcBef>
              <a:spcAft>
                <a:spcPts val="0"/>
              </a:spcAft>
              <a:buNone/>
            </a:pPr>
            <a:r>
              <a:rPr lang="en-US" sz="2400" u="sng" dirty="0">
                <a:solidFill>
                  <a:schemeClr val="bg1"/>
                </a:solidFill>
                <a:latin typeface="Arial"/>
                <a:ea typeface="Arial"/>
                <a:cs typeface="Arial"/>
                <a:sym typeface="Arial"/>
                <a:hlinkClick r:id="rId3">
                  <a:extLst>
                    <a:ext uri="{A12FA001-AC4F-418D-AE19-62706E023703}">
                      <ahyp:hlinkClr xmlns:ahyp="http://schemas.microsoft.com/office/drawing/2018/hyperlinkcolor" val="tx"/>
                    </a:ext>
                  </a:extLst>
                </a:hlinkClick>
              </a:rPr>
              <a:t>https://github.com/afc-ai2c/coding-katas/</a:t>
            </a:r>
            <a:endParaRPr sz="2400" dirty="0">
              <a:solidFill>
                <a:schemeClr val="bg1"/>
              </a:solidFill>
              <a:latin typeface="Arial"/>
              <a:ea typeface="Arial"/>
              <a:cs typeface="Arial"/>
              <a:sym typeface="Aria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Start</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1000</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End</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1100</a:t>
            </a:r>
            <a:endParaRPr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9"/>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dirty="0">
                <a:solidFill>
                  <a:schemeClr val="bg2"/>
                </a:solidFill>
                <a:latin typeface="Arial"/>
                <a:ea typeface="Arial"/>
                <a:cs typeface="Arial"/>
                <a:sym typeface="Arial"/>
              </a:rPr>
              <a:t>Quiz</a:t>
            </a:r>
            <a:endParaRPr sz="4400" dirty="0">
              <a:solidFill>
                <a:schemeClr val="bg2"/>
              </a:solidFill>
              <a:latin typeface="Arial"/>
              <a:ea typeface="Arial"/>
              <a:cs typeface="Arial"/>
              <a:sym typeface="Arial"/>
            </a:endParaRPr>
          </a:p>
        </p:txBody>
      </p:sp>
      <p:sp>
        <p:nvSpPr>
          <p:cNvPr id="509" name="Google Shape;509;p39"/>
          <p:cNvSpPr txBox="1"/>
          <p:nvPr/>
        </p:nvSpPr>
        <p:spPr>
          <a:xfrm>
            <a:off x="838199" y="1577263"/>
            <a:ext cx="10515600" cy="56322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bg2"/>
                </a:solidFill>
                <a:latin typeface="Arial"/>
                <a:ea typeface="Arial"/>
                <a:cs typeface="Arial"/>
                <a:sym typeface="Arial"/>
              </a:rPr>
              <a:t>What is are some examples of a value stream?</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Physical manufacturing, food delivery, and software development. </a:t>
            </a:r>
            <a:endParaRPr dirty="0">
              <a:solidFill>
                <a:schemeClr val="bg1"/>
              </a:solidFill>
            </a:endParaRPr>
          </a:p>
          <a:p>
            <a:pPr marL="0" marR="0" lvl="0" indent="0" algn="l" rtl="0">
              <a:spcBef>
                <a:spcPts val="0"/>
              </a:spcBef>
              <a:spcAft>
                <a:spcPts val="0"/>
              </a:spcAft>
              <a:buNone/>
            </a:pPr>
            <a:endParaRPr sz="2400" b="1"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What are some examples of implementing the first principle of </a:t>
            </a:r>
            <a:r>
              <a:rPr lang="en-US" sz="2400" b="1" dirty="0" err="1">
                <a:solidFill>
                  <a:schemeClr val="bg2"/>
                </a:solidFill>
                <a:latin typeface="Arial"/>
                <a:ea typeface="Arial"/>
                <a:cs typeface="Arial"/>
                <a:sym typeface="Arial"/>
              </a:rPr>
              <a:t>DevSecOps</a:t>
            </a:r>
            <a:r>
              <a:rPr lang="en-US" sz="2400" b="1" dirty="0">
                <a:solidFill>
                  <a:schemeClr val="bg2"/>
                </a:solidFill>
                <a:latin typeface="Arial"/>
                <a:ea typeface="Arial"/>
                <a:cs typeface="Arial"/>
                <a:sym typeface="Arial"/>
              </a:rPr>
              <a:t>?</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Continuous Build, Test, Integration, Delivery, and Deployment.</a:t>
            </a:r>
            <a:endParaRPr dirty="0">
              <a:solidFill>
                <a:schemeClr val="bg1"/>
              </a:solidFill>
            </a:endParaRPr>
          </a:p>
          <a:p>
            <a:pPr marL="0" marR="0" lvl="0" indent="0" algn="l" rtl="0">
              <a:spcBef>
                <a:spcPts val="0"/>
              </a:spcBef>
              <a:spcAft>
                <a:spcPts val="0"/>
              </a:spcAft>
              <a:buNone/>
            </a:pPr>
            <a:endParaRPr sz="2400" b="1"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What is are some examples of implementing the second principle of </a:t>
            </a:r>
            <a:r>
              <a:rPr lang="en-US" sz="2400" b="1" dirty="0" err="1">
                <a:solidFill>
                  <a:schemeClr val="bg2"/>
                </a:solidFill>
                <a:latin typeface="Arial"/>
                <a:ea typeface="Arial"/>
                <a:cs typeface="Arial"/>
                <a:sym typeface="Arial"/>
              </a:rPr>
              <a:t>DevSecOps</a:t>
            </a:r>
            <a:r>
              <a:rPr lang="en-US" sz="2400" b="1" dirty="0">
                <a:solidFill>
                  <a:schemeClr val="bg2"/>
                </a:solidFill>
                <a:latin typeface="Arial"/>
                <a:ea typeface="Arial"/>
                <a:cs typeface="Arial"/>
                <a:sym typeface="Arial"/>
              </a:rPr>
              <a:t>?</a:t>
            </a:r>
            <a:endParaRPr dirty="0">
              <a:solidFill>
                <a:schemeClr val="bg2"/>
              </a:solidFil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Continuous Monitoring (baking observability into an app).</a:t>
            </a:r>
            <a:endParaRPr sz="2400" b="1" dirty="0">
              <a:solidFill>
                <a:schemeClr val="bg1"/>
              </a:solidFill>
              <a:latin typeface="Arial"/>
              <a:ea typeface="Arial"/>
              <a:cs typeface="Arial"/>
              <a:sym typeface="Arial"/>
            </a:endParaRPr>
          </a:p>
          <a:p>
            <a:pPr marL="0" marR="0" lvl="0" indent="0" algn="l" rtl="0">
              <a:spcBef>
                <a:spcPts val="0"/>
              </a:spcBef>
              <a:spcAft>
                <a:spcPts val="0"/>
              </a:spcAft>
              <a:buNone/>
            </a:pPr>
            <a:endParaRPr sz="2400" b="1" dirty="0">
              <a:solidFill>
                <a:schemeClr val="dk1"/>
              </a:solidFill>
              <a:latin typeface="Arial"/>
              <a:ea typeface="Arial"/>
              <a:cs typeface="Arial"/>
              <a:sym typeface="Arial"/>
            </a:endParaRPr>
          </a:p>
          <a:p>
            <a:pPr marL="0" marR="0" lvl="0" indent="0" algn="l" rtl="0">
              <a:spcBef>
                <a:spcPts val="0"/>
              </a:spcBef>
              <a:spcAft>
                <a:spcPts val="0"/>
              </a:spcAft>
              <a:buNone/>
            </a:pPr>
            <a:r>
              <a:rPr lang="en-US" sz="2400" b="1" dirty="0">
                <a:solidFill>
                  <a:schemeClr val="bg2"/>
                </a:solidFill>
                <a:latin typeface="Arial"/>
                <a:ea typeface="Arial"/>
                <a:cs typeface="Arial"/>
                <a:sym typeface="Arial"/>
              </a:rPr>
              <a:t>What is are some examples of implementing the third principle of </a:t>
            </a:r>
            <a:r>
              <a:rPr lang="en-US" sz="2400" b="1" dirty="0" err="1">
                <a:solidFill>
                  <a:schemeClr val="bg2"/>
                </a:solidFill>
                <a:latin typeface="Arial"/>
                <a:ea typeface="Arial"/>
                <a:cs typeface="Arial"/>
                <a:sym typeface="Arial"/>
              </a:rPr>
              <a:t>DevSecOps</a:t>
            </a:r>
            <a:r>
              <a:rPr lang="en-US" sz="2400" b="1" dirty="0">
                <a:solidFill>
                  <a:schemeClr val="bg2"/>
                </a:solidFill>
                <a:latin typeface="Arial"/>
                <a:ea typeface="Arial"/>
                <a:cs typeface="Arial"/>
                <a:sym typeface="Arial"/>
              </a:rPr>
              <a:t>?</a:t>
            </a:r>
            <a:endParaRPr sz="2400" dirty="0">
              <a:solidFill>
                <a:schemeClr val="bg2"/>
              </a:solidFill>
              <a:latin typeface="Arial"/>
              <a:ea typeface="Arial"/>
              <a:cs typeface="Arial"/>
              <a:sym typeface="Arial"/>
            </a:endParaRPr>
          </a:p>
          <a:p>
            <a:pPr marL="0" marR="0" lvl="0" indent="0" algn="l" rtl="0">
              <a:spcBef>
                <a:spcPts val="0"/>
              </a:spcBef>
              <a:spcAft>
                <a:spcPts val="0"/>
              </a:spcAft>
              <a:buNone/>
            </a:pPr>
            <a:r>
              <a:rPr lang="en-US" sz="2400" dirty="0">
                <a:solidFill>
                  <a:schemeClr val="bg1"/>
                </a:solidFill>
                <a:latin typeface="Arial"/>
                <a:ea typeface="Arial"/>
                <a:cs typeface="Arial"/>
                <a:sym typeface="Arial"/>
              </a:rPr>
              <a:t>Continuous Improvement (sprint retrospectives).</a:t>
            </a:r>
            <a:endParaRPr dirty="0">
              <a:solidFill>
                <a:schemeClr val="bg1"/>
              </a:solidFil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9">
                                            <p:txEl>
                                              <p:pRg st="0" end="0"/>
                                            </p:txEl>
                                          </p:spTgt>
                                        </p:tgtEl>
                                        <p:attrNameLst>
                                          <p:attrName>style.visibility</p:attrName>
                                        </p:attrNameLst>
                                      </p:cBhvr>
                                      <p:to>
                                        <p:strVal val="visible"/>
                                      </p:to>
                                    </p:set>
                                    <p:animEffect transition="in" filter="fade">
                                      <p:cBhvr>
                                        <p:cTn id="7" dur="500"/>
                                        <p:tgtEl>
                                          <p:spTgt spid="5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9">
                                            <p:txEl>
                                              <p:pRg st="1" end="1"/>
                                            </p:txEl>
                                          </p:spTgt>
                                        </p:tgtEl>
                                        <p:attrNameLst>
                                          <p:attrName>style.visibility</p:attrName>
                                        </p:attrNameLst>
                                      </p:cBhvr>
                                      <p:to>
                                        <p:strVal val="visible"/>
                                      </p:to>
                                    </p:set>
                                    <p:animEffect transition="in" filter="fade">
                                      <p:cBhvr>
                                        <p:cTn id="12" dur="500"/>
                                        <p:tgtEl>
                                          <p:spTgt spid="5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9">
                                            <p:txEl>
                                              <p:pRg st="2" end="2"/>
                                            </p:txEl>
                                          </p:spTgt>
                                        </p:tgtEl>
                                        <p:attrNameLst>
                                          <p:attrName>style.visibility</p:attrName>
                                        </p:attrNameLst>
                                      </p:cBhvr>
                                      <p:to>
                                        <p:strVal val="visible"/>
                                      </p:to>
                                    </p:set>
                                    <p:animEffect transition="in" filter="fade">
                                      <p:cBhvr>
                                        <p:cTn id="17" dur="500"/>
                                        <p:tgtEl>
                                          <p:spTgt spid="5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9">
                                            <p:txEl>
                                              <p:pRg st="3" end="3"/>
                                            </p:txEl>
                                          </p:spTgt>
                                        </p:tgtEl>
                                        <p:attrNameLst>
                                          <p:attrName>style.visibility</p:attrName>
                                        </p:attrNameLst>
                                      </p:cBhvr>
                                      <p:to>
                                        <p:strVal val="visible"/>
                                      </p:to>
                                    </p:set>
                                    <p:animEffect transition="in" filter="fade">
                                      <p:cBhvr>
                                        <p:cTn id="22" dur="500"/>
                                        <p:tgtEl>
                                          <p:spTgt spid="50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9">
                                            <p:txEl>
                                              <p:pRg st="4" end="4"/>
                                            </p:txEl>
                                          </p:spTgt>
                                        </p:tgtEl>
                                        <p:attrNameLst>
                                          <p:attrName>style.visibility</p:attrName>
                                        </p:attrNameLst>
                                      </p:cBhvr>
                                      <p:to>
                                        <p:strVal val="visible"/>
                                      </p:to>
                                    </p:set>
                                    <p:animEffect transition="in" filter="fade">
                                      <p:cBhvr>
                                        <p:cTn id="27" dur="500"/>
                                        <p:tgtEl>
                                          <p:spTgt spid="50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9">
                                            <p:txEl>
                                              <p:pRg st="5" end="5"/>
                                            </p:txEl>
                                          </p:spTgt>
                                        </p:tgtEl>
                                        <p:attrNameLst>
                                          <p:attrName>style.visibility</p:attrName>
                                        </p:attrNameLst>
                                      </p:cBhvr>
                                      <p:to>
                                        <p:strVal val="visible"/>
                                      </p:to>
                                    </p:set>
                                    <p:animEffect transition="in" filter="fade">
                                      <p:cBhvr>
                                        <p:cTn id="32" dur="500"/>
                                        <p:tgtEl>
                                          <p:spTgt spid="50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9">
                                            <p:txEl>
                                              <p:pRg st="6" end="6"/>
                                            </p:txEl>
                                          </p:spTgt>
                                        </p:tgtEl>
                                        <p:attrNameLst>
                                          <p:attrName>style.visibility</p:attrName>
                                        </p:attrNameLst>
                                      </p:cBhvr>
                                      <p:to>
                                        <p:strVal val="visible"/>
                                      </p:to>
                                    </p:set>
                                    <p:animEffect transition="in" filter="fade">
                                      <p:cBhvr>
                                        <p:cTn id="37" dur="500"/>
                                        <p:tgtEl>
                                          <p:spTgt spid="50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9">
                                            <p:txEl>
                                              <p:pRg st="7" end="7"/>
                                            </p:txEl>
                                          </p:spTgt>
                                        </p:tgtEl>
                                        <p:attrNameLst>
                                          <p:attrName>style.visibility</p:attrName>
                                        </p:attrNameLst>
                                      </p:cBhvr>
                                      <p:to>
                                        <p:strVal val="visible"/>
                                      </p:to>
                                    </p:set>
                                    <p:animEffect transition="in" filter="fade">
                                      <p:cBhvr>
                                        <p:cTn id="42" dur="500"/>
                                        <p:tgtEl>
                                          <p:spTgt spid="50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09">
                                            <p:txEl>
                                              <p:pRg st="8" end="8"/>
                                            </p:txEl>
                                          </p:spTgt>
                                        </p:tgtEl>
                                        <p:attrNameLst>
                                          <p:attrName>style.visibility</p:attrName>
                                        </p:attrNameLst>
                                      </p:cBhvr>
                                      <p:to>
                                        <p:strVal val="visible"/>
                                      </p:to>
                                    </p:set>
                                    <p:animEffect transition="in" filter="fade">
                                      <p:cBhvr>
                                        <p:cTn id="47" dur="500"/>
                                        <p:tgtEl>
                                          <p:spTgt spid="50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09">
                                            <p:txEl>
                                              <p:pRg st="9" end="9"/>
                                            </p:txEl>
                                          </p:spTgt>
                                        </p:tgtEl>
                                        <p:attrNameLst>
                                          <p:attrName>style.visibility</p:attrName>
                                        </p:attrNameLst>
                                      </p:cBhvr>
                                      <p:to>
                                        <p:strVal val="visible"/>
                                      </p:to>
                                    </p:set>
                                    <p:animEffect transition="in" filter="fade">
                                      <p:cBhvr>
                                        <p:cTn id="52" dur="500"/>
                                        <p:tgtEl>
                                          <p:spTgt spid="50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09">
                                            <p:txEl>
                                              <p:pRg st="10" end="10"/>
                                            </p:txEl>
                                          </p:spTgt>
                                        </p:tgtEl>
                                        <p:attrNameLst>
                                          <p:attrName>style.visibility</p:attrName>
                                        </p:attrNameLst>
                                      </p:cBhvr>
                                      <p:to>
                                        <p:strVal val="visible"/>
                                      </p:to>
                                    </p:set>
                                    <p:animEffect transition="in" filter="fade">
                                      <p:cBhvr>
                                        <p:cTn id="57" dur="500"/>
                                        <p:tgtEl>
                                          <p:spTgt spid="50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09">
                                            <p:txEl>
                                              <p:pRg st="11" end="11"/>
                                            </p:txEl>
                                          </p:spTgt>
                                        </p:tgtEl>
                                        <p:attrNameLst>
                                          <p:attrName>style.visibility</p:attrName>
                                        </p:attrNameLst>
                                      </p:cBhvr>
                                      <p:to>
                                        <p:strVal val="visible"/>
                                      </p:to>
                                    </p:set>
                                    <p:animEffect transition="in" filter="fade">
                                      <p:cBhvr>
                                        <p:cTn id="62" dur="500"/>
                                        <p:tgtEl>
                                          <p:spTgt spid="50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0"/>
          <p:cNvSpPr txBox="1"/>
          <p:nvPr/>
        </p:nvSpPr>
        <p:spPr>
          <a:xfrm>
            <a:off x="3649226" y="2596371"/>
            <a:ext cx="4893548" cy="543739"/>
          </a:xfrm>
          <a:prstGeom prst="rect">
            <a:avLst/>
          </a:prstGeom>
          <a:noFill/>
          <a:ln>
            <a:noFill/>
          </a:ln>
        </p:spPr>
        <p:txBody>
          <a:bodyPr spcFirstLastPara="1" wrap="square" lIns="25400" tIns="25400" rIns="25400" bIns="25400" anchor="t" anchorCtr="0">
            <a:spAutoFit/>
          </a:bodyPr>
          <a:lstStyle/>
          <a:p>
            <a:pPr marL="0" marR="0" lvl="0" indent="0" algn="ctr" rtl="0">
              <a:spcBef>
                <a:spcPts val="0"/>
              </a:spcBef>
              <a:spcAft>
                <a:spcPts val="0"/>
              </a:spcAft>
              <a:buClr>
                <a:srgbClr val="FFD52F"/>
              </a:buClr>
              <a:buSzPts val="3200"/>
              <a:buFont typeface="Arial"/>
              <a:buNone/>
            </a:pPr>
            <a:r>
              <a:rPr lang="en-US" sz="3200" b="1" dirty="0">
                <a:solidFill>
                  <a:schemeClr val="bg2"/>
                </a:solidFill>
                <a:latin typeface="Arial"/>
                <a:ea typeface="Arial"/>
                <a:cs typeface="Arial"/>
                <a:sym typeface="Arial"/>
              </a:rPr>
              <a:t>Questions?</a:t>
            </a:r>
            <a:endParaRPr dirty="0">
              <a:solidFill>
                <a:schemeClr val="bg2"/>
              </a:solidFill>
            </a:endParaRPr>
          </a:p>
        </p:txBody>
      </p:sp>
      <p:sp>
        <p:nvSpPr>
          <p:cNvPr id="515" name="Google Shape;515;p40"/>
          <p:cNvSpPr txBox="1">
            <a:spLocks noGrp="1"/>
          </p:cNvSpPr>
          <p:nvPr>
            <p:ph type="title"/>
          </p:nvPr>
        </p:nvSpPr>
        <p:spPr>
          <a:xfrm>
            <a:off x="2741259" y="3717890"/>
            <a:ext cx="6709482" cy="10349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Arial"/>
              <a:buNone/>
            </a:pPr>
            <a:r>
              <a:rPr lang="en-US" b="1" dirty="0">
                <a:solidFill>
                  <a:schemeClr val="lt1"/>
                </a:solidFill>
                <a:latin typeface="Arial"/>
                <a:ea typeface="Arial"/>
                <a:cs typeface="Arial"/>
                <a:sym typeface="Arial"/>
              </a:rPr>
              <a:t>ARTIFICIAL INTELLIGENCE INTEGRATION CENTER</a:t>
            </a:r>
            <a:endParaRPr dirty="0"/>
          </a:p>
        </p:txBody>
      </p:sp>
      <p:sp>
        <p:nvSpPr>
          <p:cNvPr id="516" name="Google Shape;516;p40"/>
          <p:cNvSpPr txBox="1"/>
          <p:nvPr/>
        </p:nvSpPr>
        <p:spPr>
          <a:xfrm>
            <a:off x="0" y="0"/>
            <a:ext cx="903346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Arial"/>
                <a:ea typeface="Arial"/>
                <a:cs typeface="Arial"/>
                <a:sym typeface="Arial"/>
              </a:rPr>
              <a:t>CW3 Vic Fernandez III</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AI2C Slide Template</Template>
  <TotalTime>22</TotalTime>
  <Words>1486</Words>
  <Application>Microsoft Macintosh PowerPoint</Application>
  <PresentationFormat>Widescreen</PresentationFormat>
  <Paragraphs>325</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Arial Bold</vt:lpstr>
      <vt:lpstr>US Army 2023 AFC DEVCOM Logo</vt:lpstr>
      <vt:lpstr>DevSecOps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ARTIFICIAL INTELLIGENCE INTEGRATION CENTER</vt:lpstr>
      <vt:lpstr>PowerPoint Presentation</vt:lpstr>
      <vt:lpstr>PowerPoint Presentation</vt:lpstr>
      <vt:lpstr>PowerPoint Presentation</vt:lpstr>
      <vt:lpstr>PowerPoint Presentation</vt:lpstr>
      <vt:lpstr>PowerPoint Presentation</vt:lpstr>
      <vt:lpstr>PowerPoint Presentation</vt:lpstr>
      <vt:lpstr>ARTIFICIAL INTELLIGENCE INTEGRATION CENTER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 Kovach</cp:lastModifiedBy>
  <cp:revision>2</cp:revision>
  <dcterms:modified xsi:type="dcterms:W3CDTF">2025-12-23T14:28:20Z</dcterms:modified>
</cp:coreProperties>
</file>