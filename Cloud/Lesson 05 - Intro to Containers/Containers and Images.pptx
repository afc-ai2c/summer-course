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397" r:id="rId2"/>
    <p:sldId id="274" r:id="rId3"/>
    <p:sldId id="360" r:id="rId4"/>
    <p:sldId id="361" r:id="rId5"/>
    <p:sldId id="376" r:id="rId6"/>
    <p:sldId id="375" r:id="rId7"/>
    <p:sldId id="377" r:id="rId8"/>
    <p:sldId id="379" r:id="rId9"/>
    <p:sldId id="380" r:id="rId10"/>
    <p:sldId id="378" r:id="rId11"/>
    <p:sldId id="381" r:id="rId12"/>
    <p:sldId id="328" r:id="rId13"/>
    <p:sldId id="382" r:id="rId14"/>
    <p:sldId id="358" r:id="rId15"/>
    <p:sldId id="383" r:id="rId16"/>
    <p:sldId id="389" r:id="rId17"/>
    <p:sldId id="393" r:id="rId18"/>
    <p:sldId id="384" r:id="rId19"/>
    <p:sldId id="386" r:id="rId20"/>
    <p:sldId id="387" r:id="rId21"/>
    <p:sldId id="388" r:id="rId22"/>
    <p:sldId id="390" r:id="rId23"/>
    <p:sldId id="391" r:id="rId24"/>
    <p:sldId id="392" r:id="rId25"/>
    <p:sldId id="364" r:id="rId26"/>
    <p:sldId id="395" r:id="rId27"/>
    <p:sldId id="396" r:id="rId28"/>
    <p:sldId id="394" r:id="rId29"/>
    <p:sldId id="36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57"/>
    <p:restoredTop sz="78947" autoAdjust="0"/>
  </p:normalViewPr>
  <p:slideViewPr>
    <p:cSldViewPr snapToGrid="0">
      <p:cViewPr varScale="1">
        <p:scale>
          <a:sx n="79" d="100"/>
          <a:sy n="79" d="100"/>
        </p:scale>
        <p:origin x="111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F5B96-EC90-4B10-91AC-E32DA21E81E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57D5F-ED05-449E-97D0-205DAB987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1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 dirty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 dirty="0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68C0D0-4AB1-2B35-9E17-2D6A58ECA3A9}"/>
              </a:ext>
            </a:extLst>
          </p:cNvPr>
          <p:cNvSpPr txBox="1"/>
          <p:nvPr userDrawn="1"/>
        </p:nvSpPr>
        <p:spPr>
          <a:xfrm>
            <a:off x="1385455" y="-307570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843868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1855535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>
            <a:lvl1pPr>
              <a:buClr>
                <a:schemeClr val="bg2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97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>
            <a:lvl1pPr>
              <a:buClr>
                <a:schemeClr val="bg2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>
            <a:lvl1pPr>
              <a:buClr>
                <a:schemeClr val="bg2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22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>
            <a:lvl1pPr>
              <a:buClr>
                <a:schemeClr val="bg2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>
            <a:lvl1pPr>
              <a:buClr>
                <a:schemeClr val="bg2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>
            <a:lvl1pPr>
              <a:buClr>
                <a:schemeClr val="bg2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09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16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56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653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19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33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83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710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29487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04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78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4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64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>
                <a:solidFill>
                  <a:schemeClr val="tx2"/>
                </a:solidFill>
              </a:defRPr>
            </a:lvl1pPr>
            <a:lvl2pPr marL="182880" indent="-182880"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65760">
              <a:defRPr>
                <a:solidFill>
                  <a:schemeClr val="tx1"/>
                </a:solidFill>
              </a:defRPr>
            </a:lvl3pPr>
            <a:lvl4pPr marL="548640">
              <a:defRPr>
                <a:solidFill>
                  <a:schemeClr val="tx1"/>
                </a:solidFill>
              </a:defRPr>
            </a:lvl4pPr>
            <a:lvl5pPr marL="731520">
              <a:defRPr>
                <a:solidFill>
                  <a:schemeClr val="tx1"/>
                </a:solidFill>
              </a:defRPr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 dirty="0"/>
              <a:t>[Optional section subtitle]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1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>
                <a:solidFill>
                  <a:schemeClr val="tx2"/>
                </a:solidFill>
              </a:defRPr>
            </a:lvl1pPr>
            <a:lvl2pPr marL="182880" indent="-182880"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65760">
              <a:defRPr>
                <a:solidFill>
                  <a:schemeClr val="tx1"/>
                </a:solidFill>
              </a:defRPr>
            </a:lvl3pPr>
            <a:lvl4pPr marL="548640">
              <a:defRPr>
                <a:solidFill>
                  <a:schemeClr val="tx1"/>
                </a:solidFill>
              </a:defRPr>
            </a:lvl4pPr>
            <a:lvl5pPr marL="731520">
              <a:defRPr>
                <a:solidFill>
                  <a:schemeClr val="tx1"/>
                </a:solidFill>
              </a:defRPr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 dirty="0"/>
              <a:t>[Optional section subtitle]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93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>
                <a:solidFill>
                  <a:schemeClr val="bg2"/>
                </a:solidFill>
              </a:defRPr>
            </a:lvl1pPr>
            <a:lvl2pPr marL="182880" indent="-18288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>
                <a:solidFill>
                  <a:schemeClr val="bg1"/>
                </a:solidFill>
              </a:defRPr>
            </a:lvl6pPr>
            <a:lvl7pPr marL="1097280">
              <a:defRPr>
                <a:solidFill>
                  <a:schemeClr val="bg1"/>
                </a:solidFill>
              </a:defRPr>
            </a:lvl7pPr>
            <a:lvl8pPr marL="1280160">
              <a:defRPr>
                <a:solidFill>
                  <a:schemeClr val="bg1"/>
                </a:solidFill>
              </a:defRPr>
            </a:lvl8pPr>
            <a:lvl9pPr marL="146304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[Optional section subtitle]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00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>
                <a:solidFill>
                  <a:schemeClr val="bg2"/>
                </a:solidFill>
              </a:defRPr>
            </a:lvl1pPr>
            <a:lvl2pPr marL="182880" indent="-182880">
              <a:spcBef>
                <a:spcPts val="10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>
                <a:solidFill>
                  <a:schemeClr val="bg1"/>
                </a:solidFill>
              </a:defRPr>
            </a:lvl6pPr>
            <a:lvl7pPr marL="1097280">
              <a:defRPr>
                <a:solidFill>
                  <a:schemeClr val="bg1"/>
                </a:solidFill>
              </a:defRPr>
            </a:lvl7pPr>
            <a:lvl8pPr marL="1280160">
              <a:defRPr>
                <a:solidFill>
                  <a:schemeClr val="bg1"/>
                </a:solidFill>
              </a:defRPr>
            </a:lvl8pPr>
            <a:lvl9pPr marL="146304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[Long section description]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31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>
                <a:solidFill>
                  <a:schemeClr val="tx2"/>
                </a:solidFill>
              </a:defRPr>
            </a:lvl1pPr>
            <a:lvl2pPr marL="182880" indent="-182880">
              <a:spcBef>
                <a:spcPts val="1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65760">
              <a:defRPr>
                <a:solidFill>
                  <a:schemeClr val="tx1"/>
                </a:solidFill>
              </a:defRPr>
            </a:lvl3pPr>
            <a:lvl4pPr marL="548640">
              <a:defRPr>
                <a:solidFill>
                  <a:schemeClr val="tx1"/>
                </a:solidFill>
              </a:defRPr>
            </a:lvl4pPr>
            <a:lvl5pPr marL="731520">
              <a:defRPr>
                <a:solidFill>
                  <a:schemeClr val="tx1"/>
                </a:solidFill>
              </a:defRPr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 dirty="0"/>
              <a:t>[Optional section description]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34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>
                <a:solidFill>
                  <a:schemeClr val="bg2"/>
                </a:solidFill>
              </a:defRPr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>
                <a:solidFill>
                  <a:schemeClr val="bg1"/>
                </a:solidFill>
              </a:defRPr>
            </a:lvl6pPr>
            <a:lvl7pPr marL="1097280">
              <a:defRPr>
                <a:solidFill>
                  <a:schemeClr val="bg1"/>
                </a:solidFill>
              </a:defRPr>
            </a:lvl7pPr>
            <a:lvl8pPr marL="1280160">
              <a:defRPr>
                <a:solidFill>
                  <a:schemeClr val="bg1"/>
                </a:solidFill>
              </a:defRPr>
            </a:lvl8pPr>
            <a:lvl9pPr marL="146304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[Optional section description]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73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265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038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54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514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00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5223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8C2E-661D-51E2-ED90-348CF28A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99564-2BF9-8DCD-A28E-9381CAF6C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3C069-210D-286C-4C3D-4A1E6D37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C136A-C674-A923-5AF9-6FA91140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792A-A4FA-3A54-7252-A8321589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703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CE23-DF7C-6906-24C3-CF1C66F0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F6F46-A4F4-9212-D5AE-2A768FC52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5690C-1D12-A35F-F15A-E42B5D4C1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C3D2B-FE52-0014-B507-BF942CF6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45E52-0AAB-5533-9208-A90B4714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0B08A-6C74-4624-354A-9E8A77A7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877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9991F-A102-D529-F5F3-F565450D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2BD4B-E36D-639B-C3EF-66780F5AD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2C8D3-6873-2A71-0439-0476204F6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79A89A-D222-0EDC-DDB7-F83FD8CF4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2DF1B-F1BF-14ED-1E9E-31E4D798C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10DD9C-5FB3-3919-F6E2-64A9C39F5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FC7C1-92D4-033D-4354-DFBADC84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D3D73-AEE1-83F3-0176-B9104BAC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917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0445-879C-92E5-6B7B-8507B504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401DA1-B102-A093-18A6-B6C66A29A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29DF4-D471-475F-5358-3FAEC6BE9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EBFAD-3177-C657-702B-130BF2B5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CD079-4BC7-FC93-203B-C8405920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3BD89-486D-38B4-C773-4D05F0C9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50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AD3160A9-B1E4-4AE8-B854-46ED2C2068C2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6BE33E-3F40-A149-8C4E-CC22F50F26AF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965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2" r:id="rId30"/>
    <p:sldLayoutId id="2147483693" r:id="rId31"/>
    <p:sldLayoutId id="2147483694" r:id="rId32"/>
    <p:sldLayoutId id="2147483695" r:id="rId3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•"/>
        <a:defRPr sz="1700" kern="1200">
          <a:solidFill>
            <a:schemeClr val="bg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bg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bg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bg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bg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>
                <a:solidFill>
                  <a:schemeClr val="tx2"/>
                </a:solidFill>
              </a:rPr>
              <a:t>7 January 2026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>
                <a:solidFill>
                  <a:schemeClr val="tx2"/>
                </a:solidFill>
              </a:rPr>
              <a:pPr/>
              <a:t>1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Containers and images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5F3FA6-2709-981C-597F-6614A642A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 Objectives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0E2BF1D-0EAC-27BA-A810-2F514A1D5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Understand what containers are and how they differ from traditional virtualization.</a:t>
            </a:r>
          </a:p>
          <a:p>
            <a:r>
              <a:rPr lang="en-US" dirty="0"/>
              <a:t>Explain the benefits of using containers for application development and deployment.</a:t>
            </a:r>
          </a:p>
          <a:p>
            <a:r>
              <a:rPr lang="en-US" dirty="0"/>
              <a:t>Identify the key components of container technology, including container engines, images, and registries.</a:t>
            </a:r>
          </a:p>
          <a:p>
            <a:r>
              <a:rPr lang="en-US" dirty="0"/>
              <a:t>Deploy a simple application using Docker as a practical example of container technology.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3AFDCF-3DA3-08D2-6C2E-598625CD67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7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84" y="3429000"/>
            <a:ext cx="5465919" cy="10336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Containers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D98F1503-573F-7D11-6D50-DAB745BE7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5493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2D6490C-6445-A481-834D-7131601DB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the Difference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B139C0D-48EC-B206-4F78-4205E0430B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2135" y="868681"/>
            <a:ext cx="6972050" cy="3048294"/>
          </a:xfr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63B12B4C-CD3F-988A-DF56-990DA5A928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216769" y="3735680"/>
            <a:ext cx="6843096" cy="305532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163C00-7752-03C6-6900-21A1D4C2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8F20-E57A-878E-7105-342BFA53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24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BB3AFA-5E9B-4F33-1B40-4A5A50EE4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VM Overhead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F27212-4BE1-77C6-F242-D33C81082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VMs run their own operating system</a:t>
            </a:r>
          </a:p>
          <a:p>
            <a:r>
              <a:rPr lang="en-US" dirty="0"/>
              <a:t>Many VMs will have the same operating system (Linux, Windows,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Each copy of the OS has a job scheduler, kernel, drivers, </a:t>
            </a:r>
            <a:r>
              <a:rPr lang="en-US" dirty="0" err="1"/>
              <a:t>etc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How can we eliminate overhead but keep the flexibility of VMs?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62538-A2F2-33E8-7EF8-4443726A49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98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77699-DF63-422B-8985-6DC0C83A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87754-6D18-E2BB-16EE-85DB32F0C2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Surround an “app” in a “container”</a:t>
            </a:r>
          </a:p>
          <a:p>
            <a:r>
              <a:rPr lang="en-US" dirty="0"/>
              <a:t>The container is the boundaries of that app</a:t>
            </a:r>
          </a:p>
          <a:p>
            <a:r>
              <a:rPr lang="en-US" dirty="0"/>
              <a:t>The app believes it has a normal OS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DC550-61C6-5A3B-D689-26991F0A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82C5F-B0DA-30E4-D0DC-CE903440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/>
              <a:pPr/>
              <a:t>6</a:t>
            </a:fld>
            <a:endParaRPr lang="en-US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54865C-3C73-DE26-E8EA-92A81C99B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286" y="2866388"/>
            <a:ext cx="7188200" cy="356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943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97BEF-FB32-8A93-1093-4ECEC256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Isolation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3D9F1-111A-1608-30A3-634E9771CA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Linux has a number of mechanisms to isolate processes from each other</a:t>
            </a:r>
          </a:p>
          <a:p>
            <a:r>
              <a:rPr lang="en-US" dirty="0"/>
              <a:t>Pre-existing and new concepts for containers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A29717-9D46-F2D6-D7E7-6707F5E6E5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54241" y="3279541"/>
            <a:ext cx="6256475" cy="2432517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C1EB-99FD-CBE2-15A0-B94D1A4B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B52D5-19E6-2BE8-9DBE-D2FB7F741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75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D8E6-35E0-A0CC-A5C0-85A93C484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Namespaces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AE945A-90BC-E3AD-97D6-4FF36BCEE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pic>
        <p:nvPicPr>
          <p:cNvPr id="1026" name="Picture 2" descr="Linux Namespaces - Linux containers from scratch - diyC">
            <a:extLst>
              <a:ext uri="{FF2B5EF4-FFF2-40B4-BE49-F238E27FC236}">
                <a16:creationId xmlns:a16="http://schemas.microsoft.com/office/drawing/2014/main" id="{1B1CD1EA-9155-BA6D-18AD-713F394949A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788" y="2645740"/>
            <a:ext cx="5157787" cy="340325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77E71B-78BB-732C-F7E7-CDB2BA89E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Mount</a:t>
            </a:r>
          </a:p>
        </p:txBody>
      </p:sp>
      <p:pic>
        <p:nvPicPr>
          <p:cNvPr id="1028" name="Picture 4" descr="PPT - LXC(Linux Container) PowerPoint Presentation, free download - ID ...">
            <a:extLst>
              <a:ext uri="{FF2B5EF4-FFF2-40B4-BE49-F238E27FC236}">
                <a16:creationId xmlns:a16="http://schemas.microsoft.com/office/drawing/2014/main" id="{6F92F486-5257-2C25-419D-AF425CA3448A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07402" y="2505075"/>
            <a:ext cx="4912784" cy="3684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66AAA-E74D-8051-7E56-5DEB24CE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0FB9B-5855-8891-63CE-C0967E26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83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D8E6-35E0-A0CC-A5C0-85A93C484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Namespaces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AE945A-90BC-E3AD-97D6-4FF36BCEE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</a:t>
            </a:r>
          </a:p>
        </p:txBody>
      </p:sp>
      <p:pic>
        <p:nvPicPr>
          <p:cNvPr id="3074" name="Picture 2" descr="Digging into Linux namespaces - part 1">
            <a:extLst>
              <a:ext uri="{FF2B5EF4-FFF2-40B4-BE49-F238E27FC236}">
                <a16:creationId xmlns:a16="http://schemas.microsoft.com/office/drawing/2014/main" id="{A769B7AD-EA71-AE63-DF86-1BCCFDE06C7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788" y="3132264"/>
            <a:ext cx="5157787" cy="243020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77E71B-78BB-732C-F7E7-CDB2BA89E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 ID</a:t>
            </a:r>
          </a:p>
        </p:txBody>
      </p:sp>
      <p:pic>
        <p:nvPicPr>
          <p:cNvPr id="3076" name="Picture 4" descr="Linux Container Primitives: User Namespaces - SCHUTZWERK">
            <a:extLst>
              <a:ext uri="{FF2B5EF4-FFF2-40B4-BE49-F238E27FC236}">
                <a16:creationId xmlns:a16="http://schemas.microsoft.com/office/drawing/2014/main" id="{5F76C42A-A50D-117B-FAE0-F34905CBEB02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3074679"/>
            <a:ext cx="5183188" cy="254537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66AAA-E74D-8051-7E56-5DEB24CE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0FB9B-5855-8891-63CE-C0967E26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98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4078-6652-7487-75CC-94A3BE1D6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But wait…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1214-67C3-F0F6-D6A8-FCEFE24FD5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Those namespaces look like a lot like overhead…</a:t>
            </a:r>
          </a:p>
        </p:txBody>
      </p:sp>
      <p:pic>
        <p:nvPicPr>
          <p:cNvPr id="7" name="Picture 2" descr="The Evolution of Linux Containers and Their Future - DZone">
            <a:extLst>
              <a:ext uri="{FF2B5EF4-FFF2-40B4-BE49-F238E27FC236}">
                <a16:creationId xmlns:a16="http://schemas.microsoft.com/office/drawing/2014/main" id="{11116EAB-8649-AC48-B89B-914C13358BC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725325"/>
            <a:ext cx="5181600" cy="25519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B677C-9A99-2A58-5871-36AC1CD6C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1110C-A4DD-B36A-72D5-B8668AB21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3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8C70FD-6ACE-DFA5-33F6-9E0B6330B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Container Considerations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5F61BB-B4E8-0355-C047-A030FBBDF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Apps are built into “images”</a:t>
            </a:r>
          </a:p>
          <a:p>
            <a:r>
              <a:rPr lang="en-US" dirty="0"/>
              <a:t>Once an image is built, it is immutable</a:t>
            </a:r>
          </a:p>
          <a:p>
            <a:r>
              <a:rPr lang="en-US" dirty="0"/>
              <a:t>A container is one instantiation of that image</a:t>
            </a:r>
          </a:p>
          <a:p>
            <a:r>
              <a:rPr lang="en-US" dirty="0"/>
              <a:t>Any changes in a running container are temporary / non-persistent</a:t>
            </a:r>
          </a:p>
          <a:p>
            <a:r>
              <a:rPr lang="en-US" dirty="0"/>
              <a:t>Therefore… if we built image A, how does container A now compare to container A 3 months from now?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EC2E5-47C0-BE60-6198-A9A8BF1722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9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Container Support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19E1EE-F655-4E6F-CAA6-3F114392D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Engines, Images, Layers, Registries, Repositories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 dirty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50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92EEC7-97E8-3C84-E478-FE95C140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Engines</a:t>
            </a:r>
          </a:p>
        </p:txBody>
      </p:sp>
      <p:pic>
        <p:nvPicPr>
          <p:cNvPr id="12" name="Picture 2" descr="The Industry-Leading Container Runtime | Docker">
            <a:extLst>
              <a:ext uri="{FF2B5EF4-FFF2-40B4-BE49-F238E27FC236}">
                <a16:creationId xmlns:a16="http://schemas.microsoft.com/office/drawing/2014/main" id="{B54BC1CA-F3E2-A410-EED7-D424E29E7117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1" b="224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B1E5C2-D011-16F5-56BC-7DB2635A7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 daemon or process that interfaces between users and containers</a:t>
            </a:r>
          </a:p>
          <a:p>
            <a:r>
              <a:rPr lang="en-US" dirty="0" err="1"/>
              <a:t>dockerd</a:t>
            </a:r>
            <a:r>
              <a:rPr lang="en-US" dirty="0"/>
              <a:t>, </a:t>
            </a:r>
            <a:r>
              <a:rPr lang="en-US" dirty="0" err="1"/>
              <a:t>lxcd</a:t>
            </a:r>
            <a:endParaRPr lang="en-US" dirty="0"/>
          </a:p>
          <a:p>
            <a:r>
              <a:rPr lang="en-US" dirty="0"/>
              <a:t>Important role in making establishing namespaces / communication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EBB94-5815-3ECA-4AEA-748D1A058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https://en.wikipedia.org/wiki/Daemon_(computing)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5069B-1B32-5AE3-1060-426423F7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39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B5B50-CCD0-2887-9997-3F26F247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DA183-7883-7E91-C5F9-05CDA4F35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lxd</a:t>
            </a:r>
            <a:endParaRPr lang="en-US" dirty="0"/>
          </a:p>
          <a:p>
            <a:r>
              <a:rPr lang="en-US" dirty="0" err="1"/>
              <a:t>dockerd</a:t>
            </a:r>
            <a:endParaRPr lang="en-US" dirty="0"/>
          </a:p>
          <a:p>
            <a:r>
              <a:rPr lang="en-US" dirty="0" err="1"/>
              <a:t>containerd</a:t>
            </a:r>
            <a:endParaRPr lang="en-US" dirty="0"/>
          </a:p>
          <a:p>
            <a:r>
              <a:rPr lang="en-US" dirty="0" err="1"/>
              <a:t>hyper-v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05392-949B-2087-AC5F-ED787812B3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75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6CDD8-EFE8-D957-1F7E-4598326E4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424D0-E589-6D39-0264-8F5FD3543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2"/>
              </a:buClr>
            </a:pPr>
            <a:r>
              <a:rPr lang="en-US" dirty="0"/>
              <a:t>A file (typically text or binary) that is used by the engine to start a container</a:t>
            </a:r>
          </a:p>
          <a:p>
            <a:pPr>
              <a:buClr>
                <a:schemeClr val="bg2"/>
              </a:buClr>
            </a:pPr>
            <a:r>
              <a:rPr lang="en-US" dirty="0"/>
              <a:t>The image is hashed and (optionally) signed to validate the image before running</a:t>
            </a:r>
          </a:p>
          <a:p>
            <a:pPr>
              <a:buClr>
                <a:schemeClr val="bg2"/>
              </a:buClr>
            </a:pPr>
            <a:r>
              <a:rPr lang="en-US" dirty="0"/>
              <a:t>Images are immutable after creation</a:t>
            </a:r>
          </a:p>
          <a:p>
            <a:pPr>
              <a:buClr>
                <a:schemeClr val="bg2"/>
              </a:buClr>
            </a:pPr>
            <a:r>
              <a:rPr lang="en-US" dirty="0"/>
              <a:t>Standardizing towards Open Container Initiative format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9F4FEC-1BC1-578A-C265-31D7402630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47CE5-6EC8-4C22-A699-15C599AF949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49486" y="5257802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https://github.com/opencontainers/runtime-spec/blob/main/config.md</a:t>
            </a:r>
          </a:p>
        </p:txBody>
      </p:sp>
    </p:spTree>
    <p:extLst>
      <p:ext uri="{BB962C8B-B14F-4D97-AF65-F5344CB8AC3E}">
        <p14:creationId xmlns:p14="http://schemas.microsoft.com/office/powerpoint/2010/main" val="2316479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5016-F94A-C28C-7463-F9D51DC7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Onions…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F0305-EE80-DE9D-4312-AA28561C0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Images are composed of layers</a:t>
            </a:r>
          </a:p>
          <a:p>
            <a:r>
              <a:rPr lang="en-US" dirty="0"/>
              <a:t>Layers are “stacked” on top of each other</a:t>
            </a:r>
          </a:p>
          <a:p>
            <a:r>
              <a:rPr lang="en-US" dirty="0"/>
              <a:t>The image specifies how to stack the layers</a:t>
            </a:r>
          </a:p>
          <a:p>
            <a:r>
              <a:rPr lang="en-US" dirty="0"/>
              <a:t>A layer includes multiple files</a:t>
            </a:r>
          </a:p>
          <a:p>
            <a:r>
              <a:rPr lang="en-US" dirty="0"/>
              <a:t>A layer may overwrite the contents of an earlier layer</a:t>
            </a:r>
          </a:p>
          <a:p>
            <a:r>
              <a:rPr lang="en-US" dirty="0"/>
              <a:t>We can hash the layers…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541B5-0A85-F5E7-D10E-604412A8CD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27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82B43-3C77-9E3F-6510-878B992A7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An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83AEC-B017-08B3-3E05-7EE94911EA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18039B46-FA54-4B70-AC0D-4BB93E2046DD}" type="slidenum">
              <a:rPr lang="en-US"/>
              <a:pPr/>
              <a:t>17</a:t>
            </a:fld>
            <a:endParaRPr lang="en-US"/>
          </a:p>
        </p:txBody>
      </p:sp>
      <p:pic>
        <p:nvPicPr>
          <p:cNvPr id="1026" name="Picture 2" descr="Understanding Docker images and layers | Learn OpenShift">
            <a:extLst>
              <a:ext uri="{FF2B5EF4-FFF2-40B4-BE49-F238E27FC236}">
                <a16:creationId xmlns:a16="http://schemas.microsoft.com/office/drawing/2014/main" id="{C211FBD3-13B4-7202-591B-C14AAE541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42066" y="1009567"/>
            <a:ext cx="8231293" cy="543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435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DCFAE-1391-0071-3293-A5C139C5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Repository &amp; Namespaces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EB1D2-F3BD-3E88-6501-8636A7AF0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Repository – location that hosts container images (and their metadata)</a:t>
            </a:r>
          </a:p>
          <a:p>
            <a:pPr lvl="1"/>
            <a:r>
              <a:rPr lang="en-US" dirty="0"/>
              <a:t>Images are versioned (remember, immutable) by tag</a:t>
            </a:r>
          </a:p>
          <a:p>
            <a:endParaRPr lang="en-US" dirty="0"/>
          </a:p>
          <a:p>
            <a:r>
              <a:rPr lang="en-US" dirty="0"/>
              <a:t>Namespace – separates groups of repositories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27A8C-35B1-4A3E-08FE-DA978E86AB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72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1E3C8-2BAF-2922-B46D-79C847E6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CA1B6-F035-E9CA-A53E-17AF88B72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location that hosts multiple repositories.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01C12-E320-F5D9-E174-DBCFB4F84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90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EC48-D3ED-6994-3119-995BEA09E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Container Process</a:t>
            </a:r>
          </a:p>
        </p:txBody>
      </p:sp>
      <p:pic>
        <p:nvPicPr>
          <p:cNvPr id="4100" name="Picture 4" descr="Export Logistics and its Process explained with a Flowchart">
            <a:extLst>
              <a:ext uri="{FF2B5EF4-FFF2-40B4-BE49-F238E27FC236}">
                <a16:creationId xmlns:a16="http://schemas.microsoft.com/office/drawing/2014/main" id="{2BF1FF44-C465-692C-D227-9BB3B809B2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8525" y="1600200"/>
            <a:ext cx="6096000" cy="457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25774-0E72-35EB-D2D3-88F5175CB4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E0A29-0902-4C7D-2199-43286B37950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Wait, wrong container</a:t>
            </a:r>
          </a:p>
        </p:txBody>
      </p:sp>
    </p:spTree>
    <p:extLst>
      <p:ext uri="{BB962C8B-B14F-4D97-AF65-F5344CB8AC3E}">
        <p14:creationId xmlns:p14="http://schemas.microsoft.com/office/powerpoint/2010/main" val="1202043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1AA09-1497-DD64-F0B9-27B1FF757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Full Container Process</a:t>
            </a:r>
          </a:p>
        </p:txBody>
      </p:sp>
      <p:pic>
        <p:nvPicPr>
          <p:cNvPr id="9" name="Picture 6" descr="30 分钟快速入门 Docker 教程 - 知乎">
            <a:extLst>
              <a:ext uri="{FF2B5EF4-FFF2-40B4-BE49-F238E27FC236}">
                <a16:creationId xmlns:a16="http://schemas.microsoft.com/office/drawing/2014/main" id="{CD5AD3A8-3C36-05F9-7F9A-6DED9D0736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25161" y="1027906"/>
            <a:ext cx="8141677" cy="565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85CE7-CA90-A454-4F2A-DAA04C7E00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18039B46-FA54-4B70-AC0D-4BB93E2046DD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38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2355F-BA79-E7A7-C574-ED0438A27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414F71-B4A1-1321-758B-F6AD8D04C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More About Images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2D30E0E-89EF-EBF6-F83A-17E05D2B6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45715-6B06-B3FD-58F7-4168514A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F6280-9D71-AAA6-E918-44D5860A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22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27132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A8118-6C0D-36CC-2059-063C893D7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Multi-architecture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F5176-4F0F-AF1B-F6F5-1AA3B0F33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 tags may include a manifest</a:t>
            </a:r>
          </a:p>
          <a:p>
            <a:r>
              <a:rPr lang="en-US" dirty="0"/>
              <a:t>Manifest lists which platforms are supported</a:t>
            </a:r>
          </a:p>
          <a:p>
            <a:r>
              <a:rPr lang="en-US" dirty="0"/>
              <a:t>Docker automatically determines the correct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F7281-D078-CA6F-902C-DC61C851BD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27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E6E5-7E47-57A1-0835-B8205B2F2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2D0D8-332E-7138-DBF1-849651E76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images are composed of files…</a:t>
            </a:r>
          </a:p>
          <a:p>
            <a:pPr lvl="1"/>
            <a:r>
              <a:rPr lang="en-US" dirty="0"/>
              <a:t>We can scan the </a:t>
            </a:r>
            <a:r>
              <a:rPr lang="en-US"/>
              <a:t>files statically (more about this later)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BB9CC-A294-D393-E7C7-ED053DB199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9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Docker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F3CF5F-ED14-DBAD-27D8-652C74F37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60068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92EEC7-97E8-3C84-E478-FE95C140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vs Image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B1E5C2-D011-16F5-56BC-7DB2635A7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Containers run from immutable images</a:t>
            </a:r>
          </a:p>
          <a:p>
            <a:r>
              <a:rPr lang="en-US" dirty="0"/>
              <a:t>So how are we writing a file???</a:t>
            </a:r>
          </a:p>
          <a:p>
            <a:r>
              <a:rPr lang="en-US" dirty="0"/>
              <a:t>Each container gets a R/W layer that is shimmed on top of the images</a:t>
            </a:r>
          </a:p>
          <a:p>
            <a:pPr lvl="1"/>
            <a:r>
              <a:rPr lang="en-US" dirty="0"/>
              <a:t>R/W layer </a:t>
            </a:r>
            <a:r>
              <a:rPr lang="en-US" i="1" dirty="0"/>
              <a:t>saved</a:t>
            </a:r>
            <a:r>
              <a:rPr lang="en-US" dirty="0"/>
              <a:t> when container is </a:t>
            </a:r>
            <a:r>
              <a:rPr lang="en-US" i="1" dirty="0"/>
              <a:t>stopped</a:t>
            </a:r>
            <a:endParaRPr lang="en-US" dirty="0"/>
          </a:p>
          <a:p>
            <a:pPr lvl="1"/>
            <a:r>
              <a:rPr lang="en-US" i="1" dirty="0"/>
              <a:t>Deleted</a:t>
            </a:r>
            <a:r>
              <a:rPr lang="en-US" dirty="0"/>
              <a:t> when container is </a:t>
            </a:r>
            <a:r>
              <a:rPr lang="en-US" i="1" dirty="0"/>
              <a:t>removed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5069B-1B32-5AE3-1060-426423F73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1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A893-9DAA-3F4C-FC1F-A7A7E4E19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57029-C41A-124A-EF02-DC1E9073C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Designed to be short-lived and ephemeral</a:t>
            </a:r>
          </a:p>
          <a:p>
            <a:pPr lvl="1"/>
            <a:r>
              <a:rPr lang="en-US" dirty="0"/>
              <a:t>Stop once their “entry point” finishes</a:t>
            </a:r>
          </a:p>
          <a:p>
            <a:pPr lvl="1"/>
            <a:r>
              <a:rPr lang="en-US" dirty="0"/>
              <a:t>Spin them up / tear them down as needed</a:t>
            </a:r>
          </a:p>
          <a:p>
            <a:r>
              <a:rPr lang="en-US" dirty="0"/>
              <a:t>Run command always starts a </a:t>
            </a:r>
            <a:r>
              <a:rPr lang="en-US" i="1" dirty="0"/>
              <a:t>new </a:t>
            </a:r>
            <a:r>
              <a:rPr lang="en-US" dirty="0"/>
              <a:t>container</a:t>
            </a:r>
          </a:p>
          <a:p>
            <a:r>
              <a:rPr lang="en-US" dirty="0"/>
              <a:t>Start/stop work with </a:t>
            </a:r>
            <a:r>
              <a:rPr lang="en-US" i="1" dirty="0"/>
              <a:t>existing </a:t>
            </a:r>
            <a:r>
              <a:rPr lang="en-US" dirty="0"/>
              <a:t>containers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F4EC2-D255-3B53-CBD9-8D8F4D817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58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1A64B-9ABC-3000-628A-06CF1265C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1C52B-5033-8B7F-BFF2-508D10EF1F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docker container run -it alpine</a:t>
            </a:r>
          </a:p>
          <a:p>
            <a:r>
              <a:rPr lang="en-US" dirty="0"/>
              <a:t>echo hello &gt; test.txt</a:t>
            </a:r>
          </a:p>
          <a:p>
            <a:r>
              <a:rPr lang="en-US" dirty="0"/>
              <a:t>cat test.txt</a:t>
            </a:r>
          </a:p>
          <a:p>
            <a:r>
              <a:rPr lang="en-US" dirty="0"/>
              <a:t>Use docker desktop to inspect filesystem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FAC41-9DED-93AD-F4A4-74C63758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139EB-8E23-4F7B-F020-13312A40C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566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2EA3DB-FEE0-084F-E004-49822CEBE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cheat sheet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D4CF2-3ED5-B401-BBAC-FA85B485C4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7DE72-CD17-26B1-4512-C7D7FC4E5BB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48640" y="1600198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https://docs.docker.com/get-started/docker_cheatsheet.pdf</a:t>
            </a:r>
          </a:p>
        </p:txBody>
      </p:sp>
    </p:spTree>
    <p:extLst>
      <p:ext uri="{BB962C8B-B14F-4D97-AF65-F5344CB8AC3E}">
        <p14:creationId xmlns:p14="http://schemas.microsoft.com/office/powerpoint/2010/main" val="1694393340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AI2C Slide Template</Template>
  <TotalTime>248</TotalTime>
  <Words>659</Words>
  <Application>Microsoft Office PowerPoint</Application>
  <PresentationFormat>Widescreen</PresentationFormat>
  <Paragraphs>128</Paragraphs>
  <Slides>29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Arial</vt:lpstr>
      <vt:lpstr>Arial Bold</vt:lpstr>
      <vt:lpstr>US Army 2023 AFC DEVCOM Logo</vt:lpstr>
      <vt:lpstr>Containers and images</vt:lpstr>
      <vt:lpstr>Lesson Objectives</vt:lpstr>
      <vt:lpstr>Containers</vt:lpstr>
      <vt:lpstr>Spot the Difference</vt:lpstr>
      <vt:lpstr>VM Overhead</vt:lpstr>
      <vt:lpstr>Containers</vt:lpstr>
      <vt:lpstr>Isolation Mechanisms</vt:lpstr>
      <vt:lpstr>More On Namespaces</vt:lpstr>
      <vt:lpstr>More On Namespaces</vt:lpstr>
      <vt:lpstr>But wait…</vt:lpstr>
      <vt:lpstr>Other Container Considerations</vt:lpstr>
      <vt:lpstr>Container Support</vt:lpstr>
      <vt:lpstr>Container Engines</vt:lpstr>
      <vt:lpstr>Examples</vt:lpstr>
      <vt:lpstr>Container Image</vt:lpstr>
      <vt:lpstr>Onions…</vt:lpstr>
      <vt:lpstr>An Example</vt:lpstr>
      <vt:lpstr>Repository &amp; Namespaces</vt:lpstr>
      <vt:lpstr>Registry</vt:lpstr>
      <vt:lpstr>Full Container Process</vt:lpstr>
      <vt:lpstr>Full Container Process</vt:lpstr>
      <vt:lpstr>More About Images</vt:lpstr>
      <vt:lpstr>Multi-architecture support</vt:lpstr>
      <vt:lpstr>Image Security</vt:lpstr>
      <vt:lpstr>Docker</vt:lpstr>
      <vt:lpstr>Container vs Image</vt:lpstr>
      <vt:lpstr>Container Principles</vt:lpstr>
      <vt:lpstr>Demo</vt:lpstr>
      <vt:lpstr>Docker cheat 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C W</cp:lastModifiedBy>
  <cp:revision>140</cp:revision>
  <dcterms:created xsi:type="dcterms:W3CDTF">2025-09-17T14:29:17Z</dcterms:created>
  <dcterms:modified xsi:type="dcterms:W3CDTF">2026-01-07T14:47:12Z</dcterms:modified>
</cp:coreProperties>
</file>