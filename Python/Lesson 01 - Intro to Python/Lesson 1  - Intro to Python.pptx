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3" r:id="rId1"/>
    <p:sldMasterId id="2147483707" r:id="rId2"/>
  </p:sldMasterIdLst>
  <p:notesMasterIdLst>
    <p:notesMasterId r:id="rId47"/>
  </p:notesMasterIdLst>
  <p:sldIdLst>
    <p:sldId id="299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BDE71D-A5DA-4731-8206-4FC7E790C503}">
  <a:tblStyle styleId="{20BDE71D-A5DA-4731-8206-4FC7E790C503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A323327-17F7-4230-B99A-3A7D3BBB913F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10"/>
  </p:normalViewPr>
  <p:slideViewPr>
    <p:cSldViewPr snapToGrid="0">
      <p:cViewPr varScale="1">
        <p:scale>
          <a:sx n="181" d="100"/>
          <a:sy n="181" d="100"/>
        </p:scale>
        <p:origin x="768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64a009736c_2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64a009736c_2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64a009736c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364a009736c_2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64a009736c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g364a009736c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64a009736c_2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64a009736c_2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64a009736c_2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64a009736c_2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64a009736c_2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64a009736c_2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64a009736c_2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64a009736c_2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64a009736c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364a009736c_2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64a009736c_2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g364a009736c_2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64a009736c_2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g364a009736c_2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64a009736c_2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64a009736c_2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64a009736c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g364a009736c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64a009736c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64a009736c_2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4a009736c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64a009736c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Take 3-5 minutes to let people download Python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64a009736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64a009736c_2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64a009736c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g364a009736c_2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Give 3-5 minutes for download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64a009736c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8" name="Google Shape;228;g364a009736c_2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64a009736c_2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64a009736c_2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4a009736c_2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64a009736c_2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64a009736c_2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g364a009736c_2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64a009736c_2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64a009736c_2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64a009736c_2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g364a009736c_2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64a009736c_2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4a009736c_2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64a009736c_2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g364a009736c_2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64a009736c_2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g364a009736c_2_2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64a009736c_2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8" name="Google Shape;288;g364a009736c_2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64a009736c_2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64a009736c_2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64a009736c_2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" name="Google Shape;302;g364a009736c_2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64a009736c_2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364a009736c_2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“18”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Age2 = “19”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Sum_of_ages = age1 + age2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Print(sum_of_ages) --🡪 1819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Let’s say I want to use how old you will be in 4 years.  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Num = int(age1) + int(age2)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Print(num) --🡪 37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Print(type(num1))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Age1 = int(age1)  &lt;&lt;&lt; now age1 is an integer because we overwrote it.</a:t>
            </a:r>
            <a:endParaRPr/>
          </a:p>
        </p:txBody>
      </p:sp>
      <p:sp>
        <p:nvSpPr>
          <p:cNvPr id="310" name="Google Shape;310;g364a009736c_2_2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a009736c_2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g364a009736c_2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7" name="Google Shape;317;g364a009736c_2_2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64a009736c_2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364a009736c_2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64a009736c_2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g364a009736c_2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64a009736c_2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g364a009736c_2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64a009736c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g364a009736c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64a009736c_2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64a009736c_2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64a009736c_2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g364a009736c_2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64a009736c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g364a009736c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PEMDAS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Please Excuse My Dear Aunt Sally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Parentheses, Exponent, Multiply/Divide, Add/Subtract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9" name="Google Shape;369;g364a009736c_2_2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64a009736c_2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64a009736c_2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6" name="Google Shape;376;g364a009736c_2_2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64a009736c_2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g364a009736c_2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64a009736c_2_29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64a009736c_2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g364a009736c_2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PEMDAS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Please Excuse My Dear Aunt Sally</a:t>
            </a:r>
            <a:endParaRPr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Parentheses, Exponent, Multiply/Divide, Add/Subtract</a:t>
            </a:r>
            <a:endParaRPr/>
          </a:p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9" name="Google Shape;389;g364a009736c_2_29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64a009736c_2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g364a009736c_2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64a009736c_2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364a009736c_2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64a009736c_2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364a009736c_2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492842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112161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333424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0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486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15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94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9152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82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5028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090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99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8616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1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4730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298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21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1988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984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60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424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021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1612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26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0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482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331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83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332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8810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44069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91313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pic>
        <p:nvPicPr>
          <p:cNvPr id="6" name="U.S. Army" descr="U.S. Army">
            <a:extLst>
              <a:ext uri="{FF2B5EF4-FFF2-40B4-BE49-F238E27FC236}">
                <a16:creationId xmlns:a16="http://schemas.microsoft.com/office/drawing/2014/main" id="{797F4074-6017-76DF-5EFE-ACEA91BC7E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1B34BB-4D48-D18E-0E40-8C03A6CFBBE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9" name="Group">
            <a:extLst>
              <a:ext uri="{FF2B5EF4-FFF2-40B4-BE49-F238E27FC236}">
                <a16:creationId xmlns:a16="http://schemas.microsoft.com/office/drawing/2014/main" id="{945CF48B-8293-ECFF-2A70-1F3F519729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0" name="Rectangle">
              <a:extLst>
                <a:ext uri="{FF2B5EF4-FFF2-40B4-BE49-F238E27FC236}">
                  <a16:creationId xmlns:a16="http://schemas.microsoft.com/office/drawing/2014/main" id="{ECF0E354-43C2-D939-65E0-02587C6D19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1" name="Line">
              <a:extLst>
                <a:ext uri="{FF2B5EF4-FFF2-40B4-BE49-F238E27FC236}">
                  <a16:creationId xmlns:a16="http://schemas.microsoft.com/office/drawing/2014/main" id="{28A7437B-F3DA-B4D1-068D-752857CC2E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2" name="Line">
              <a:extLst>
                <a:ext uri="{FF2B5EF4-FFF2-40B4-BE49-F238E27FC236}">
                  <a16:creationId xmlns:a16="http://schemas.microsoft.com/office/drawing/2014/main" id="{92A40C45-077C-8097-9166-9D681557B0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12472B2-E789-E1CC-3DFB-6AE1AAD54B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408AE0-9F5B-78E9-32AE-F94DE3DF05A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1717833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FF5442FE-AFE2-C4D1-9C10-2D52850799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grpSp>
        <p:nvGrpSpPr>
          <p:cNvPr id="3" name="Group">
            <a:extLst>
              <a:ext uri="{FF2B5EF4-FFF2-40B4-BE49-F238E27FC236}">
                <a16:creationId xmlns:a16="http://schemas.microsoft.com/office/drawing/2014/main" id="{7E3259FF-F5A8-E395-AB03-0F656BD77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CD45B076-7727-A6E3-C1F7-46DB6E75F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6" name="Line">
              <a:extLst>
                <a:ext uri="{FF2B5EF4-FFF2-40B4-BE49-F238E27FC236}">
                  <a16:creationId xmlns:a16="http://schemas.microsoft.com/office/drawing/2014/main" id="{1BFE5E39-7FCD-4976-A790-90AAD21382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0" name="Line">
              <a:extLst>
                <a:ext uri="{FF2B5EF4-FFF2-40B4-BE49-F238E27FC236}">
                  <a16:creationId xmlns:a16="http://schemas.microsoft.com/office/drawing/2014/main" id="{88D0D326-66A1-6929-EF90-639B7F6EC8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20979173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pic>
        <p:nvPicPr>
          <p:cNvPr id="4" name="U.S. Army" descr="U.S. Army">
            <a:extLst>
              <a:ext uri="{FF2B5EF4-FFF2-40B4-BE49-F238E27FC236}">
                <a16:creationId xmlns:a16="http://schemas.microsoft.com/office/drawing/2014/main" id="{379955C9-0213-EFFB-4504-38A172099D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grpSp>
        <p:nvGrpSpPr>
          <p:cNvPr id="6" name="Group">
            <a:extLst>
              <a:ext uri="{FF2B5EF4-FFF2-40B4-BE49-F238E27FC236}">
                <a16:creationId xmlns:a16="http://schemas.microsoft.com/office/drawing/2014/main" id="{159A8226-FCF5-6870-2B55-7D2671FD47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7" name="Rectangle">
              <a:extLst>
                <a:ext uri="{FF2B5EF4-FFF2-40B4-BE49-F238E27FC236}">
                  <a16:creationId xmlns:a16="http://schemas.microsoft.com/office/drawing/2014/main" id="{8EEA7B11-C79E-704E-4D0D-1E0B364D71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0" name="Line">
              <a:extLst>
                <a:ext uri="{FF2B5EF4-FFF2-40B4-BE49-F238E27FC236}">
                  <a16:creationId xmlns:a16="http://schemas.microsoft.com/office/drawing/2014/main" id="{6C2E14AA-1F65-8B4F-B563-FE83E0C81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3" name="Line">
              <a:extLst>
                <a:ext uri="{FF2B5EF4-FFF2-40B4-BE49-F238E27FC236}">
                  <a16:creationId xmlns:a16="http://schemas.microsoft.com/office/drawing/2014/main" id="{217C64DE-4C08-B1A7-A2D3-8FE108B5D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B3C1B15-E7FA-3A0D-19DB-09EAAB3E8C7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31" name="Rectangle 15">
            <a:extLst>
              <a:ext uri="{FF2B5EF4-FFF2-40B4-BE49-F238E27FC236}">
                <a16:creationId xmlns:a16="http://schemas.microsoft.com/office/drawing/2014/main" id="{630F4B9D-47B2-0F87-B624-C46B47B2567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CF2A2E-4153-21EA-AD65-B1368311780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828829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611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66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29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817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88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cxnSp>
        <p:nvCxnSpPr>
          <p:cNvPr id="18" name="Line">
            <a:extLst>
              <a:ext uri="{FF2B5EF4-FFF2-40B4-BE49-F238E27FC236}">
                <a16:creationId xmlns:a16="http://schemas.microsoft.com/office/drawing/2014/main" id="{CCEEF8AC-C058-4548-79C3-7662A05DF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9" name="TextBox">
            <a:extLst>
              <a:ext uri="{FF2B5EF4-FFF2-40B4-BE49-F238E27FC236}">
                <a16:creationId xmlns:a16="http://schemas.microsoft.com/office/drawing/2014/main" id="{DD8B93E5-3B00-FFDA-D8A0-429C72011059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cxnSp>
        <p:nvCxnSpPr>
          <p:cNvPr id="20" name="Line">
            <a:extLst>
              <a:ext uri="{FF2B5EF4-FFF2-40B4-BE49-F238E27FC236}">
                <a16:creationId xmlns:a16="http://schemas.microsoft.com/office/drawing/2014/main" id="{343DB887-3DE4-99C8-C485-6368B1125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3" name="TextBox">
            <a:extLst>
              <a:ext uri="{FF2B5EF4-FFF2-40B4-BE49-F238E27FC236}">
                <a16:creationId xmlns:a16="http://schemas.microsoft.com/office/drawing/2014/main" id="{B7012F89-EC0B-5F58-B7C0-186314BA97BB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cxnSp>
        <p:nvCxnSpPr>
          <p:cNvPr id="24" name="Line">
            <a:extLst>
              <a:ext uri="{FF2B5EF4-FFF2-40B4-BE49-F238E27FC236}">
                <a16:creationId xmlns:a16="http://schemas.microsoft.com/office/drawing/2014/main" id="{98B64EF8-B350-73F5-3F29-6DE5E0246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5" name="TextBox">
            <a:extLst>
              <a:ext uri="{FF2B5EF4-FFF2-40B4-BE49-F238E27FC236}">
                <a16:creationId xmlns:a16="http://schemas.microsoft.com/office/drawing/2014/main" id="{FE56F30D-D6EE-F75B-FCA8-FA386CA6628D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cxnSp>
        <p:nvCxnSpPr>
          <p:cNvPr id="26" name="Line">
            <a:extLst>
              <a:ext uri="{FF2B5EF4-FFF2-40B4-BE49-F238E27FC236}">
                <a16:creationId xmlns:a16="http://schemas.microsoft.com/office/drawing/2014/main" id="{137AB17F-E4CE-CDF0-D234-4EBAC7D41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7" name="TextBox">
            <a:extLst>
              <a:ext uri="{FF2B5EF4-FFF2-40B4-BE49-F238E27FC236}">
                <a16:creationId xmlns:a16="http://schemas.microsoft.com/office/drawing/2014/main" id="{DF2C9C4D-584B-699C-8280-829D1E151F18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28" name="Rectangle 15">
            <a:extLst>
              <a:ext uri="{FF2B5EF4-FFF2-40B4-BE49-F238E27FC236}">
                <a16:creationId xmlns:a16="http://schemas.microsoft.com/office/drawing/2014/main" id="{D441947D-05B9-EC9B-553C-3FAB0EE636F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3E4A10-BF8B-7505-B1DA-FC2135B9BD3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D34F98C-9CD9-F82F-E290-4C7F9888CE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74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" name="Line">
            <a:extLst>
              <a:ext uri="{FF2B5EF4-FFF2-40B4-BE49-F238E27FC236}">
                <a16:creationId xmlns:a16="http://schemas.microsoft.com/office/drawing/2014/main" id="{32E9E2F2-3B0F-B0B7-D398-5D2B2C66E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8" name="TextBox">
            <a:extLst>
              <a:ext uri="{FF2B5EF4-FFF2-40B4-BE49-F238E27FC236}">
                <a16:creationId xmlns:a16="http://schemas.microsoft.com/office/drawing/2014/main" id="{F821D8AA-53A2-BBCC-98F6-330ADCD4146A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87E3044C-7A6C-7A09-B248-860CEA546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05D56BC3-214D-3168-EB4C-45C6091BABBD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0107D31C-758B-308D-BCF0-5091DB565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E0ABD9AC-7AEE-771A-6476-F64369D9D177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94043BEF-D107-45FE-8FFD-75D0CBB69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CDFFDBDE-D8B4-A550-AAD1-7E871EEC63DF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57253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cxnSp>
        <p:nvCxnSpPr>
          <p:cNvPr id="30" name="Line">
            <a:extLst>
              <a:ext uri="{FF2B5EF4-FFF2-40B4-BE49-F238E27FC236}">
                <a16:creationId xmlns:a16="http://schemas.microsoft.com/office/drawing/2014/main" id="{D8B49EB2-D300-4E5E-4777-8B377FF47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1" name="TextBox">
            <a:extLst>
              <a:ext uri="{FF2B5EF4-FFF2-40B4-BE49-F238E27FC236}">
                <a16:creationId xmlns:a16="http://schemas.microsoft.com/office/drawing/2014/main" id="{B99C5C6F-6BC9-1CE7-1FE1-8D3E20434BF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cxnSp>
        <p:nvCxnSpPr>
          <p:cNvPr id="32" name="Line">
            <a:extLst>
              <a:ext uri="{FF2B5EF4-FFF2-40B4-BE49-F238E27FC236}">
                <a16:creationId xmlns:a16="http://schemas.microsoft.com/office/drawing/2014/main" id="{60A3ED9B-6AAD-CCEE-9554-F186F40E1D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3" name="TextBox">
            <a:extLst>
              <a:ext uri="{FF2B5EF4-FFF2-40B4-BE49-F238E27FC236}">
                <a16:creationId xmlns:a16="http://schemas.microsoft.com/office/drawing/2014/main" id="{DDA10D90-F901-1115-4B7B-3842929F0857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cxnSp>
        <p:nvCxnSpPr>
          <p:cNvPr id="34" name="Line">
            <a:extLst>
              <a:ext uri="{FF2B5EF4-FFF2-40B4-BE49-F238E27FC236}">
                <a16:creationId xmlns:a16="http://schemas.microsoft.com/office/drawing/2014/main" id="{688B7572-3F7F-567E-CC87-44A4E971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5" name="TextBox">
            <a:extLst>
              <a:ext uri="{FF2B5EF4-FFF2-40B4-BE49-F238E27FC236}">
                <a16:creationId xmlns:a16="http://schemas.microsoft.com/office/drawing/2014/main" id="{D427315E-4372-2751-0C59-B8586D891163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cxnSp>
        <p:nvCxnSpPr>
          <p:cNvPr id="38" name="Line">
            <a:extLst>
              <a:ext uri="{FF2B5EF4-FFF2-40B4-BE49-F238E27FC236}">
                <a16:creationId xmlns:a16="http://schemas.microsoft.com/office/drawing/2014/main" id="{B9DE7553-76D4-8361-A757-5C588D8C8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9" name="TextBox">
            <a:extLst>
              <a:ext uri="{FF2B5EF4-FFF2-40B4-BE49-F238E27FC236}">
                <a16:creationId xmlns:a16="http://schemas.microsoft.com/office/drawing/2014/main" id="{20CA44D1-B76A-F9E4-F3B7-E9F3DE54DD20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cxnSp>
        <p:nvCxnSpPr>
          <p:cNvPr id="40" name="Line">
            <a:extLst>
              <a:ext uri="{FF2B5EF4-FFF2-40B4-BE49-F238E27FC236}">
                <a16:creationId xmlns:a16="http://schemas.microsoft.com/office/drawing/2014/main" id="{6BA9C32C-3D85-DF72-E5BB-61A2A4EF6D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1" name="TextBox">
            <a:extLst>
              <a:ext uri="{FF2B5EF4-FFF2-40B4-BE49-F238E27FC236}">
                <a16:creationId xmlns:a16="http://schemas.microsoft.com/office/drawing/2014/main" id="{1E74D5AA-5DBE-33EC-49A8-4C431884F0C6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cxnSp>
        <p:nvCxnSpPr>
          <p:cNvPr id="42" name="Line">
            <a:extLst>
              <a:ext uri="{FF2B5EF4-FFF2-40B4-BE49-F238E27FC236}">
                <a16:creationId xmlns:a16="http://schemas.microsoft.com/office/drawing/2014/main" id="{CB716998-88E8-9851-4581-E86984B16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3" name="TextBox">
            <a:extLst>
              <a:ext uri="{FF2B5EF4-FFF2-40B4-BE49-F238E27FC236}">
                <a16:creationId xmlns:a16="http://schemas.microsoft.com/office/drawing/2014/main" id="{88FDEA1C-4935-042D-0CE2-803014C22426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cxnSp>
        <p:nvCxnSpPr>
          <p:cNvPr id="44" name="Line">
            <a:extLst>
              <a:ext uri="{FF2B5EF4-FFF2-40B4-BE49-F238E27FC236}">
                <a16:creationId xmlns:a16="http://schemas.microsoft.com/office/drawing/2014/main" id="{D02ACE1E-3808-E5AD-EE12-3A5CF8CEF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5" name="TextBox">
            <a:extLst>
              <a:ext uri="{FF2B5EF4-FFF2-40B4-BE49-F238E27FC236}">
                <a16:creationId xmlns:a16="http://schemas.microsoft.com/office/drawing/2014/main" id="{7C847B03-4819-9740-6558-8AAA2073F7C2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cxnSp>
        <p:nvCxnSpPr>
          <p:cNvPr id="46" name="Line">
            <a:extLst>
              <a:ext uri="{FF2B5EF4-FFF2-40B4-BE49-F238E27FC236}">
                <a16:creationId xmlns:a16="http://schemas.microsoft.com/office/drawing/2014/main" id="{3666EE20-6768-64BB-C42E-3BD642598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7" name="TextBox">
            <a:extLst>
              <a:ext uri="{FF2B5EF4-FFF2-40B4-BE49-F238E27FC236}">
                <a16:creationId xmlns:a16="http://schemas.microsoft.com/office/drawing/2014/main" id="{A9AE9DA6-6F6E-A8E6-591A-857219CCD516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48" name="Rectangle 15">
            <a:extLst>
              <a:ext uri="{FF2B5EF4-FFF2-40B4-BE49-F238E27FC236}">
                <a16:creationId xmlns:a16="http://schemas.microsoft.com/office/drawing/2014/main" id="{E9397A91-FB84-F8C4-5FE6-F9D693647D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C5A3E14-DE77-6E7E-C2A3-F813DFBD6C9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7228F77-8CF3-66A2-63D9-E81303049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632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" name="Line">
            <a:extLst>
              <a:ext uri="{FF2B5EF4-FFF2-40B4-BE49-F238E27FC236}">
                <a16:creationId xmlns:a16="http://schemas.microsoft.com/office/drawing/2014/main" id="{7F2E8FA8-8C65-FDA2-9CCA-F38704450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0" name="TextBox">
            <a:extLst>
              <a:ext uri="{FF2B5EF4-FFF2-40B4-BE49-F238E27FC236}">
                <a16:creationId xmlns:a16="http://schemas.microsoft.com/office/drawing/2014/main" id="{14F452D8-79AC-68B2-702D-A408A66FBD98}"/>
              </a:ext>
            </a:extLst>
          </p:cNvPr>
          <p:cNvSpPr txBox="1"/>
          <p:nvPr userDrawn="1"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cxnSp>
        <p:nvCxnSpPr>
          <p:cNvPr id="31" name="Line">
            <a:extLst>
              <a:ext uri="{FF2B5EF4-FFF2-40B4-BE49-F238E27FC236}">
                <a16:creationId xmlns:a16="http://schemas.microsoft.com/office/drawing/2014/main" id="{DB2B501D-6700-9C8F-2BD6-8DE54E6FE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2" name="TextBox">
            <a:extLst>
              <a:ext uri="{FF2B5EF4-FFF2-40B4-BE49-F238E27FC236}">
                <a16:creationId xmlns:a16="http://schemas.microsoft.com/office/drawing/2014/main" id="{92CC379D-50E4-F46E-3581-89537B7692EF}"/>
              </a:ext>
            </a:extLst>
          </p:cNvPr>
          <p:cNvSpPr txBox="1"/>
          <p:nvPr userDrawn="1"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cxnSp>
        <p:nvCxnSpPr>
          <p:cNvPr id="33" name="Line">
            <a:extLst>
              <a:ext uri="{FF2B5EF4-FFF2-40B4-BE49-F238E27FC236}">
                <a16:creationId xmlns:a16="http://schemas.microsoft.com/office/drawing/2014/main" id="{5CE6A37B-DD2B-6EF9-F04F-A1584332A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4" name="TextBox">
            <a:extLst>
              <a:ext uri="{FF2B5EF4-FFF2-40B4-BE49-F238E27FC236}">
                <a16:creationId xmlns:a16="http://schemas.microsoft.com/office/drawing/2014/main" id="{1071BDEA-C3CC-E5CA-4832-21B0447AF983}"/>
              </a:ext>
            </a:extLst>
          </p:cNvPr>
          <p:cNvSpPr txBox="1"/>
          <p:nvPr userDrawn="1"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cxnSp>
        <p:nvCxnSpPr>
          <p:cNvPr id="35" name="Line">
            <a:extLst>
              <a:ext uri="{FF2B5EF4-FFF2-40B4-BE49-F238E27FC236}">
                <a16:creationId xmlns:a16="http://schemas.microsoft.com/office/drawing/2014/main" id="{22A988A0-7AD6-73CF-E061-F92860CE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6" name="TextBox">
            <a:extLst>
              <a:ext uri="{FF2B5EF4-FFF2-40B4-BE49-F238E27FC236}">
                <a16:creationId xmlns:a16="http://schemas.microsoft.com/office/drawing/2014/main" id="{93B6E8CF-A3DC-04D2-9786-D3684D314AB7}"/>
              </a:ext>
            </a:extLst>
          </p:cNvPr>
          <p:cNvSpPr txBox="1"/>
          <p:nvPr userDrawn="1"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cxnSp>
        <p:nvCxnSpPr>
          <p:cNvPr id="37" name="Line">
            <a:extLst>
              <a:ext uri="{FF2B5EF4-FFF2-40B4-BE49-F238E27FC236}">
                <a16:creationId xmlns:a16="http://schemas.microsoft.com/office/drawing/2014/main" id="{E28A8501-3FF5-AECD-69C9-55EE4486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38" name="TextBox">
            <a:extLst>
              <a:ext uri="{FF2B5EF4-FFF2-40B4-BE49-F238E27FC236}">
                <a16:creationId xmlns:a16="http://schemas.microsoft.com/office/drawing/2014/main" id="{32B39A7D-12E4-9414-740A-036C909BB483}"/>
              </a:ext>
            </a:extLst>
          </p:cNvPr>
          <p:cNvSpPr txBox="1"/>
          <p:nvPr userDrawn="1"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cxnSp>
        <p:nvCxnSpPr>
          <p:cNvPr id="39" name="Line">
            <a:extLst>
              <a:ext uri="{FF2B5EF4-FFF2-40B4-BE49-F238E27FC236}">
                <a16:creationId xmlns:a16="http://schemas.microsoft.com/office/drawing/2014/main" id="{73709225-D240-A2D8-2CDA-53607A04E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0" name="TextBox">
            <a:extLst>
              <a:ext uri="{FF2B5EF4-FFF2-40B4-BE49-F238E27FC236}">
                <a16:creationId xmlns:a16="http://schemas.microsoft.com/office/drawing/2014/main" id="{A626C462-52ED-067E-CA80-AFE2D0CB2714}"/>
              </a:ext>
            </a:extLst>
          </p:cNvPr>
          <p:cNvSpPr txBox="1"/>
          <p:nvPr userDrawn="1"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cxnSp>
        <p:nvCxnSpPr>
          <p:cNvPr id="41" name="Line">
            <a:extLst>
              <a:ext uri="{FF2B5EF4-FFF2-40B4-BE49-F238E27FC236}">
                <a16:creationId xmlns:a16="http://schemas.microsoft.com/office/drawing/2014/main" id="{665BEE28-2A1B-7F30-A084-98EC7B962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2" name="TextBox">
            <a:extLst>
              <a:ext uri="{FF2B5EF4-FFF2-40B4-BE49-F238E27FC236}">
                <a16:creationId xmlns:a16="http://schemas.microsoft.com/office/drawing/2014/main" id="{8D99D818-C118-6303-388F-8EA40EE7A10C}"/>
              </a:ext>
            </a:extLst>
          </p:cNvPr>
          <p:cNvSpPr txBox="1"/>
          <p:nvPr userDrawn="1"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cxnSp>
        <p:nvCxnSpPr>
          <p:cNvPr id="43" name="Line">
            <a:extLst>
              <a:ext uri="{FF2B5EF4-FFF2-40B4-BE49-F238E27FC236}">
                <a16:creationId xmlns:a16="http://schemas.microsoft.com/office/drawing/2014/main" id="{9A93512C-9AE5-DAD2-2103-D3914FA15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44" name="TextBox">
            <a:extLst>
              <a:ext uri="{FF2B5EF4-FFF2-40B4-BE49-F238E27FC236}">
                <a16:creationId xmlns:a16="http://schemas.microsoft.com/office/drawing/2014/main" id="{A1F9C7B2-12E4-8595-5325-EDDEEADB11DB}"/>
              </a:ext>
            </a:extLst>
          </p:cNvPr>
          <p:cNvSpPr txBox="1"/>
          <p:nvPr userDrawn="1"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325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3E9509-6650-231A-50F7-3D94CFA3A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72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152631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747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24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31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7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Clr>
                <a:schemeClr val="tx2"/>
              </a:buClr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 dirty="0"/>
              <a:t>[Optional section subtitle]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4" name="Rectangle 15">
            <a:extLst>
              <a:ext uri="{FF2B5EF4-FFF2-40B4-BE49-F238E27FC236}">
                <a16:creationId xmlns:a16="http://schemas.microsoft.com/office/drawing/2014/main" id="{8E57C57A-74B7-59E3-2772-1170D372A8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6E52-8071-DF4A-AF8A-993A3659484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1DE99F-5AC8-1F36-CBFC-A5709F933A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479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49F5D1-7AEF-3BC7-ED61-1F563B8EF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23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8885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465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6" name="Rectangle 15">
            <a:extLst>
              <a:ext uri="{FF2B5EF4-FFF2-40B4-BE49-F238E27FC236}">
                <a16:creationId xmlns:a16="http://schemas.microsoft.com/office/drawing/2014/main" id="{CACCBBF8-4E07-DD64-2D8F-E511489E06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34A234-CAB3-173C-E739-7664363478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806E0-92A0-82EC-2C37-13A8BE8EA0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436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4770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087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6" name="Rectangle 15">
            <a:extLst>
              <a:ext uri="{FF2B5EF4-FFF2-40B4-BE49-F238E27FC236}">
                <a16:creationId xmlns:a16="http://schemas.microsoft.com/office/drawing/2014/main" id="{5B17A339-B294-6BD6-A632-8B41C157E8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CC2C9E-B162-0AAA-BD40-3E957004E0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4A0B4A-4001-209F-E2D1-DE3158969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9260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53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5" name="Rectangle 15">
            <a:extLst>
              <a:ext uri="{FF2B5EF4-FFF2-40B4-BE49-F238E27FC236}">
                <a16:creationId xmlns:a16="http://schemas.microsoft.com/office/drawing/2014/main" id="{E57E1F35-5C79-D08E-B492-B6DE8D41632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121523-520A-32D1-C4DE-616793E65F3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7C54FB-8057-169E-F1C6-72C9289F4D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398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3" name="TextBox">
            <a:extLst>
              <a:ext uri="{FF2B5EF4-FFF2-40B4-BE49-F238E27FC236}">
                <a16:creationId xmlns:a16="http://schemas.microsoft.com/office/drawing/2014/main" id="{B2695841-4D99-EBB5-C88F-5C4B5B9DFA51}"/>
              </a:ext>
            </a:extLst>
          </p:cNvPr>
          <p:cNvSpPr txBox="1"/>
          <p:nvPr userDrawn="1"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4902D3-75A1-B3B8-367F-BE043E4248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8619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  <p:pic>
        <p:nvPicPr>
          <p:cNvPr id="3" name="U.S. Army" descr="U.S. Army">
            <a:extLst>
              <a:ext uri="{FF2B5EF4-FFF2-40B4-BE49-F238E27FC236}">
                <a16:creationId xmlns:a16="http://schemas.microsoft.com/office/drawing/2014/main" id="{56B2D8F4-B76E-E27C-39A7-DABF8C432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5625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422638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40134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9.xml"/><Relationship Id="rId3" Type="http://schemas.openxmlformats.org/officeDocument/2006/relationships/slideLayout" Target="../slideLayouts/slideLayout36.xml"/><Relationship Id="rId21" Type="http://schemas.openxmlformats.org/officeDocument/2006/relationships/slideLayout" Target="../slideLayouts/slideLayout54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8.xml"/><Relationship Id="rId33" Type="http://schemas.openxmlformats.org/officeDocument/2006/relationships/theme" Target="../theme/theme2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3.xml"/><Relationship Id="rId29" Type="http://schemas.openxmlformats.org/officeDocument/2006/relationships/slideLayout" Target="../slideLayouts/slideLayout62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24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65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56.xml"/><Relationship Id="rId28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52.xml"/><Relationship Id="rId31" Type="http://schemas.openxmlformats.org/officeDocument/2006/relationships/slideLayout" Target="../slideLayouts/slideLayout64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55.xml"/><Relationship Id="rId27" Type="http://schemas.openxmlformats.org/officeDocument/2006/relationships/slideLayout" Target="../slideLayouts/slideLayout60.xml"/><Relationship Id="rId30" Type="http://schemas.openxmlformats.org/officeDocument/2006/relationships/slideLayout" Target="../slideLayouts/slideLayout63.xml"/><Relationship Id="rId35" Type="http://schemas.openxmlformats.org/officeDocument/2006/relationships/image" Target="../media/image2.png"/><Relationship Id="rId8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36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  <p:sldLayoutId id="2147483704" r:id="rId31"/>
    <p:sldLayoutId id="2147483705" r:id="rId32"/>
    <p:sldLayoutId id="2147483706" r:id="rId33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0C34CD-058F-1ECF-8BD9-5051AC1DAF0F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8" name="Rectangle 15">
            <a:extLst>
              <a:ext uri="{FF2B5EF4-FFF2-40B4-BE49-F238E27FC236}">
                <a16:creationId xmlns:a16="http://schemas.microsoft.com/office/drawing/2014/main" id="{F6498AF1-F11B-C58B-1CA3-DEEF0B62A35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938848-B0BA-AFD1-028F-57A92B16BF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pic>
        <p:nvPicPr>
          <p:cNvPr id="11" name="Picture 10" descr="A picture containing icon&#10;&#10;AI-generated content may be incorrect.">
            <a:extLst>
              <a:ext uri="{FF2B5EF4-FFF2-40B4-BE49-F238E27FC236}">
                <a16:creationId xmlns:a16="http://schemas.microsoft.com/office/drawing/2014/main" id="{197879FC-1D06-8F69-BAE4-6FBB1BC94D69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451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  <p:sldLayoutId id="2147483725" r:id="rId18"/>
    <p:sldLayoutId id="2147483726" r:id="rId19"/>
    <p:sldLayoutId id="2147483727" r:id="rId20"/>
    <p:sldLayoutId id="2147483728" r:id="rId21"/>
    <p:sldLayoutId id="2147483729" r:id="rId22"/>
    <p:sldLayoutId id="2147483730" r:id="rId23"/>
    <p:sldLayoutId id="2147483731" r:id="rId24"/>
    <p:sldLayoutId id="2147483732" r:id="rId25"/>
    <p:sldLayoutId id="2147483733" r:id="rId26"/>
    <p:sldLayoutId id="2147483734" r:id="rId27"/>
    <p:sldLayoutId id="2147483735" r:id="rId28"/>
    <p:sldLayoutId id="2147483736" r:id="rId29"/>
    <p:sldLayoutId id="2147483737" r:id="rId30"/>
    <p:sldLayoutId id="2147483738" r:id="rId31"/>
    <p:sldLayoutId id="2147483739" r:id="rId32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2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fe123/AI2C-Prereqs.git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28411-1094-C1F5-1084-577812B5A6F7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1EB7E-576C-73E8-5B5F-2697010DCCAA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8A90635-0E90-7DA0-42A3-8A8ED20682D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FFCF7E2-6333-855B-2C35-C08B8F7DE87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346B43A-BE5B-F6D4-DDA7-CD311DD5862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1E0828-7B69-D681-40E6-90D695A9F59D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CE8B0C-E8F1-9325-8A19-5A5ED3935E6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7B9E49A-8678-92E2-1F00-AC77DDD59D7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DA6326A-BCDC-8B2A-06E7-EDD4EBB0DB0B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E528FA5-1553-D137-6686-BD0167379747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A9AAAAB-6E63-F857-1C34-E2F39D7340AF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01CDF1C-BC0A-54E2-4019-FDD95B6092E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9E14C3F-58F5-2F80-022C-87483A479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Ai2c technician cohort 7</a:t>
            </a:r>
            <a:br>
              <a:rPr lang="en-US" dirty="0"/>
            </a:br>
            <a:r>
              <a:rPr lang="en-US" dirty="0"/>
              <a:t>lesson 1:</a:t>
            </a:r>
            <a:br>
              <a:rPr lang="en-US" dirty="0"/>
            </a:br>
            <a:r>
              <a:rPr lang="en-US" dirty="0"/>
              <a:t>intro to python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E356D69-6F4B-7FBC-83AF-3EA536471D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442AE27-4AFE-4E85-05AF-570E399D75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457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</a:pPr>
            <a:r>
              <a:rPr lang="en-US" dirty="0"/>
              <a:t>AI2C Technician cohort 7</a:t>
            </a:r>
            <a:endParaRPr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773532-8C50-2C4F-06E5-1CEEB1D9B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" dirty="0"/>
              <a:t>Admin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Class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3B3259-3427-AE48-96CC-BCA57F2954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Google Shape;140;p27">
            <a:extLst>
              <a:ext uri="{FF2B5EF4-FFF2-40B4-BE49-F238E27FC236}">
                <a16:creationId xmlns:a16="http://schemas.microsoft.com/office/drawing/2014/main" id="{963ACE78-8520-8374-B73C-175A3755B82A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265696705"/>
              </p:ext>
            </p:extLst>
          </p:nvPr>
        </p:nvGraphicFramePr>
        <p:xfrm>
          <a:off x="334963" y="922338"/>
          <a:ext cx="8453437" cy="4011980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88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6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3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546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287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Date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Day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Time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Location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Topic</a:t>
                      </a:r>
                      <a:endParaRPr sz="1350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14-Jul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9:00:00 AM - UTC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Intros/Ice Breaker, Environment Setup, and Python Basics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15-Jul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Tuesday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Networking Basics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18-Jul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Friday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9:00:00 AM - UTC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Linux and Git Basics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21-Jul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Conditional Statements, Error Handling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22-Jul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highlight>
                            <a:srgbClr val="FFFF00"/>
                          </a:highlight>
                        </a:rPr>
                        <a:t>Tuesday</a:t>
                      </a:r>
                      <a:endParaRPr sz="1200" u="none" strike="noStrike" cap="none">
                        <a:highlight>
                          <a:srgbClr val="FFFF00"/>
                        </a:highlight>
                      </a:endParaRPr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File I/O and Git</a:t>
                      </a:r>
                      <a:endParaRPr sz="1200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23-Jul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Wednesday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IPv4 and Subnetting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28-Jul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Monday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Writing Clean Code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30-Jul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Wednesday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Cloud Computing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971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1-Aug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Friday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9:00:00 AM - UTC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/>
                        <a:t>AI2C Conference Room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/>
                        <a:t>Algorithms and Data Structures (Lists, Dictionaries, Sets), Python OOP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Class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643DC68-4A58-BAED-289A-3A977E6A82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Google Shape;146;p28">
            <a:extLst>
              <a:ext uri="{FF2B5EF4-FFF2-40B4-BE49-F238E27FC236}">
                <a16:creationId xmlns:a16="http://schemas.microsoft.com/office/drawing/2014/main" id="{6E61BB3F-146D-6F82-6FB9-0FC016FE0557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472409416"/>
              </p:ext>
            </p:extLst>
          </p:nvPr>
        </p:nvGraphicFramePr>
        <p:xfrm>
          <a:off x="349250" y="1096829"/>
          <a:ext cx="8324128" cy="3744649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8665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39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9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505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Date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Day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Time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Location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u="none" strike="noStrike" cap="none">
                          <a:solidFill>
                            <a:srgbClr val="31394D"/>
                          </a:solidFill>
                        </a:rPr>
                        <a:t>Topic</a:t>
                      </a:r>
                      <a:endParaRPr sz="1350" b="1" u="none" strike="noStrike" cap="none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4-Aug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NumPy, Pandas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6-Aug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Cloud Resources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30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8-Aug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Handling command-line arguments and Kubernetes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11-Aug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AI/ML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13-Aug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DevOps/CICD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059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15-Aug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AI2C Conference Room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Small Project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18-Aug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 Orientation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20-Aug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Wednesday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22-Aug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Friday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9:00:00 AM - UTC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Summer Graduation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827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25-Aug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Monday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TBD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>
                          <a:solidFill>
                            <a:srgbClr val="31394D"/>
                          </a:solidFill>
                        </a:rPr>
                        <a:t>CMU</a:t>
                      </a:r>
                      <a:endParaRPr sz="1200" u="none" strike="noStrike" cap="none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31394D"/>
                          </a:solidFill>
                        </a:rPr>
                        <a:t>Classes Begin</a:t>
                      </a:r>
                      <a:endParaRPr sz="1200" u="none" strike="noStrike" cap="none" dirty="0">
                        <a:solidFill>
                          <a:srgbClr val="31394D"/>
                        </a:solidFill>
                      </a:endParaRPr>
                    </a:p>
                  </a:txBody>
                  <a:tcPr marL="10950" marR="10950" marT="10950" marB="5257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Today's Schedule</a:t>
            </a:r>
            <a:br>
              <a:rPr lang="en"/>
            </a:b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AFF299-EA7F-B5D3-AA3C-EC830FEAB9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3" name="Google Shape;152;p29">
            <a:extLst>
              <a:ext uri="{FF2B5EF4-FFF2-40B4-BE49-F238E27FC236}">
                <a16:creationId xmlns:a16="http://schemas.microsoft.com/office/drawing/2014/main" id="{2DD591F1-87E7-C72A-CEBF-E6704CA7D9A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4690778"/>
              </p:ext>
            </p:extLst>
          </p:nvPr>
        </p:nvGraphicFramePr>
        <p:xfrm>
          <a:off x="387180" y="1611630"/>
          <a:ext cx="5543720" cy="3017520"/>
        </p:xfrm>
        <a:graphic>
          <a:graphicData uri="http://schemas.openxmlformats.org/drawingml/2006/table">
            <a:tbl>
              <a:tblPr firstRow="1" bandRow="1">
                <a:noFill/>
                <a:tableStyleId>{AA323327-17F7-4230-B99A-3A7D3BBB913F}</a:tableStyleId>
              </a:tblPr>
              <a:tblGrid>
                <a:gridCol w="2771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1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u="none" strike="noStrike" cap="none"/>
                        <a:t>Time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Event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0900-0930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1394D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b="0" i="0" u="none" strike="noStrike">
                          <a:solidFill>
                            <a:srgbClr val="31394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Icebreaker and Intros</a:t>
                      </a:r>
                      <a:endParaRPr sz="14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0930-1200</a:t>
                      </a:r>
                      <a:endParaRPr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Lesson 1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49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1200-1300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Lunch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55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/>
                        <a:t>1300-1500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50" dirty="0"/>
                        <a:t>Laptop/Environment troubleshooting and Lesson 1 Practice</a:t>
                      </a:r>
                      <a:endParaRPr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1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2FC9F5-830A-7206-7693-A3B419BD98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58;p30">
            <a:extLst>
              <a:ext uri="{FF2B5EF4-FFF2-40B4-BE49-F238E27FC236}">
                <a16:creationId xmlns:a16="http://schemas.microsoft.com/office/drawing/2014/main" id="{BB272289-9A13-85DC-2DFD-3203C3DA43ED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965133228"/>
              </p:ext>
            </p:extLst>
          </p:nvPr>
        </p:nvGraphicFramePr>
        <p:xfrm>
          <a:off x="349299" y="1303018"/>
          <a:ext cx="5220711" cy="3634744"/>
        </p:xfrm>
        <a:graphic>
          <a:graphicData uri="http://schemas.openxmlformats.org/drawingml/2006/table">
            <a:tbl>
              <a:tblPr bandRow="1">
                <a:noFill/>
                <a:tableStyleId>{20BDE71D-A5DA-4731-8206-4FC7E790C503}</a:tableStyleId>
              </a:tblPr>
              <a:tblGrid>
                <a:gridCol w="222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6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7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33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Terrence  "TJ"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Allen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Douglas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Bonner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Raymond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Fernandez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Carlos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Gil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CW3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Colby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Johnson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Nicholas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Lind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Steve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McCoy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Enrique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Mosqueda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sz="110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Larry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Parrotte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Ashley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Rivera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Benjamin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Siegel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24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Dylan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Temple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SGT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2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30CA88-E93A-853B-021E-2D5F5CF8F3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64;p31">
            <a:extLst>
              <a:ext uri="{FF2B5EF4-FFF2-40B4-BE49-F238E27FC236}">
                <a16:creationId xmlns:a16="http://schemas.microsoft.com/office/drawing/2014/main" id="{9595797C-8EC8-DE2F-EE1D-DA787AD4A609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90077658"/>
              </p:ext>
            </p:extLst>
          </p:nvPr>
        </p:nvGraphicFramePr>
        <p:xfrm>
          <a:off x="380399" y="1365750"/>
          <a:ext cx="5127432" cy="3263400"/>
        </p:xfrm>
        <a:graphic>
          <a:graphicData uri="http://schemas.openxmlformats.org/drawingml/2006/table">
            <a:tbl>
              <a:tblPr bandRow="1">
                <a:noFill/>
                <a:tableStyleId>{AA323327-17F7-4230-B99A-3A7D3BBB913F}</a:tableStyleId>
              </a:tblPr>
              <a:tblGrid>
                <a:gridCol w="2186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67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4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William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Benitez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Roni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Brown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Kale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Gallo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Jonathan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Hale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Jamison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Kelly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DongDong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Liu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1LT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Ian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McGrady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Josiah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Park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Markuz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Robinson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Elisa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Sun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John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Tomaselli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MAJ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Cohort Chain of Command – Team 3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C88A61-6815-F989-EBD9-8C69694753B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Google Shape;170;p32">
            <a:extLst>
              <a:ext uri="{FF2B5EF4-FFF2-40B4-BE49-F238E27FC236}">
                <a16:creationId xmlns:a16="http://schemas.microsoft.com/office/drawing/2014/main" id="{6FD27F45-BFCE-D843-98C4-471E526E46EF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3164615"/>
              </p:ext>
            </p:extLst>
          </p:nvPr>
        </p:nvGraphicFramePr>
        <p:xfrm>
          <a:off x="411480" y="1390650"/>
          <a:ext cx="5096350" cy="3354600"/>
        </p:xfrm>
        <a:graphic>
          <a:graphicData uri="http://schemas.openxmlformats.org/drawingml/2006/table">
            <a:tbl>
              <a:tblPr bandRow="1">
                <a:noFill/>
                <a:tableStyleId>{AA323327-17F7-4230-B99A-3A7D3BBB913F}</a:tableStyleId>
              </a:tblPr>
              <a:tblGrid>
                <a:gridCol w="21734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dirty="0">
                          <a:solidFill>
                            <a:schemeClr val="dk1"/>
                          </a:solidFill>
                        </a:rPr>
                        <a:t>First</a:t>
                      </a:r>
                      <a:endParaRPr dirty="0"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Last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</a:rPr>
                        <a:t>Rank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Cole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Bishop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Adriana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Canedo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David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Gibbons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Nathan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Hodge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Richard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Kovach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highlight>
                            <a:srgbClr val="FFFF00"/>
                          </a:highlight>
                        </a:rPr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Antonio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Magana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SFC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Justin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McLellan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CW2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William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Park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SGT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Gabriel "Alex"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Santiago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CPT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Brandon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Taylor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SSG</a:t>
                      </a:r>
                      <a:endParaRPr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9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Cory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/>
                        <a:t>Wingate</a:t>
                      </a:r>
                      <a:endParaRPr/>
                    </a:p>
                  </a:txBody>
                  <a:tcPr marL="9525" marR="9525" marT="9525" marB="45725" anchor="b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dirty="0"/>
                        <a:t>CW2</a:t>
                      </a:r>
                      <a:endParaRPr dirty="0"/>
                    </a:p>
                  </a:txBody>
                  <a:tcPr marL="9525" marR="9525" marT="9525" marB="45725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Icebreaker – Human Bingo</a:t>
            </a:r>
            <a:endParaRPr dirty="0"/>
          </a:p>
        </p:txBody>
      </p:sp>
      <p:sp>
        <p:nvSpPr>
          <p:cNvPr id="3" name="Google Shape;176;p33">
            <a:extLst>
              <a:ext uri="{FF2B5EF4-FFF2-40B4-BE49-F238E27FC236}">
                <a16:creationId xmlns:a16="http://schemas.microsoft.com/office/drawing/2014/main" id="{5050C7B4-5E88-AE05-B730-8A5EC6CBB84F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First 3 Bingos win a prize!</a:t>
            </a: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To win, you must be able to correctly identify the people on your card.</a:t>
            </a:r>
            <a:endParaRPr sz="1700" dirty="0">
              <a:solidFill>
                <a:schemeClr val="tx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E833D0-7C7E-4BAE-AAD1-4584E27B4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Icebreaker – Human Bingo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47B1FB-47BC-594B-769A-08D8E6CAC4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oogle Shape;181;p34">
            <a:extLst>
              <a:ext uri="{FF2B5EF4-FFF2-40B4-BE49-F238E27FC236}">
                <a16:creationId xmlns:a16="http://schemas.microsoft.com/office/drawing/2014/main" id="{354C2F5D-5179-D0EA-B4EC-A9D3A048D4D4}"/>
              </a:ext>
            </a:extLst>
          </p:cNvPr>
          <p:cNvPicPr preferRelativeResize="0">
            <a:picLocks noGrp="1"/>
          </p:cNvPicPr>
          <p:nvPr>
            <p:ph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11480" y="838200"/>
            <a:ext cx="7527925" cy="404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Intros</a:t>
            </a:r>
            <a:endParaRPr dirty="0"/>
          </a:p>
        </p:txBody>
      </p:sp>
      <p:sp>
        <p:nvSpPr>
          <p:cNvPr id="4" name="Google Shape;187;p35">
            <a:extLst>
              <a:ext uri="{FF2B5EF4-FFF2-40B4-BE49-F238E27FC236}">
                <a16:creationId xmlns:a16="http://schemas.microsoft.com/office/drawing/2014/main" id="{22211E24-5FD0-CCFF-A52E-093BEFD1262B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Name</a:t>
            </a:r>
            <a:endParaRPr sz="14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Rank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What you do in the Army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Where you're coming from</a:t>
            </a:r>
            <a:endParaRPr dirty="0">
              <a:solidFill>
                <a:schemeClr val="tx2"/>
              </a:solidFill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70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 Your experience level with AI/Tech/Coding</a:t>
            </a:r>
            <a:endParaRPr dirty="0">
              <a:solidFill>
                <a:schemeClr val="tx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4276"/>
              <a:buFont typeface="Play"/>
              <a:buNone/>
            </a:pPr>
            <a:r>
              <a:rPr lang="en-US" dirty="0"/>
              <a:t>expectations</a:t>
            </a:r>
            <a:endParaRPr dirty="0"/>
          </a:p>
        </p:txBody>
      </p:sp>
      <p:sp>
        <p:nvSpPr>
          <p:cNvPr id="4" name="Google Shape;193;p36">
            <a:extLst>
              <a:ext uri="{FF2B5EF4-FFF2-40B4-BE49-F238E27FC236}">
                <a16:creationId xmlns:a16="http://schemas.microsoft.com/office/drawing/2014/main" id="{4998A9B1-50EC-71EF-AAB1-C4CF703E236F}"/>
              </a:ext>
            </a:extLst>
          </p:cNvPr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College courses</a:t>
            </a: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endParaRPr lang="en" sz="1800" dirty="0">
              <a:solidFill>
                <a:schemeClr val="tx2"/>
              </a:solidFill>
            </a:endParaRP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Python experience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DevOps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Cloud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endParaRPr lang="en" sz="1800" dirty="0">
              <a:solidFill>
                <a:schemeClr val="tx2"/>
              </a:solidFill>
            </a:endParaRPr>
          </a:p>
          <a:p>
            <a:pPr marL="285750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Garbage in, garbage out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Do the material</a:t>
            </a:r>
          </a:p>
          <a:p>
            <a:pPr marL="422910" lvl="1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Optional exercises</a:t>
            </a:r>
            <a:endParaRPr sz="1800"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lang="en" sz="1800" dirty="0">
              <a:solidFill>
                <a:schemeClr val="tx2"/>
              </a:solidFill>
            </a:endParaRPr>
          </a:p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chemeClr val="tx2"/>
                </a:solidFill>
              </a:rPr>
              <a:t>Academic Freedom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lang="en" sz="1800" dirty="0">
              <a:solidFill>
                <a:schemeClr val="tx2"/>
              </a:solidFill>
            </a:endParaRPr>
          </a:p>
          <a:p>
            <a:pPr marL="285750" indent="-285750">
              <a:lnSpc>
                <a:spcPct val="90000"/>
              </a:lnSpc>
              <a:buClr>
                <a:schemeClr val="accent2"/>
              </a:buClr>
              <a:buSzPts val="13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2"/>
                </a:solidFill>
              </a:rPr>
              <a:t>What do </a:t>
            </a:r>
            <a:r>
              <a:rPr lang="en-US" sz="1800" i="1" dirty="0">
                <a:solidFill>
                  <a:schemeClr val="tx2"/>
                </a:solidFill>
              </a:rPr>
              <a:t>you</a:t>
            </a:r>
            <a:r>
              <a:rPr lang="en-US" sz="1800" dirty="0">
                <a:solidFill>
                  <a:schemeClr val="tx2"/>
                </a:solidFill>
              </a:rPr>
              <a:t> want out of this?</a:t>
            </a:r>
          </a:p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Laptop Issues?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29B38F-DDA4-9CE9-1E00-FFE91A423C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 dirty="0"/>
              <a:t>AI2C Technician Cohort 7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23F63-0F1F-C732-32C1-147BBBC048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" dirty="0">
                <a:solidFill>
                  <a:schemeClr val="tx2"/>
                </a:solidFill>
              </a:rPr>
              <a:t>Lesson 1 – Intro to Python</a:t>
            </a:r>
            <a:endParaRPr lang="en-US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Let’s download Python</a:t>
            </a:r>
            <a:endParaRPr/>
          </a:p>
        </p:txBody>
      </p:sp>
      <p:sp>
        <p:nvSpPr>
          <p:cNvPr id="211" name="Google Shape;211;p39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26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/>
              <a:t>If you haven’t already… go to </a:t>
            </a:r>
            <a:r>
              <a:rPr lang="en" dirty="0" err="1"/>
              <a:t>python.org</a:t>
            </a:r>
            <a:r>
              <a:rPr lang="en" dirty="0"/>
              <a:t> and download the latest release of Python</a:t>
            </a: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</p:txBody>
      </p:sp>
      <p:pic>
        <p:nvPicPr>
          <p:cNvPr id="212" name="Google Shape;212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6868" y="2220998"/>
            <a:ext cx="6530264" cy="2613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Verify the download</a:t>
            </a:r>
            <a:endParaRPr/>
          </a:p>
        </p:txBody>
      </p:sp>
      <p:sp>
        <p:nvSpPr>
          <p:cNvPr id="218" name="Google Shape;218;p40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864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Open a command prompt and type in “python”.  Your terminal should indicate it is running Python with the “&gt;&gt;&gt;” </a:t>
            </a: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/>
          </a:p>
          <a:p>
            <a:pPr marL="171450" lvl="0" indent="-48133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Run a few basic commands.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	x = 5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/>
              <a:t>	x+2</a:t>
            </a:r>
            <a:endParaRPr dirty="0"/>
          </a:p>
        </p:txBody>
      </p:sp>
      <p:pic>
        <p:nvPicPr>
          <p:cNvPr id="219" name="Google Shape;219;p40" descr="Text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1" t="984" r="18696" b="49830"/>
          <a:stretch/>
        </p:blipFill>
        <p:spPr>
          <a:xfrm>
            <a:off x="1433221" y="1841500"/>
            <a:ext cx="5780380" cy="18021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Interactive Python</a:t>
            </a:r>
            <a:endParaRPr/>
          </a:p>
        </p:txBody>
      </p:sp>
      <p:sp>
        <p:nvSpPr>
          <p:cNvPr id="225" name="Google Shape;225;p41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26125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Running Python in the terminal like this is great way to interactively see what individual lines of code do but…</a:t>
            </a: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Oftentimes we want to run dozens (or hundreds) of lines of code at a time.  For this, we want to write python scripts.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It would also be nice if there was software that would help us write and manage code, have useful plugins, be integrated with AI, </a:t>
            </a:r>
            <a:r>
              <a:rPr lang="en" dirty="0" err="1">
                <a:solidFill>
                  <a:schemeClr val="tx2"/>
                </a:solidFill>
              </a:rPr>
              <a:t>etc</a:t>
            </a:r>
            <a:r>
              <a:rPr lang="en" dirty="0">
                <a:solidFill>
                  <a:schemeClr val="tx2"/>
                </a:solidFill>
              </a:rPr>
              <a:t>…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We need an </a:t>
            </a:r>
            <a:r>
              <a:rPr lang="en" b="1" dirty="0">
                <a:solidFill>
                  <a:schemeClr val="tx2"/>
                </a:solidFill>
              </a:rPr>
              <a:t>Integrated Development Environment (IDE)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Integrated Development Environments (IDE)</a:t>
            </a:r>
            <a:endParaRPr dirty="0"/>
          </a:p>
        </p:txBody>
      </p:sp>
      <p:sp>
        <p:nvSpPr>
          <p:cNvPr id="231" name="Google Shape;231;p4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2394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-US" dirty="0">
                <a:solidFill>
                  <a:schemeClr val="tx2"/>
                </a:solidFill>
              </a:rPr>
              <a:t>There are many IDEs that can help you write and manage code.  </a:t>
            </a: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/>
          </a:p>
        </p:txBody>
      </p:sp>
      <p:pic>
        <p:nvPicPr>
          <p:cNvPr id="232" name="Google Shape;232;p42" descr="Visual Studio Code - Wikiped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0345" y="2284190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5755" y="2284192"/>
            <a:ext cx="1768409" cy="1768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2282" y="2284191"/>
            <a:ext cx="2196182" cy="1768409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sp>
        <p:nvSpPr>
          <p:cNvPr id="235" name="Google Shape;235;p42"/>
          <p:cNvSpPr txBox="1"/>
          <p:nvPr/>
        </p:nvSpPr>
        <p:spPr>
          <a:xfrm>
            <a:off x="641350" y="4465557"/>
            <a:ext cx="225309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Visual Studio Code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6" name="Google Shape;236;p42"/>
          <p:cNvSpPr txBox="1"/>
          <p:nvPr/>
        </p:nvSpPr>
        <p:spPr>
          <a:xfrm>
            <a:off x="3961226" y="4465557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PyCharm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7040736" y="4407065"/>
            <a:ext cx="162293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Notepad++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Visual Studio Code</a:t>
            </a:r>
            <a:endParaRPr/>
          </a:p>
        </p:txBody>
      </p:sp>
      <p:sp>
        <p:nvSpPr>
          <p:cNvPr id="242" name="Google Shape;242;p43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87615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We use VS Code in AI2C, and you will use it for classes at CMU.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VS Code has great version control management built in and many great plug-ins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</a:pPr>
            <a:r>
              <a:rPr lang="en" dirty="0">
                <a:solidFill>
                  <a:schemeClr val="tx2"/>
                </a:solidFill>
              </a:rPr>
              <a:t>Take a few minutes to download VS Code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Running code in VS Code</a:t>
            </a:r>
            <a:endParaRPr/>
          </a:p>
        </p:txBody>
      </p:sp>
      <p:sp>
        <p:nvSpPr>
          <p:cNvPr id="248" name="Google Shape;248;p44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solidFill>
            <a:srgbClr val="221F20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Give a quick tutorial on </a:t>
            </a:r>
            <a:endParaRPr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dirty="0">
                <a:solidFill>
                  <a:schemeClr val="tx2"/>
                </a:solidFill>
              </a:rPr>
              <a:t>Creating a Folder</a:t>
            </a:r>
            <a:endParaRPr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" dirty="0">
              <a:solidFill>
                <a:schemeClr val="tx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dirty="0">
                <a:solidFill>
                  <a:schemeClr val="tx2"/>
                </a:solidFill>
              </a:rPr>
              <a:t>Creating and running a Python Script in the VS Code terminal.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Saving Code on the Internet and version control?</a:t>
            </a:r>
            <a:endParaRPr/>
          </a:p>
        </p:txBody>
      </p:sp>
      <p:sp>
        <p:nvSpPr>
          <p:cNvPr id="254" name="Google Shape;254;p45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229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Go to https://</a:t>
            </a:r>
            <a:r>
              <a:rPr lang="en" dirty="0" err="1">
                <a:solidFill>
                  <a:schemeClr val="tx2"/>
                </a:solidFill>
              </a:rPr>
              <a:t>github.com</a:t>
            </a:r>
            <a:r>
              <a:rPr lang="en" dirty="0">
                <a:solidFill>
                  <a:schemeClr val="tx2"/>
                </a:solidFill>
              </a:rPr>
              <a:t> and setup a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account.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Also download git at https://git-</a:t>
            </a:r>
            <a:r>
              <a:rPr lang="en" dirty="0" err="1">
                <a:solidFill>
                  <a:schemeClr val="tx2"/>
                </a:solidFill>
              </a:rPr>
              <a:t>scm.com</a:t>
            </a:r>
            <a:r>
              <a:rPr lang="en" dirty="0">
                <a:solidFill>
                  <a:schemeClr val="tx2"/>
                </a:solidFill>
              </a:rPr>
              <a:t>.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We will have classes on how to use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and git later, but you will need a </a:t>
            </a:r>
            <a:r>
              <a:rPr lang="en" dirty="0" err="1">
                <a:solidFill>
                  <a:schemeClr val="tx2"/>
                </a:solidFill>
              </a:rPr>
              <a:t>github</a:t>
            </a:r>
            <a:r>
              <a:rPr lang="en" dirty="0">
                <a:solidFill>
                  <a:schemeClr val="tx2"/>
                </a:solidFill>
              </a:rPr>
              <a:t> account and git to pull in-class exercises and solutions. 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So what is Python?</a:t>
            </a:r>
            <a:endParaRPr/>
          </a:p>
        </p:txBody>
      </p:sp>
      <p:sp>
        <p:nvSpPr>
          <p:cNvPr id="261" name="Google Shape;261;p46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39488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is a high-level, interpreted programming language known for its </a:t>
            </a:r>
            <a:r>
              <a:rPr lang="en" b="1" dirty="0">
                <a:solidFill>
                  <a:schemeClr val="tx2"/>
                </a:solidFill>
              </a:rPr>
              <a:t>simplicity, readability, </a:t>
            </a:r>
            <a:r>
              <a:rPr lang="en" dirty="0">
                <a:solidFill>
                  <a:schemeClr val="tx2"/>
                </a:solidFill>
              </a:rPr>
              <a:t>and </a:t>
            </a:r>
            <a:r>
              <a:rPr lang="en" b="1" dirty="0">
                <a:solidFill>
                  <a:schemeClr val="tx2"/>
                </a:solidFill>
              </a:rPr>
              <a:t>versatility.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is widely used by beginners and professionals alike.  It can be used for a wide range of applications from web development, data science, automation, and artificial intelligence.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Data and datatypes</a:t>
            </a:r>
            <a:endParaRPr/>
          </a:p>
        </p:txBody>
      </p:sp>
      <p:sp>
        <p:nvSpPr>
          <p:cNvPr id="267" name="Google Shape;267;p47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This is important.</a:t>
            </a:r>
            <a:endParaRPr dirty="0">
              <a:solidFill>
                <a:schemeClr val="tx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Computers classify data into different datatypes.  For instance: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6 is an </a:t>
            </a:r>
            <a:r>
              <a:rPr lang="en" b="1" dirty="0">
                <a:solidFill>
                  <a:schemeClr val="tx2"/>
                </a:solidFill>
              </a:rPr>
              <a:t>integer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25.5 is a floating point number (</a:t>
            </a:r>
            <a:r>
              <a:rPr lang="en" b="1" dirty="0">
                <a:solidFill>
                  <a:schemeClr val="tx2"/>
                </a:solidFill>
              </a:rPr>
              <a:t>float</a:t>
            </a:r>
            <a:r>
              <a:rPr lang="en" dirty="0">
                <a:solidFill>
                  <a:schemeClr val="tx2"/>
                </a:solidFill>
              </a:rPr>
              <a:t>)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tx2"/>
                </a:solidFill>
              </a:rPr>
              <a:t>	“Hello” is a </a:t>
            </a:r>
            <a:r>
              <a:rPr lang="en" b="1" dirty="0">
                <a:solidFill>
                  <a:schemeClr val="tx2"/>
                </a:solidFill>
              </a:rPr>
              <a:t>string</a:t>
            </a:r>
            <a:endParaRPr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endParaRPr b="1" dirty="0">
              <a:solidFill>
                <a:schemeClr val="tx2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Python will interact with different datatypes differently.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Datatypes</a:t>
            </a:r>
            <a:endParaRPr/>
          </a:p>
        </p:txBody>
      </p:sp>
      <p:sp>
        <p:nvSpPr>
          <p:cNvPr id="273" name="Google Shape;273;p4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21654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Char char="•"/>
            </a:pPr>
            <a:r>
              <a:rPr lang="en" dirty="0">
                <a:solidFill>
                  <a:schemeClr val="tx2"/>
                </a:solidFill>
              </a:rPr>
              <a:t>Give examples of the following: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Integers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Floats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Strings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List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Tuple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Dictionary</a:t>
            </a:r>
            <a:endParaRPr dirty="0">
              <a:solidFill>
                <a:schemeClr val="tx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tx2"/>
                </a:solidFill>
              </a:rPr>
              <a:t>Set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Immutable vs Mutable</a:t>
            </a: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64985F-283D-5076-D4D2-FE95447E19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Variables can hold any data types</a:t>
            </a:r>
            <a:endParaRPr/>
          </a:p>
        </p:txBody>
      </p:sp>
      <p:sp>
        <p:nvSpPr>
          <p:cNvPr id="284" name="Google Shape;284;p50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>
                <a:solidFill>
                  <a:schemeClr val="tx2"/>
                </a:solidFill>
              </a:rPr>
              <a:t>Integers - whole numbers</a:t>
            </a:r>
            <a:endParaRPr sz="1700" b="1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+, -, *, /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**, //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PEMDAS</a:t>
            </a:r>
            <a:endParaRPr sz="1700">
              <a:solidFill>
                <a:schemeClr val="tx2"/>
              </a:solidFill>
            </a:endParaRPr>
          </a:p>
        </p:txBody>
      </p:sp>
      <p:sp>
        <p:nvSpPr>
          <p:cNvPr id="285" name="Google Shape;285;p50"/>
          <p:cNvSpPr txBox="1">
            <a:spLocks noGrp="1"/>
          </p:cNvSpPr>
          <p:nvPr>
            <p:ph type="body" idx="4294967295"/>
          </p:nvPr>
        </p:nvSpPr>
        <p:spPr>
          <a:xfrm>
            <a:off x="5143500" y="1504950"/>
            <a:ext cx="4000500" cy="307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Floats - decimal numbers</a:t>
            </a:r>
            <a:endParaRPr sz="17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Variables can hold any data types</a:t>
            </a:r>
            <a:endParaRPr/>
          </a:p>
        </p:txBody>
      </p:sp>
      <p:sp>
        <p:nvSpPr>
          <p:cNvPr id="291" name="Google Shape;291;p51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Strings - collection of characters held by single/double quotes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Multiline strings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Escape characters (“\”)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Concatenation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Indexing/Slicing</a:t>
            </a:r>
            <a:endParaRPr sz="1700" dirty="0">
              <a:solidFill>
                <a:schemeClr val="tx2"/>
              </a:solidFill>
            </a:endParaRPr>
          </a:p>
        </p:txBody>
      </p:sp>
      <p:sp>
        <p:nvSpPr>
          <p:cNvPr id="292" name="Google Shape;292;p51"/>
          <p:cNvSpPr txBox="1">
            <a:spLocks noGrp="1"/>
          </p:cNvSpPr>
          <p:nvPr>
            <p:ph type="body" idx="4294967295"/>
          </p:nvPr>
        </p:nvSpPr>
        <p:spPr>
          <a:xfrm>
            <a:off x="5143500" y="1504950"/>
            <a:ext cx="4000500" cy="307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>
                <a:solidFill>
                  <a:schemeClr val="tx2"/>
                </a:solidFill>
              </a:rPr>
              <a:t>Boolean - True/False or 1/0</a:t>
            </a:r>
            <a:endParaRPr sz="1700" b="1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==, !=, &gt; &lt;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bool (“My String”) bool(“”)</a:t>
            </a:r>
            <a:endParaRPr sz="170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>
                <a:solidFill>
                  <a:schemeClr val="tx2"/>
                </a:solidFill>
              </a:rPr>
              <a:t>Not, And, Or</a:t>
            </a:r>
            <a:endParaRPr sz="170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5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Instances can be stored in Data Structures</a:t>
            </a:r>
            <a:endParaRPr/>
          </a:p>
        </p:txBody>
      </p:sp>
      <p:sp>
        <p:nvSpPr>
          <p:cNvPr id="298" name="Google Shape;298;p5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4392637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Lists - Ordered, mutable collection of elements that do not have to be the same type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[], list(), list comprehension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Indexing, slicing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Concatenation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 err="1">
                <a:solidFill>
                  <a:schemeClr val="tx2"/>
                </a:solidFill>
              </a:rPr>
              <a:t>Iterable</a:t>
            </a:r>
            <a:endParaRPr sz="17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accent2"/>
              </a:buClr>
              <a:buSzPts val="1300"/>
              <a:buNone/>
            </a:pPr>
            <a:endParaRPr sz="1700" b="1" dirty="0">
              <a:solidFill>
                <a:schemeClr val="tx2"/>
              </a:solidFill>
            </a:endParaRPr>
          </a:p>
        </p:txBody>
      </p:sp>
      <p:sp>
        <p:nvSpPr>
          <p:cNvPr id="299" name="Google Shape;299;p52"/>
          <p:cNvSpPr txBox="1">
            <a:spLocks noGrp="1"/>
          </p:cNvSpPr>
          <p:nvPr>
            <p:ph type="body" idx="4294967295"/>
          </p:nvPr>
        </p:nvSpPr>
        <p:spPr>
          <a:xfrm>
            <a:off x="5143500" y="1611630"/>
            <a:ext cx="4000500" cy="296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Dictionaries - unordered, mutable collection of key-value pairs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{}, </a:t>
            </a:r>
            <a:r>
              <a:rPr lang="en" sz="1700" dirty="0" err="1">
                <a:solidFill>
                  <a:schemeClr val="tx2"/>
                </a:solidFill>
              </a:rPr>
              <a:t>dict</a:t>
            </a:r>
            <a:r>
              <a:rPr lang="en" sz="1700" dirty="0">
                <a:solidFill>
                  <a:schemeClr val="tx2"/>
                </a:solidFill>
              </a:rPr>
              <a:t>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.keys(), .values(), .items()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Adding an item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del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4276"/>
              <a:buFont typeface="Play"/>
              <a:buNone/>
            </a:pPr>
            <a:r>
              <a:rPr lang="en"/>
              <a:t>Instances can be stored in Data Structures</a:t>
            </a:r>
            <a:endParaRPr/>
          </a:p>
        </p:txBody>
      </p:sp>
      <p:sp>
        <p:nvSpPr>
          <p:cNvPr id="305" name="Google Shape;305;p53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Tuples - an immutable collection of ordered items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(), tuple()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Indexing, Slicing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Unpacking tuples</a:t>
            </a:r>
            <a:endParaRPr sz="1700" dirty="0">
              <a:solidFill>
                <a:schemeClr val="tx2"/>
              </a:solidFill>
            </a:endParaRPr>
          </a:p>
        </p:txBody>
      </p:sp>
      <p:sp>
        <p:nvSpPr>
          <p:cNvPr id="306" name="Google Shape;306;p53"/>
          <p:cNvSpPr txBox="1">
            <a:spLocks noGrp="1"/>
          </p:cNvSpPr>
          <p:nvPr>
            <p:ph type="body" idx="4294967295"/>
          </p:nvPr>
        </p:nvSpPr>
        <p:spPr>
          <a:xfrm>
            <a:off x="5143500" y="1611630"/>
            <a:ext cx="4000500" cy="296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None/>
            </a:pPr>
            <a:r>
              <a:rPr lang="en" sz="1700" b="1" dirty="0">
                <a:solidFill>
                  <a:schemeClr val="tx2"/>
                </a:solidFill>
              </a:rPr>
              <a:t>Sets - an unordered, mutable collection of unique, immutable items</a:t>
            </a:r>
            <a:endParaRPr sz="1700" b="1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{}, set()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.add(), .update()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.discard()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Length</a:t>
            </a:r>
            <a:endParaRPr sz="1700" dirty="0">
              <a:solidFill>
                <a:schemeClr val="tx2"/>
              </a:solidFill>
            </a:endParaRPr>
          </a:p>
          <a:p>
            <a:pPr marL="457200" lvl="0" indent="-3365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Char char="●"/>
            </a:pPr>
            <a:r>
              <a:rPr lang="en" sz="1700" dirty="0">
                <a:solidFill>
                  <a:schemeClr val="tx2"/>
                </a:solidFill>
              </a:rPr>
              <a:t>Union, Difference, Intersection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Data Type Conversion (Casting)</a:t>
            </a:r>
            <a:endParaRPr/>
          </a:p>
        </p:txBody>
      </p:sp>
      <p:sp>
        <p:nvSpPr>
          <p:cNvPr id="313" name="Google Shape;313;p54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858225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600" dirty="0">
                <a:solidFill>
                  <a:schemeClr val="tx2"/>
                </a:solidFill>
              </a:rPr>
              <a:t>There are predefined functions we can use to convert data from one type to another: </a:t>
            </a:r>
            <a:r>
              <a:rPr lang="en" sz="1600" b="1" dirty="0">
                <a:solidFill>
                  <a:srgbClr val="00B0F0"/>
                </a:solidFill>
              </a:rPr>
              <a:t>int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, </a:t>
            </a:r>
            <a:r>
              <a:rPr lang="en" sz="1600" b="1" dirty="0">
                <a:solidFill>
                  <a:srgbClr val="00B0F0"/>
                </a:solidFill>
              </a:rPr>
              <a:t>float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, and </a:t>
            </a:r>
            <a:r>
              <a:rPr lang="en" sz="1600" b="1" dirty="0">
                <a:solidFill>
                  <a:srgbClr val="00B0F0"/>
                </a:solidFill>
              </a:rPr>
              <a:t>str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.  Here are examples with </a:t>
            </a:r>
            <a:r>
              <a:rPr lang="en" sz="1600" b="1" dirty="0">
                <a:solidFill>
                  <a:srgbClr val="00B0F0"/>
                </a:solidFill>
              </a:rPr>
              <a:t>int</a:t>
            </a:r>
            <a:r>
              <a:rPr lang="en" sz="1600" b="1" dirty="0">
                <a:solidFill>
                  <a:schemeClr val="tx2"/>
                </a:solidFill>
              </a:rPr>
              <a:t>()</a:t>
            </a:r>
            <a:r>
              <a:rPr lang="en" sz="1600" dirty="0">
                <a:solidFill>
                  <a:schemeClr val="tx2"/>
                </a:solidFill>
              </a:rPr>
              <a:t>:</a:t>
            </a:r>
            <a:endParaRPr sz="16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 Class Exercise 1</a:t>
            </a:r>
            <a:endParaRPr/>
          </a:p>
        </p:txBody>
      </p:sp>
      <p:sp>
        <p:nvSpPr>
          <p:cNvPr id="320" name="Google Shape;320;p55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Copy and run the following code.  What did it do?</a:t>
            </a: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num1 = 10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num2 = 15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print(“The sum is”, num1+num2)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num3 = “10”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num4 = “15”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print(“The sum is”, num3+num4)</a:t>
            </a:r>
            <a:endParaRPr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b="1" u="sng"/>
              <a:t>Variables</a:t>
            </a:r>
            <a:endParaRPr/>
          </a:p>
        </p:txBody>
      </p:sp>
      <p:sp>
        <p:nvSpPr>
          <p:cNvPr id="326" name="Google Shape;326;p56"/>
          <p:cNvSpPr txBox="1">
            <a:spLocks noGrp="1"/>
          </p:cNvSpPr>
          <p:nvPr>
            <p:ph type="body" sz="quarter" idx="11"/>
          </p:nvPr>
        </p:nvSpPr>
        <p:spPr>
          <a:xfrm>
            <a:off x="411481" y="1541292"/>
            <a:ext cx="725541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A variable is a named location in memory that stores a value.  Every variable has a </a:t>
            </a:r>
            <a:r>
              <a:rPr lang="en" sz="1700" b="1" dirty="0">
                <a:solidFill>
                  <a:schemeClr val="accent2"/>
                </a:solidFill>
              </a:rPr>
              <a:t>name, </a:t>
            </a:r>
            <a:r>
              <a:rPr lang="en" sz="1700" dirty="0">
                <a:solidFill>
                  <a:schemeClr val="accent2"/>
                </a:solidFill>
              </a:rPr>
              <a:t>a </a:t>
            </a:r>
            <a:r>
              <a:rPr lang="en" sz="1700" b="1" dirty="0">
                <a:solidFill>
                  <a:schemeClr val="accent2"/>
                </a:solidFill>
              </a:rPr>
              <a:t>value</a:t>
            </a:r>
            <a:r>
              <a:rPr lang="en" sz="1700" dirty="0">
                <a:solidFill>
                  <a:schemeClr val="accent2"/>
                </a:solidFill>
              </a:rPr>
              <a:t>, and a </a:t>
            </a:r>
            <a:r>
              <a:rPr lang="en" sz="1700" b="1" u="sng" dirty="0">
                <a:solidFill>
                  <a:schemeClr val="accent2"/>
                </a:solidFill>
              </a:rPr>
              <a:t>type</a:t>
            </a:r>
            <a:r>
              <a:rPr lang="en" sz="1700" dirty="0">
                <a:solidFill>
                  <a:schemeClr val="accent2"/>
                </a:solidFill>
              </a:rPr>
              <a:t>.</a:t>
            </a:r>
            <a:endParaRPr sz="1700" dirty="0">
              <a:solidFill>
                <a:schemeClr val="accent2"/>
              </a:solidFill>
            </a:endParaRPr>
          </a:p>
          <a:p>
            <a:pPr marL="171450" lvl="0" indent="-38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age = 27        			This variable’s name is “age”, it’s value is 					27, and its type is an integer</a:t>
            </a: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sz="1700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Occupation = “AI Tech”	This variable’s name is “Occupation”, it’s 					value is, “AI Tech”, and it is a string.</a:t>
            </a:r>
            <a:endParaRPr sz="17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Variable Naming Rules</a:t>
            </a:r>
            <a:endParaRPr/>
          </a:p>
        </p:txBody>
      </p:sp>
      <p:sp>
        <p:nvSpPr>
          <p:cNvPr id="332" name="Google Shape;332;p57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95109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You can name a variable anything but…</a:t>
            </a: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1. Your variable name can’t start with a number.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2. Your variable name cannot include special characters (&amp;*^%!)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3. Your variable name cannot have any spaces</a:t>
            </a:r>
          </a:p>
          <a:p>
            <a:pPr marL="445770" lvl="2" indent="-17145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Char char="•"/>
            </a:pPr>
            <a:endParaRPr lang="en" sz="1700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sz="1700" dirty="0">
                <a:solidFill>
                  <a:schemeClr val="accent2"/>
                </a:solidFill>
              </a:rPr>
              <a:t>4. Your variable name cannot be a python keyword (for, if, else…)</a:t>
            </a:r>
            <a:endParaRPr sz="1700" dirty="0">
              <a:solidFill>
                <a:schemeClr val="accent2"/>
              </a:solidFill>
            </a:endParaRPr>
          </a:p>
          <a:p>
            <a:pPr marL="342900" lvl="1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 sz="1700" dirty="0">
                <a:solidFill>
                  <a:schemeClr val="accent2"/>
                </a:solidFill>
              </a:rPr>
              <a:t>	(You’ll learn more keywords as you learn the language)</a:t>
            </a:r>
            <a:endParaRPr sz="17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 dirty="0"/>
              <a:t>Variable Naming Best Practices and Conventions</a:t>
            </a:r>
            <a:endParaRPr dirty="0"/>
          </a:p>
        </p:txBody>
      </p:sp>
      <p:sp>
        <p:nvSpPr>
          <p:cNvPr id="338" name="Google Shape;338;p5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43574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1. Your variable name should describe something about the data.  Make the name make sense.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2. </a:t>
            </a:r>
            <a:r>
              <a:rPr lang="en" dirty="0" err="1">
                <a:solidFill>
                  <a:schemeClr val="accent2"/>
                </a:solidFill>
              </a:rPr>
              <a:t>use_snake_case_for_variables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3. </a:t>
            </a:r>
            <a:r>
              <a:rPr lang="en" dirty="0" err="1">
                <a:solidFill>
                  <a:schemeClr val="accent2"/>
                </a:solidFill>
              </a:rPr>
              <a:t>UseCapWordsForClassNames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4. Use ALLCAPs for constants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Functions</a:t>
            </a:r>
            <a:endParaRPr/>
          </a:p>
        </p:txBody>
      </p:sp>
      <p:sp>
        <p:nvSpPr>
          <p:cNvPr id="344" name="Google Shape;344;p59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580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A function is a </a:t>
            </a:r>
            <a:r>
              <a:rPr lang="en" b="1" dirty="0">
                <a:solidFill>
                  <a:schemeClr val="accent2"/>
                </a:solidFill>
              </a:rPr>
              <a:t>named</a:t>
            </a:r>
            <a:r>
              <a:rPr lang="en" dirty="0">
                <a:solidFill>
                  <a:schemeClr val="accent2"/>
                </a:solidFill>
              </a:rPr>
              <a:t>, </a:t>
            </a:r>
            <a:r>
              <a:rPr lang="en" b="1" dirty="0">
                <a:solidFill>
                  <a:schemeClr val="accent2"/>
                </a:solidFill>
              </a:rPr>
              <a:t>reusable</a:t>
            </a:r>
            <a:r>
              <a:rPr lang="en" dirty="0">
                <a:solidFill>
                  <a:schemeClr val="accent2"/>
                </a:solidFill>
              </a:rPr>
              <a:t> block of code that performs a specified task.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There are some functions that are predefined by the Python Language. We will be using built-in Python functions to explore and learn the programming language. 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Examples of these built-in functions are…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print(), </a:t>
            </a:r>
            <a:r>
              <a:rPr lang="en" dirty="0" err="1">
                <a:solidFill>
                  <a:schemeClr val="accent2"/>
                </a:solidFill>
              </a:rPr>
              <a:t>len</a:t>
            </a:r>
            <a:r>
              <a:rPr lang="en" dirty="0">
                <a:solidFill>
                  <a:schemeClr val="accent2"/>
                </a:solidFill>
              </a:rPr>
              <a:t>(), type(), sum(), max()…</a:t>
            </a:r>
            <a:endParaRPr dirty="0">
              <a:solidFill>
                <a:schemeClr val="accent2"/>
              </a:solidFill>
            </a:endParaRPr>
          </a:p>
          <a:p>
            <a:pPr marL="457200" lvl="0" indent="-3238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More about functions</a:t>
            </a:r>
            <a:endParaRPr/>
          </a:p>
        </p:txBody>
      </p:sp>
      <p:sp>
        <p:nvSpPr>
          <p:cNvPr id="350" name="Google Shape;350;p60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5801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Functions have a name… they take an argument… and they return a result.</a:t>
            </a:r>
            <a:endParaRPr dirty="0">
              <a:solidFill>
                <a:schemeClr val="accent2"/>
              </a:solidFill>
            </a:endParaRP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In math, we have the sine function.  What arguments does the sin() function take?  What does the sine function return?</a:t>
            </a:r>
          </a:p>
          <a:p>
            <a:pPr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Much like this, built-in python functions may require a specific datatype as an argument, and they will return a specific datatype.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>
                <a:solidFill>
                  <a:schemeClr val="tx2"/>
                </a:solidFill>
              </a:rPr>
              <a:t>Operators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56" name="Google Shape;356;p61"/>
          <p:cNvSpPr txBox="1"/>
          <p:nvPr/>
        </p:nvSpPr>
        <p:spPr>
          <a:xfrm>
            <a:off x="480060" y="4594623"/>
            <a:ext cx="25506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  <a:t>Reference:</a:t>
            </a:r>
            <a:br>
              <a:rPr lang="en" sz="900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900" u="sng" dirty="0">
                <a:solidFill>
                  <a:schemeClr val="tx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https://docs.python.org/3/library/stdtypes.html</a:t>
            </a:r>
            <a:endParaRPr sz="900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57" name="Google Shape;357;p61"/>
          <p:cNvGraphicFramePr/>
          <p:nvPr>
            <p:extLst>
              <p:ext uri="{D42A27DB-BD31-4B8C-83A1-F6EECF244321}">
                <p14:modId xmlns:p14="http://schemas.microsoft.com/office/powerpoint/2010/main" val="1297845240"/>
              </p:ext>
            </p:extLst>
          </p:nvPr>
        </p:nvGraphicFramePr>
        <p:xfrm>
          <a:off x="480060" y="1440180"/>
          <a:ext cx="2427725" cy="312248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693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4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+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Addition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+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Concatenation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-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*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Multiplication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//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Integer/floor division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 % y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(remainder)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-x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Negation</a:t>
                      </a:r>
                      <a:endParaRPr sz="1400" b="0" i="1" u="none" strike="noStrike" dirty="0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9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** y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Exponentiation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58" name="Google Shape;358;p61"/>
          <p:cNvGraphicFramePr/>
          <p:nvPr>
            <p:extLst>
              <p:ext uri="{D42A27DB-BD31-4B8C-83A1-F6EECF244321}">
                <p14:modId xmlns:p14="http://schemas.microsoft.com/office/powerpoint/2010/main" val="1250919493"/>
              </p:ext>
            </p:extLst>
          </p:nvPr>
        </p:nvGraphicFramePr>
        <p:xfrm>
          <a:off x="5760721" y="1028699"/>
          <a:ext cx="2365458" cy="24004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64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==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&lt;=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Less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&gt;=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Greater than or equal to</a:t>
                      </a:r>
                      <a:endParaRPr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70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!=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equal to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59" name="Google Shape;359;p61"/>
          <p:cNvGraphicFramePr/>
          <p:nvPr>
            <p:extLst>
              <p:ext uri="{D42A27DB-BD31-4B8C-83A1-F6EECF244321}">
                <p14:modId xmlns:p14="http://schemas.microsoft.com/office/powerpoint/2010/main" val="1966445913"/>
              </p:ext>
            </p:extLst>
          </p:nvPr>
        </p:nvGraphicFramePr>
        <p:xfrm>
          <a:off x="3074671" y="1020054"/>
          <a:ext cx="2427724" cy="246904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41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5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Code</a:t>
                      </a:r>
                      <a:endParaRPr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Meaning</a:t>
                      </a:r>
                      <a:endParaRPr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Assignment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Subtract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*=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Multiply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Divide and assign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//=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Floor divide and assign</a:t>
                      </a:r>
                      <a:endParaRPr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%=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en" sz="1400" b="0" i="0" u="none" strike="noStrike">
                          <a:solidFill>
                            <a:srgbClr val="09885A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b="0" i="0" u="none" strike="noStrike">
                        <a:solidFill>
                          <a:srgbClr val="09885A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4300" marR="34300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Modulo and assign</a:t>
                      </a:r>
                      <a:endParaRPr dirty="0"/>
                    </a:p>
                  </a:txBody>
                  <a:tcPr marL="34300" marR="34300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0" name="Google Shape;360;p61"/>
          <p:cNvSpPr/>
          <p:nvPr/>
        </p:nvSpPr>
        <p:spPr>
          <a:xfrm>
            <a:off x="480059" y="1136072"/>
            <a:ext cx="2427723" cy="235527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Arithmetic</a:t>
            </a:r>
            <a:endParaRPr/>
          </a:p>
        </p:txBody>
      </p:sp>
      <p:sp>
        <p:nvSpPr>
          <p:cNvPr id="361" name="Google Shape;361;p61"/>
          <p:cNvSpPr/>
          <p:nvPr/>
        </p:nvSpPr>
        <p:spPr>
          <a:xfrm>
            <a:off x="3074671" y="711791"/>
            <a:ext cx="2427723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</p:txBody>
      </p:sp>
      <p:sp>
        <p:nvSpPr>
          <p:cNvPr id="362" name="Google Shape;362;p61"/>
          <p:cNvSpPr/>
          <p:nvPr/>
        </p:nvSpPr>
        <p:spPr>
          <a:xfrm>
            <a:off x="5754408" y="720436"/>
            <a:ext cx="2365457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</p:txBody>
      </p:sp>
      <p:sp>
        <p:nvSpPr>
          <p:cNvPr id="363" name="Google Shape;363;p61"/>
          <p:cNvSpPr/>
          <p:nvPr/>
        </p:nvSpPr>
        <p:spPr>
          <a:xfrm>
            <a:off x="5760719" y="3463636"/>
            <a:ext cx="2359145" cy="23968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Logical</a:t>
            </a:r>
            <a:endParaRPr/>
          </a:p>
        </p:txBody>
      </p:sp>
      <p:graphicFrame>
        <p:nvGraphicFramePr>
          <p:cNvPr id="364" name="Google Shape;364;p61"/>
          <p:cNvGraphicFramePr/>
          <p:nvPr>
            <p:extLst>
              <p:ext uri="{D42A27DB-BD31-4B8C-83A1-F6EECF244321}">
                <p14:modId xmlns:p14="http://schemas.microsoft.com/office/powerpoint/2010/main" val="954701164"/>
              </p:ext>
            </p:extLst>
          </p:nvPr>
        </p:nvGraphicFramePr>
        <p:xfrm>
          <a:off x="5754406" y="3771851"/>
          <a:ext cx="2365458" cy="1341200"/>
        </p:xfrm>
        <a:graphic>
          <a:graphicData uri="http://schemas.openxmlformats.org/drawingml/2006/table">
            <a:tbl>
              <a:tblPr firstRow="1" bandRow="1">
                <a:noFill/>
                <a:tableStyleId>{20BDE71D-A5DA-4731-8206-4FC7E790C503}</a:tableStyleId>
              </a:tblPr>
              <a:tblGrid>
                <a:gridCol w="778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Code</a:t>
                      </a:r>
                      <a:endParaRPr dirty="0"/>
                    </a:p>
                  </a:txBody>
                  <a:tcPr marL="67550" marR="67550" marT="34300" marB="34300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Meaning</a:t>
                      </a:r>
                      <a:endParaRPr dirty="0"/>
                    </a:p>
                  </a:txBody>
                  <a:tcPr marL="67550" marR="67550" marT="34300" marB="34300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or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either is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x </a:t>
                      </a: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and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y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only if both are true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08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>
                          <a:solidFill>
                            <a:srgbClr val="0000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not</a:t>
                      </a:r>
                      <a:r>
                        <a:rPr lang="en" sz="1400" b="0" i="0" u="none" strike="noStrike">
                          <a:solidFill>
                            <a:srgbClr val="22222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x</a:t>
                      </a:r>
                      <a:endParaRPr sz="1400" b="0" i="0" u="none" strike="noStrike">
                        <a:solidFill>
                          <a:srgbClr val="22222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33775" marR="33775" marT="34300" marB="3430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0" i="0" u="none" strike="noStrike" dirty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 if x is false</a:t>
                      </a:r>
                      <a:endParaRPr dirty="0"/>
                    </a:p>
                  </a:txBody>
                  <a:tcPr marL="33775" marR="33775" marT="34300" marB="34300" anchor="b">
                    <a:lnL w="12700" cap="flat" cmpd="sng">
                      <a:solidFill>
                        <a:srgbClr val="EEEEE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5" name="Google Shape;365;p61"/>
          <p:cNvSpPr/>
          <p:nvPr/>
        </p:nvSpPr>
        <p:spPr>
          <a:xfrm>
            <a:off x="3097530" y="3595256"/>
            <a:ext cx="2153607" cy="127751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+=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equivalent to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= x + 1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other assignment operators are similar.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dirty="0"/>
              <a:t>Order of Operations</a:t>
            </a:r>
            <a:endParaRPr dirty="0"/>
          </a:p>
        </p:txBody>
      </p:sp>
      <p:sp>
        <p:nvSpPr>
          <p:cNvPr id="372" name="Google Shape;372;p62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347509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The order of operations in Python is essentially the same as in math you are already familiar with: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1. Expressions in parentheses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2. Exponentiation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3. Multiplication, division, integer division, and modulo (remainder)</a:t>
            </a:r>
          </a:p>
          <a:p>
            <a:pPr lvl="2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endParaRPr lang="en" dirty="0">
              <a:solidFill>
                <a:schemeClr val="accent2"/>
              </a:solidFill>
            </a:endParaRPr>
          </a:p>
          <a:p>
            <a:pPr marL="274320" lvl="2" indent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4. Addition and subtraction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Operators with the same precedence (except for 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**</a:t>
            </a:r>
            <a:r>
              <a:rPr lang="en" dirty="0">
                <a:solidFill>
                  <a:schemeClr val="accent2"/>
                </a:solidFill>
              </a:rPr>
              <a:t>) are evaluated from left-to-right.  (In algebra we say they are left-associative.)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Take a Break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E51070-B591-5A1A-2097-C20751434B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The built-in functions aren’t enough…</a:t>
            </a:r>
            <a:endParaRPr/>
          </a:p>
        </p:txBody>
      </p:sp>
      <p:sp>
        <p:nvSpPr>
          <p:cNvPr id="385" name="Google Shape;385;p64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427720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You can import more functionality into Python without downloading anything else… for this you use a standard </a:t>
            </a:r>
            <a:r>
              <a:rPr lang="en" b="1" dirty="0">
                <a:solidFill>
                  <a:schemeClr val="accent2"/>
                </a:solidFill>
              </a:rPr>
              <a:t>module.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To use a module’s functions, you must first import the module.  Add “import </a:t>
            </a:r>
            <a:r>
              <a:rPr lang="en" i="1" dirty="0" err="1">
                <a:solidFill>
                  <a:schemeClr val="accent2"/>
                </a:solidFill>
              </a:rPr>
              <a:t>module_name</a:t>
            </a:r>
            <a:r>
              <a:rPr lang="en" dirty="0">
                <a:solidFill>
                  <a:schemeClr val="accent2"/>
                </a:solidFill>
              </a:rPr>
              <a:t>” at the top of your program.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For instance…</a:t>
            </a:r>
            <a:endParaRPr i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import math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 err="1">
                <a:solidFill>
                  <a:schemeClr val="accent2"/>
                </a:solidFill>
              </a:rPr>
              <a:t>math.sqrt</a:t>
            </a:r>
            <a:r>
              <a:rPr lang="en" dirty="0">
                <a:solidFill>
                  <a:schemeClr val="accent2"/>
                </a:solidFill>
              </a:rPr>
              <a:t>(100)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In Class Exercise</a:t>
            </a:r>
            <a:endParaRPr/>
          </a:p>
        </p:txBody>
      </p:sp>
      <p:sp>
        <p:nvSpPr>
          <p:cNvPr id="392" name="Google Shape;392;p65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798656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In groups of 3-4, research the following standard modules.  What functions do these modules provide to Python?  What are some use cases?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Math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 err="1">
                <a:solidFill>
                  <a:schemeClr val="accent2"/>
                </a:solidFill>
              </a:rPr>
              <a:t>Os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Random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Statistics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JSON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>
                <a:solidFill>
                  <a:schemeClr val="accent2"/>
                </a:solidFill>
              </a:rPr>
              <a:t>Http</a:t>
            </a:r>
            <a:endParaRPr dirty="0">
              <a:solidFill>
                <a:schemeClr val="accent2"/>
              </a:solidFill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en" dirty="0" err="1">
                <a:solidFill>
                  <a:schemeClr val="accent2"/>
                </a:solidFill>
              </a:rPr>
              <a:t>Urllib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Ice Breaker: The Pizza Argument</a:t>
            </a:r>
            <a:endParaRPr/>
          </a:p>
        </p:txBody>
      </p:sp>
      <p:sp>
        <p:nvSpPr>
          <p:cNvPr id="398" name="Google Shape;398;p66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066773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A Pittsburgh pizza shop is having a two-for-one deal. You can get two small (12”) pizzas for $9.99. In contrast, a large pizza (16”) costs $9.99.  Which one is the better deal (yields more pizza)?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What is your first intuition?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With a partner, write Python code to answer this question.</a:t>
            </a:r>
            <a:endParaRPr dirty="0">
              <a:solidFill>
                <a:schemeClr val="accent2"/>
              </a:solidFill>
            </a:endParaRPr>
          </a:p>
          <a:p>
            <a:pPr marL="514350" lvl="1" indent="-1714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</a:pPr>
            <a:r>
              <a:rPr lang="en" dirty="0">
                <a:solidFill>
                  <a:schemeClr val="accent2"/>
                </a:solidFill>
              </a:rPr>
              <a:t>Use the math module (</a:t>
            </a:r>
            <a:r>
              <a:rPr lang="en" dirty="0" err="1">
                <a:solidFill>
                  <a:schemeClr val="accent2"/>
                </a:solidFill>
              </a:rPr>
              <a:t>math.pi</a:t>
            </a:r>
            <a:r>
              <a:rPr lang="en" dirty="0">
                <a:solidFill>
                  <a:schemeClr val="accent2"/>
                </a:solidFill>
              </a:rPr>
              <a:t>) when calculating the area of the pizzas.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More practice</a:t>
            </a:r>
            <a:endParaRPr/>
          </a:p>
        </p:txBody>
      </p:sp>
      <p:sp>
        <p:nvSpPr>
          <p:cNvPr id="404" name="Google Shape;404;p67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38962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Open a new folder in VS Code.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br>
              <a:rPr lang="en" dirty="0">
                <a:solidFill>
                  <a:schemeClr val="accent2"/>
                </a:solidFill>
              </a:rPr>
            </a:br>
            <a:r>
              <a:rPr lang="en" dirty="0">
                <a:solidFill>
                  <a:schemeClr val="accent2"/>
                </a:solidFill>
              </a:rPr>
              <a:t>Open a terminal in VS Code (Ctrl + ‘~’) and type the following command.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git clone </a:t>
            </a:r>
            <a:r>
              <a:rPr lang="en" u="sng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https://github.com/shafe123/AI2C-Prereqs.git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dirty="0">
                <a:solidFill>
                  <a:schemeClr val="accent2"/>
                </a:solidFill>
              </a:rPr>
              <a:t>Work through Lesson01Practice.py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Final Exercise</a:t>
            </a:r>
            <a:endParaRPr/>
          </a:p>
        </p:txBody>
      </p:sp>
      <p:sp>
        <p:nvSpPr>
          <p:cNvPr id="410" name="Google Shape;410;p68"/>
          <p:cNvSpPr txBox="1">
            <a:spLocks noGrp="1"/>
          </p:cNvSpPr>
          <p:nvPr>
            <p:ph type="body" sz="quarter" idx="11"/>
          </p:nvPr>
        </p:nvSpPr>
        <p:spPr>
          <a:xfrm>
            <a:off x="411480" y="1611630"/>
            <a:ext cx="815500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1. Copy the lyrics of your favorite song into a string variable.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2. Determine all the unique words in the song and the number of times they occur.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b="1" dirty="0">
                <a:solidFill>
                  <a:schemeClr val="accent2"/>
                </a:solidFill>
              </a:rPr>
              <a:t>*DISCLAIMER*  You will not be able to do this with only what you have been taught so far.  The intent is that you try to think through this for a little bit and inevitably look up a solution.  This exposes you to some of the things we are going to learn later on.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b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" dirty="0">
                <a:solidFill>
                  <a:schemeClr val="accent2"/>
                </a:solidFill>
              </a:rPr>
              <a:t>5 different solutions for this are given in Lesson01FinalProblemSolution.py</a:t>
            </a:r>
            <a:endParaRPr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1_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Words>2294</Words>
  <Application>Microsoft Macintosh PowerPoint</Application>
  <PresentationFormat>On-screen Show (16:9)</PresentationFormat>
  <Paragraphs>615</Paragraphs>
  <Slides>44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Arial Bold</vt:lpstr>
      <vt:lpstr>Consolas</vt:lpstr>
      <vt:lpstr>Courier New</vt:lpstr>
      <vt:lpstr>Play</vt:lpstr>
      <vt:lpstr>US Army 2023 AFC DEVCOM Logo</vt:lpstr>
      <vt:lpstr>1_US Army 2023 AFC DEVCOM Logo</vt:lpstr>
      <vt:lpstr>Ai2c technician cohort 7 lesson 1: intro to python</vt:lpstr>
      <vt:lpstr>AI2C Technician cohort 7</vt:lpstr>
      <vt:lpstr>Class Schedule </vt:lpstr>
      <vt:lpstr>Class Schedule </vt:lpstr>
      <vt:lpstr>Today's Schedule </vt:lpstr>
      <vt:lpstr>Cohort Chain of Command – Team 1</vt:lpstr>
      <vt:lpstr>Cohort Chain of Command – Team 2</vt:lpstr>
      <vt:lpstr>Cohort Chain of Command – Team 3</vt:lpstr>
      <vt:lpstr>Icebreaker – Human Bingo</vt:lpstr>
      <vt:lpstr>Icebreaker – Human Bingo</vt:lpstr>
      <vt:lpstr>Intros</vt:lpstr>
      <vt:lpstr>expectations</vt:lpstr>
      <vt:lpstr>Laptop Issues?</vt:lpstr>
      <vt:lpstr>AI2C Technician Cohort 7</vt:lpstr>
      <vt:lpstr>Let’s download Python</vt:lpstr>
      <vt:lpstr>Verify the download</vt:lpstr>
      <vt:lpstr>Interactive Python</vt:lpstr>
      <vt:lpstr>Integrated Development Environments (IDE)</vt:lpstr>
      <vt:lpstr>Visual Studio Code</vt:lpstr>
      <vt:lpstr>Running code in VS Code</vt:lpstr>
      <vt:lpstr>Saving Code on the Internet and version control?</vt:lpstr>
      <vt:lpstr>So what is Python?</vt:lpstr>
      <vt:lpstr>Data and datatypes</vt:lpstr>
      <vt:lpstr>Datatypes</vt:lpstr>
      <vt:lpstr>Immutable vs Mutable</vt:lpstr>
      <vt:lpstr>Variables can hold any data types</vt:lpstr>
      <vt:lpstr>Variables can hold any data types</vt:lpstr>
      <vt:lpstr>Instances can be stored in Data Structures</vt:lpstr>
      <vt:lpstr>Instances can be stored in Data Structures</vt:lpstr>
      <vt:lpstr>Data Type Conversion (Casting)</vt:lpstr>
      <vt:lpstr>In Class Exercise 1</vt:lpstr>
      <vt:lpstr>Variables</vt:lpstr>
      <vt:lpstr>Variable Naming Rules</vt:lpstr>
      <vt:lpstr>Variable Naming Best Practices and Conventions</vt:lpstr>
      <vt:lpstr>Functions</vt:lpstr>
      <vt:lpstr>More about functions</vt:lpstr>
      <vt:lpstr>Operators</vt:lpstr>
      <vt:lpstr>Order of Operations</vt:lpstr>
      <vt:lpstr>Take a Break</vt:lpstr>
      <vt:lpstr>The built-in functions aren’t enough…</vt:lpstr>
      <vt:lpstr>In Class Exercise</vt:lpstr>
      <vt:lpstr>Ice Breaker: The Pizza Argument</vt:lpstr>
      <vt:lpstr>More practice</vt:lpstr>
      <vt:lpstr>Final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Taylor, Brandon L SSG USARMY AI2C (USA)</cp:lastModifiedBy>
  <cp:revision>4</cp:revision>
  <dcterms:modified xsi:type="dcterms:W3CDTF">2025-12-22T17:18:58Z</dcterms:modified>
</cp:coreProperties>
</file>