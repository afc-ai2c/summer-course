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43"/>
  </p:notesMasterIdLst>
  <p:sldIdLst>
    <p:sldId id="299" r:id="rId2"/>
    <p:sldId id="256" r:id="rId3"/>
    <p:sldId id="257" r:id="rId4"/>
    <p:sldId id="259" r:id="rId5"/>
    <p:sldId id="263" r:id="rId6"/>
    <p:sldId id="264" r:id="rId7"/>
    <p:sldId id="265" r:id="rId8"/>
    <p:sldId id="266" r:id="rId9"/>
    <p:sldId id="267" r:id="rId10"/>
    <p:sldId id="303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302" r:id="rId20"/>
    <p:sldId id="304" r:id="rId21"/>
    <p:sldId id="276" r:id="rId22"/>
    <p:sldId id="305" r:id="rId23"/>
    <p:sldId id="277" r:id="rId24"/>
    <p:sldId id="300" r:id="rId25"/>
    <p:sldId id="284" r:id="rId26"/>
    <p:sldId id="291" r:id="rId27"/>
    <p:sldId id="292" r:id="rId28"/>
    <p:sldId id="285" r:id="rId29"/>
    <p:sldId id="306" r:id="rId30"/>
    <p:sldId id="301" r:id="rId31"/>
    <p:sldId id="308" r:id="rId32"/>
    <p:sldId id="287" r:id="rId33"/>
    <p:sldId id="307" r:id="rId34"/>
    <p:sldId id="293" r:id="rId35"/>
    <p:sldId id="309" r:id="rId36"/>
    <p:sldId id="289" r:id="rId37"/>
    <p:sldId id="310" r:id="rId38"/>
    <p:sldId id="311" r:id="rId39"/>
    <p:sldId id="312" r:id="rId40"/>
    <p:sldId id="313" r:id="rId41"/>
    <p:sldId id="298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/>
    <p:restoredTop sz="88629" autoAdjust="0"/>
  </p:normalViewPr>
  <p:slideViewPr>
    <p:cSldViewPr snapToGrid="0">
      <p:cViewPr varScale="1">
        <p:scale>
          <a:sx n="144" d="100"/>
          <a:sy n="144" d="100"/>
        </p:scale>
        <p:origin x="104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4a009736c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64a009736c_2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4a009736c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64a009736c_2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4a009736c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64a009736c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4a009736c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64a009736c_2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4a009736c_2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64a009736c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4a009736c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64a009736c_2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a009736c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64a009736c_2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4a009736c_2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64a009736c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4a009736c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64a009736c_2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4a009736c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64a009736c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Take 3-5 minutes to let people download Python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4a009736c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64a009736c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4a009736c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4a009736c_2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3-5 minutes for download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4a009736c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64a009736c_2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a009736c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64a009736c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4a009736c_2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64a009736c_2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4543D9CC-7E56-CC55-4FF8-9BB5116A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2BDAE34B-4BF1-52EA-A461-957F86987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D66910F0-4EC2-4D73-EF29-4687A9FB1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809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64a009736c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binary_demo.py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883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64a009736c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4a009736c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64a009736c_2_2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3AD028B9-EF2E-39CC-8555-E5F64A55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FBFC26D6-1573-BE95-405B-F3C7BB10E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E548D4FE-6C3E-078F-0EAE-CD7ACC04C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6EF7C67B-0491-C73F-72D3-D4A8999C7E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3946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EFAE6C7F-0239-263C-40F0-4409AE39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>
            <a:extLst>
              <a:ext uri="{FF2B5EF4-FFF2-40B4-BE49-F238E27FC236}">
                <a16:creationId xmlns:a16="http://schemas.microsoft.com/office/drawing/2014/main" id="{A7F07626-F769-63ED-A8C5-D934B2163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>
            <a:extLst>
              <a:ext uri="{FF2B5EF4-FFF2-40B4-BE49-F238E27FC236}">
                <a16:creationId xmlns:a16="http://schemas.microsoft.com/office/drawing/2014/main" id="{3A56F53B-8AFE-75CA-FB1B-B69C1DE07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>
            <a:extLst>
              <a:ext uri="{FF2B5EF4-FFF2-40B4-BE49-F238E27FC236}">
                <a16:creationId xmlns:a16="http://schemas.microsoft.com/office/drawing/2014/main" id="{E4C97AA2-01B3-E850-B0A7-96445DCBC7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2296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64a009736c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59A83625-484F-5D61-8522-8B0BB15B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>
            <a:extLst>
              <a:ext uri="{FF2B5EF4-FFF2-40B4-BE49-F238E27FC236}">
                <a16:creationId xmlns:a16="http://schemas.microsoft.com/office/drawing/2014/main" id="{5675A772-7D01-1B11-A419-3EDB6C5CA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g364a009736c_2_257:notes">
            <a:extLst>
              <a:ext uri="{FF2B5EF4-FFF2-40B4-BE49-F238E27FC236}">
                <a16:creationId xmlns:a16="http://schemas.microsoft.com/office/drawing/2014/main" id="{19FEA6A7-605F-6E9C-6CDE-918C2FC3D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9448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D1DB388B-D8C8-B7AF-DA4A-2E2170DE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1E842EB0-6396-B037-9E7A-18381198A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AB152011-E51C-8072-EF4C-FA66B157A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B49F4616-5FAB-B511-3493-CA05E7313D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199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4a009736c_2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364a009736c_2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www.codependentcodr.com/building-a-vs-code-extension-without-installing-node-by-docker-magic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-scm.com/" TargetMode="External"/><Relationship Id="rId4" Type="http://schemas.openxmlformats.org/officeDocument/2006/relationships/hyperlink" Target="https://github.com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8411-1094-C1F5-1084-577812B5A6F7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EB7E-576C-73E8-5B5F-2697010DCCAA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07F7BEF-9C77-B531-8DE5-B514C4F255F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104BDAF-E6C5-CA91-DC9C-A162E083C2A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E90EFF7-7E65-D2A7-19E4-C6FBAF35D12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127C14C-A7BB-77BF-7FCB-ABE76EC0891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0E9230-4B26-A842-0D16-588E614B3AA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68E0ED6-2B28-5CA4-A30B-CCCA36DD64D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964EDCB-FE00-1333-42BB-13D75D45210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248C6A0-ED75-EDBB-12BD-494DD21F8FB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CEE4DC2-09B5-3CCD-457B-6B4790DECE3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90EB5AB-E609-F5DD-EB53-4B56B810D3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E14C3F-58F5-2F80-022C-87483A479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r>
              <a:rPr lang="en-US" dirty="0"/>
              <a:t>Ai2c technician cohort 7</a:t>
            </a:r>
            <a:br>
              <a:rPr lang="en-US" dirty="0"/>
            </a:br>
            <a:r>
              <a:rPr lang="en-US" dirty="0"/>
              <a:t>lesson 1:</a:t>
            </a:r>
            <a:br>
              <a:rPr lang="en-US" dirty="0"/>
            </a:br>
            <a:r>
              <a:rPr lang="en-US" dirty="0"/>
              <a:t>intro to python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74F79F2D-9AB0-807C-BF93-1082689FCD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DFCABD0-D84B-718A-39EB-8F3061855B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5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AI2C Technician cohort 7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7773532-8C50-2C4F-06E5-1CEEB1D9B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r>
              <a:rPr lang="en" dirty="0"/>
              <a:t>Admin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/>
              <a:t>Class Schedule</a:t>
            </a:r>
            <a:br>
              <a:rPr lang="en-US"/>
            </a:br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78A7DFB-8812-084E-6318-862E42DA7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2394033"/>
              </p:ext>
            </p:extLst>
          </p:nvPr>
        </p:nvGraphicFramePr>
        <p:xfrm>
          <a:off x="411163" y="2151365"/>
          <a:ext cx="8269287" cy="1700559"/>
        </p:xfrm>
        <a:graphic>
          <a:graphicData uri="http://schemas.openxmlformats.org/drawingml/2006/table">
            <a:tbl>
              <a:tblPr firstRow="1"/>
              <a:tblGrid>
                <a:gridCol w="555114">
                  <a:extLst>
                    <a:ext uri="{9D8B030D-6E8A-4147-A177-3AD203B41FA5}">
                      <a16:colId xmlns:a16="http://schemas.microsoft.com/office/drawing/2014/main" val="3493902711"/>
                    </a:ext>
                  </a:extLst>
                </a:gridCol>
                <a:gridCol w="363695">
                  <a:extLst>
                    <a:ext uri="{9D8B030D-6E8A-4147-A177-3AD203B41FA5}">
                      <a16:colId xmlns:a16="http://schemas.microsoft.com/office/drawing/2014/main" val="3990861113"/>
                    </a:ext>
                  </a:extLst>
                </a:gridCol>
                <a:gridCol w="1837619">
                  <a:extLst>
                    <a:ext uri="{9D8B030D-6E8A-4147-A177-3AD203B41FA5}">
                      <a16:colId xmlns:a16="http://schemas.microsoft.com/office/drawing/2014/main" val="3967919655"/>
                    </a:ext>
                  </a:extLst>
                </a:gridCol>
                <a:gridCol w="1349502">
                  <a:extLst>
                    <a:ext uri="{9D8B030D-6E8A-4147-A177-3AD203B41FA5}">
                      <a16:colId xmlns:a16="http://schemas.microsoft.com/office/drawing/2014/main" val="2413914336"/>
                    </a:ext>
                  </a:extLst>
                </a:gridCol>
                <a:gridCol w="1923758">
                  <a:extLst>
                    <a:ext uri="{9D8B030D-6E8A-4147-A177-3AD203B41FA5}">
                      <a16:colId xmlns:a16="http://schemas.microsoft.com/office/drawing/2014/main" val="3172591029"/>
                    </a:ext>
                  </a:extLst>
                </a:gridCol>
                <a:gridCol w="1588775">
                  <a:extLst>
                    <a:ext uri="{9D8B030D-6E8A-4147-A177-3AD203B41FA5}">
                      <a16:colId xmlns:a16="http://schemas.microsoft.com/office/drawing/2014/main" val="640240224"/>
                    </a:ext>
                  </a:extLst>
                </a:gridCol>
                <a:gridCol w="650824">
                  <a:extLst>
                    <a:ext uri="{9D8B030D-6E8A-4147-A177-3AD203B41FA5}">
                      <a16:colId xmlns:a16="http://schemas.microsoft.com/office/drawing/2014/main" val="2291953021"/>
                    </a:ext>
                  </a:extLst>
                </a:gridCol>
              </a:tblGrid>
              <a:tr h="138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Day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Morning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Morning Responsible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Afternoon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Afternoon Responsible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21832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08-Jul-26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Wed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Basics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CPT Friedel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 to Linux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250002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Conditionals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CPT Friedel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Basic Networking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678341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Control Structures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Neville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Linux File Paths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465728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Wed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File I/O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Neville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Reading Documentation, Error Messages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Neville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592868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Error Handling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Neville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 to Version Control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243501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Data Structures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Neville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Git Branching &amp; Merging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678517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Wed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OOP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Git Working With Others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898084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Clean Code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 to Cloud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CB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507164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Practical Exercise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Neville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 Service Models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CB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06139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Wed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HTTP and APIs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 Resources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CB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086160"/>
                  </a:ext>
                </a:extLst>
              </a:tr>
              <a:tr h="13877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31-Jul-26</a:t>
                      </a:r>
                    </a:p>
                  </a:txBody>
                  <a:tcPr marL="4785" marR="4785" marT="478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 Debugging and Refactoring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Containers and Images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CB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 Shafer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Fences</a:t>
                      </a:r>
                    </a:p>
                  </a:txBody>
                  <a:tcPr marL="4785" marR="4785" marT="478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4329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4BC45BE-B0A7-4CBD-D48B-A8D117F39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49475"/>
              </p:ext>
            </p:extLst>
          </p:nvPr>
        </p:nvGraphicFramePr>
        <p:xfrm>
          <a:off x="8083274" y="4088019"/>
          <a:ext cx="597176" cy="736600"/>
        </p:xfrm>
        <a:graphic>
          <a:graphicData uri="http://schemas.openxmlformats.org/drawingml/2006/table">
            <a:tbl>
              <a:tblPr/>
              <a:tblGrid>
                <a:gridCol w="597176">
                  <a:extLst>
                    <a:ext uri="{9D8B030D-6E8A-4147-A177-3AD203B41FA5}">
                      <a16:colId xmlns:a16="http://schemas.microsoft.com/office/drawing/2014/main" val="151252959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Python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0794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Linux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40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1C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5714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DevOps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A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968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/>
              <a:t>Today's Schedule</a:t>
            </a:r>
            <a:br>
              <a:rPr lang="en-US"/>
            </a:br>
            <a:endParaRPr lang="en-US"/>
          </a:p>
        </p:txBody>
      </p:sp>
      <p:graphicFrame>
        <p:nvGraphicFramePr>
          <p:cNvPr id="3" name="Google Shape;152;p29">
            <a:extLst>
              <a:ext uri="{FF2B5EF4-FFF2-40B4-BE49-F238E27FC236}">
                <a16:creationId xmlns:a16="http://schemas.microsoft.com/office/drawing/2014/main" id="{2DD591F1-87E7-C72A-CEBF-E6704CA7D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53462"/>
              </p:ext>
            </p:extLst>
          </p:nvPr>
        </p:nvGraphicFramePr>
        <p:xfrm>
          <a:off x="411163" y="1200150"/>
          <a:ext cx="8269286" cy="1606372"/>
        </p:xfrm>
        <a:graphic>
          <a:graphicData uri="http://schemas.openxmlformats.org/drawingml/2006/table">
            <a:tbl>
              <a:tblPr firstRow="1" bandRow="1">
                <a:noFill/>
                <a:tableStyleId>{AA323327-17F7-4230-B99A-3A7D3BBB913F}</a:tableStyleId>
              </a:tblPr>
              <a:tblGrid>
                <a:gridCol w="4134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5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u="none" strike="noStrike" cap="none"/>
                        <a:t>Time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Event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5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0900-0930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3139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Icebreaker and Intros</a:t>
                      </a:r>
                      <a:endParaRPr sz="1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5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0930-1200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Python Basics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5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1200-1300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Lunch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1300-1500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Intro to Linux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Icebreaker – Human Bingo</a:t>
            </a:r>
          </a:p>
        </p:txBody>
      </p:sp>
      <p:sp>
        <p:nvSpPr>
          <p:cNvPr id="3" name="Google Shape;176;p33">
            <a:extLst>
              <a:ext uri="{FF2B5EF4-FFF2-40B4-BE49-F238E27FC236}">
                <a16:creationId xmlns:a16="http://schemas.microsoft.com/office/drawing/2014/main" id="{5050C7B4-5E88-AE05-B730-8A5EC6CBB84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ym typeface="Arial"/>
              </a:rPr>
              <a:t> First 3 Bingos win a prize!</a:t>
            </a:r>
          </a:p>
          <a:p>
            <a:pPr lvl="0"/>
            <a:endParaRPr lang="en-US" dirty="0">
              <a:sym typeface="Arial"/>
            </a:endParaRPr>
          </a:p>
          <a:p>
            <a:pPr lvl="0"/>
            <a:endParaRPr lang="en-US" dirty="0">
              <a:sym typeface="Arial"/>
            </a:endParaRPr>
          </a:p>
          <a:p>
            <a:r>
              <a:rPr lang="en-US" dirty="0">
                <a:sym typeface="Arial"/>
              </a:rPr>
              <a:t> To win, you must be able to correctly identify the people on your card.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E833D0-7C7E-4BAE-AAD1-4584E27B4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</p:spPr>
        <p:txBody>
          <a:bodyPr/>
          <a:lstStyle/>
          <a:p>
            <a:r>
              <a:rPr lang="en" dirty="0"/>
              <a:t>Icebreaker – Human Bingo</a:t>
            </a:r>
            <a:endParaRPr lang="en-US" dirty="0"/>
          </a:p>
        </p:txBody>
      </p:sp>
      <p:pic>
        <p:nvPicPr>
          <p:cNvPr id="7" name="Google Shape;181;p34">
            <a:extLst>
              <a:ext uri="{FF2B5EF4-FFF2-40B4-BE49-F238E27FC236}">
                <a16:creationId xmlns:a16="http://schemas.microsoft.com/office/drawing/2014/main" id="{354C2F5D-5179-D0EA-B4EC-A9D3A048D4D4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1497806" y="1200150"/>
            <a:ext cx="6096000" cy="3429000"/>
          </a:xfr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Intros</a:t>
            </a:r>
          </a:p>
        </p:txBody>
      </p:sp>
      <p:sp>
        <p:nvSpPr>
          <p:cNvPr id="4" name="Google Shape;187;p35">
            <a:extLst>
              <a:ext uri="{FF2B5EF4-FFF2-40B4-BE49-F238E27FC236}">
                <a16:creationId xmlns:a16="http://schemas.microsoft.com/office/drawing/2014/main" id="{22211E24-5FD0-CCFF-A52E-093BEFD1262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ym typeface="Arial"/>
              </a:rPr>
              <a:t> Name</a:t>
            </a:r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Rank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What you do in the Army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Where you're coming from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Your experience level with AI/Tech/Coding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expectations</a:t>
            </a:r>
          </a:p>
        </p:txBody>
      </p:sp>
      <p:sp>
        <p:nvSpPr>
          <p:cNvPr id="4" name="Google Shape;193;p36">
            <a:extLst>
              <a:ext uri="{FF2B5EF4-FFF2-40B4-BE49-F238E27FC236}">
                <a16:creationId xmlns:a16="http://schemas.microsoft.com/office/drawing/2014/main" id="{4998A9B1-50EC-71EF-AAB1-C4CF703E236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US" dirty="0"/>
              <a:t>College courses</a:t>
            </a:r>
          </a:p>
          <a:p>
            <a:endParaRPr lang="en-US" dirty="0"/>
          </a:p>
          <a:p>
            <a:r>
              <a:rPr lang="en-US" dirty="0"/>
              <a:t>Python experience</a:t>
            </a:r>
          </a:p>
          <a:p>
            <a:pPr lvl="1"/>
            <a:r>
              <a:rPr lang="en-US" dirty="0"/>
              <a:t>DevOps</a:t>
            </a:r>
          </a:p>
          <a:p>
            <a:pPr lvl="1"/>
            <a:r>
              <a:rPr lang="en-US" dirty="0"/>
              <a:t>Cloud</a:t>
            </a:r>
          </a:p>
          <a:p>
            <a:pPr lvl="1"/>
            <a:endParaRPr lang="en-US" dirty="0"/>
          </a:p>
          <a:p>
            <a:r>
              <a:rPr lang="en-US" dirty="0"/>
              <a:t>Garbage in, garbage out</a:t>
            </a:r>
          </a:p>
          <a:p>
            <a:pPr lvl="1"/>
            <a:r>
              <a:rPr lang="en-US" dirty="0"/>
              <a:t>Do the material</a:t>
            </a:r>
          </a:p>
          <a:p>
            <a:pPr lvl="1"/>
            <a:r>
              <a:rPr lang="en-US" dirty="0"/>
              <a:t>Optional exercises</a:t>
            </a:r>
          </a:p>
          <a:p>
            <a:pPr lvl="1"/>
            <a:r>
              <a:rPr lang="en-US" dirty="0"/>
              <a:t>Accelerated program, no spoon-feeding</a:t>
            </a:r>
          </a:p>
          <a:p>
            <a:endParaRPr lang="en-US" dirty="0"/>
          </a:p>
          <a:p>
            <a:r>
              <a:rPr lang="en-US" dirty="0"/>
              <a:t>Academic Freedom / Equality</a:t>
            </a:r>
          </a:p>
          <a:p>
            <a:endParaRPr lang="en-US" dirty="0"/>
          </a:p>
          <a:p>
            <a:r>
              <a:rPr lang="en-US" dirty="0"/>
              <a:t>What do you want out of this?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Laptop Issues?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80243D-A840-51CD-0968-CA50584FF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0A22D-68A3-E9A5-CD56-480007C21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02F6FC-727C-3EEE-67C4-23B1FD72DD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10A1340-CE28-C670-A516-F6A70B805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125D7-D447-4FE8-E456-399814B620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A08D5-2EB0-4E21-A836-11205D7997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65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AI2C Technician Cohort 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23F63-0F1F-C732-32C1-147BBBC04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r>
              <a:rPr lang="en" dirty="0"/>
              <a:t>Lesson 1 – Intro to Python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Let’s download Python</a:t>
            </a:r>
          </a:p>
        </p:txBody>
      </p:sp>
      <p:sp>
        <p:nvSpPr>
          <p:cNvPr id="211" name="Google Shape;211;p39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If you haven’t already… go to </a:t>
            </a:r>
            <a:r>
              <a:rPr lang="en-US" dirty="0" err="1"/>
              <a:t>python.org</a:t>
            </a:r>
            <a:r>
              <a:rPr lang="en-US" dirty="0"/>
              <a:t> and download the latest release of Python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868" y="2220998"/>
            <a:ext cx="6530264" cy="2613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Verify the download</a:t>
            </a:r>
          </a:p>
        </p:txBody>
      </p:sp>
      <p:sp>
        <p:nvSpPr>
          <p:cNvPr id="218" name="Google Shape;218;p40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/>
            <a:r>
              <a:rPr lang="en-US" dirty="0"/>
              <a:t>Open a command prompt and type in “python”.  Your terminal should indicate it is running Python with the “&gt;&gt;&gt;” 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Run a few basic commands. </a:t>
            </a:r>
          </a:p>
          <a:p>
            <a:pPr lvl="0"/>
            <a:r>
              <a:rPr lang="en-US" dirty="0"/>
              <a:t>	x = 5</a:t>
            </a:r>
          </a:p>
          <a:p>
            <a:pPr lvl="0"/>
            <a:r>
              <a:rPr lang="en-US" dirty="0"/>
              <a:t>	x+2</a:t>
            </a:r>
          </a:p>
        </p:txBody>
      </p:sp>
      <p:pic>
        <p:nvPicPr>
          <p:cNvPr id="219" name="Google Shape;219;p40" descr="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" t="984" r="18696" b="49830"/>
          <a:stretch/>
        </p:blipFill>
        <p:spPr>
          <a:xfrm>
            <a:off x="1433221" y="1841500"/>
            <a:ext cx="5780380" cy="1802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Interactive Python</a:t>
            </a:r>
          </a:p>
        </p:txBody>
      </p:sp>
      <p:sp>
        <p:nvSpPr>
          <p:cNvPr id="225" name="Google Shape;225;p41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Running Python in the terminal like this is great way to interactively see what individual lines of code do but…</a:t>
            </a:r>
          </a:p>
          <a:p>
            <a:pPr lvl="0"/>
            <a:endParaRPr lang="en-US" dirty="0"/>
          </a:p>
          <a:p>
            <a:r>
              <a:rPr lang="en-US" dirty="0"/>
              <a:t>Oftentimes we want to run dozens (or hundreds) of lines of code at a time.  For this, we want to write python scripts.</a:t>
            </a:r>
          </a:p>
          <a:p>
            <a:endParaRPr lang="en-US" dirty="0"/>
          </a:p>
          <a:p>
            <a:r>
              <a:rPr lang="en-US" dirty="0"/>
              <a:t>It would also be nice if there was software that would help us write and manage code, have useful plugins, be integrated with AI,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We need an Integrated Development Environment (IDE)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Integrated Development Environments (IDE)</a:t>
            </a:r>
          </a:p>
        </p:txBody>
      </p:sp>
      <p:sp>
        <p:nvSpPr>
          <p:cNvPr id="231" name="Google Shape;231;p4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There are many IDEs that can help you write and manage code. </a:t>
            </a:r>
          </a:p>
        </p:txBody>
      </p:sp>
      <p:pic>
        <p:nvPicPr>
          <p:cNvPr id="232" name="Google Shape;232;p42" descr="Visual Studio Code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345" y="2284190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5755" y="2284192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2282" y="2284191"/>
            <a:ext cx="2196182" cy="176840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35" name="Google Shape;235;p42"/>
          <p:cNvSpPr txBox="1"/>
          <p:nvPr/>
        </p:nvSpPr>
        <p:spPr>
          <a:xfrm>
            <a:off x="641350" y="4465557"/>
            <a:ext cx="22530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Visual Studio Code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36" name="Google Shape;236;p42"/>
          <p:cNvSpPr txBox="1"/>
          <p:nvPr/>
        </p:nvSpPr>
        <p:spPr>
          <a:xfrm>
            <a:off x="3961226" y="4465557"/>
            <a:ext cx="1622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PyCharm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37" name="Google Shape;237;p42"/>
          <p:cNvSpPr txBox="1"/>
          <p:nvPr/>
        </p:nvSpPr>
        <p:spPr>
          <a:xfrm>
            <a:off x="7040736" y="4407065"/>
            <a:ext cx="1622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Notepad++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Visual Studio Code</a:t>
            </a:r>
          </a:p>
        </p:txBody>
      </p:sp>
      <p:sp>
        <p:nvSpPr>
          <p:cNvPr id="242" name="Google Shape;242;p43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We use VS Code in AI2C, and you will use it for classes at CMU.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VS Code has great version control management built in and many great plug-ins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Take a few minutes to download VS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Running code in VS Code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E27E1E-4344-49AD-12D8-B7FB401A0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1480" y="1611630"/>
            <a:ext cx="3422583" cy="3017520"/>
          </a:xfrm>
        </p:spPr>
        <p:txBody>
          <a:bodyPr/>
          <a:lstStyle/>
          <a:p>
            <a:r>
              <a:rPr lang="en-US" dirty="0"/>
              <a:t>Give a quick tutorial on using the terminal in VS Code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68B15CE-96CE-F60B-B4C7-BD6F827027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50453" y="1151221"/>
            <a:ext cx="4906798" cy="3683668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/>
              <a:t>Saving Code on the Internet and version control?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B81FB1-8F8E-2FF9-F09D-A7E77E215A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11163" y="1384189"/>
            <a:ext cx="4024312" cy="306092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E02F45-AFB6-CAA8-8618-ACCB966647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1600" dirty="0"/>
          </a:p>
          <a:p>
            <a:r>
              <a:rPr lang="en-US" sz="1600" dirty="0"/>
              <a:t>Go to </a:t>
            </a:r>
            <a:r>
              <a:rPr lang="en-US" sz="1600" dirty="0">
                <a:hlinkClick r:id="rId4"/>
              </a:rPr>
              <a:t>https://github.com</a:t>
            </a:r>
            <a:r>
              <a:rPr lang="en-US" sz="1600" dirty="0"/>
              <a:t> and setup a </a:t>
            </a:r>
            <a:r>
              <a:rPr lang="en-US" sz="1600" dirty="0" err="1"/>
              <a:t>github</a:t>
            </a:r>
            <a:r>
              <a:rPr lang="en-US" sz="1600" dirty="0"/>
              <a:t> account.</a:t>
            </a:r>
          </a:p>
          <a:p>
            <a:r>
              <a:rPr lang="en-US" sz="1600" dirty="0"/>
              <a:t>Also download git at </a:t>
            </a:r>
            <a:r>
              <a:rPr lang="en-US" sz="1600" dirty="0">
                <a:hlinkClick r:id="rId5"/>
              </a:rPr>
              <a:t>https://git-scm.com</a:t>
            </a:r>
            <a:r>
              <a:rPr lang="en-US" sz="1600" dirty="0"/>
              <a:t>.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115FCC-A099-263E-3D44-13509AA291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2E3CE6B-D76B-58BD-9DCD-B098F5AE2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Programming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CA47A-676C-61C7-9056-A28AD59AC7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F1A61-221A-7D20-4937-904BE4B247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28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F4084A2D-BCD8-799E-EBFF-72120E9A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>
            <a:extLst>
              <a:ext uri="{FF2B5EF4-FFF2-40B4-BE49-F238E27FC236}">
                <a16:creationId xmlns:a16="http://schemas.microsoft.com/office/drawing/2014/main" id="{E49FBB25-0B72-0CF6-3415-DF06EC72F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What is a Program?</a:t>
            </a:r>
          </a:p>
        </p:txBody>
      </p:sp>
      <p:sp>
        <p:nvSpPr>
          <p:cNvPr id="261" name="Google Shape;261;p46">
            <a:extLst>
              <a:ext uri="{FF2B5EF4-FFF2-40B4-BE49-F238E27FC236}">
                <a16:creationId xmlns:a16="http://schemas.microsoft.com/office/drawing/2014/main" id="{BA24EEA5-E568-0A4E-535F-E8DF716199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series of instructions</a:t>
            </a:r>
          </a:p>
          <a:p>
            <a:pPr lvl="0"/>
            <a:r>
              <a:rPr lang="en-US" dirty="0"/>
              <a:t>Executed in order</a:t>
            </a:r>
          </a:p>
          <a:p>
            <a:pPr lvl="0"/>
            <a:r>
              <a:rPr lang="en-US" dirty="0"/>
              <a:t>On a computer</a:t>
            </a:r>
          </a:p>
          <a:p>
            <a:pPr lvl="0"/>
            <a:r>
              <a:rPr lang="en-US" dirty="0"/>
              <a:t>Requires</a:t>
            </a:r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Memory / storage</a:t>
            </a:r>
          </a:p>
          <a:p>
            <a:pPr lvl="1"/>
            <a:endParaRPr lang="en-US" dirty="0"/>
          </a:p>
          <a:p>
            <a:r>
              <a:rPr lang="en-US" dirty="0"/>
              <a:t>Generally, </a:t>
            </a:r>
            <a:r>
              <a:rPr lang="en-US" i="1" dirty="0"/>
              <a:t>data</a:t>
            </a:r>
            <a:r>
              <a:rPr lang="en-US" dirty="0"/>
              <a:t> is the most important thing</a:t>
            </a:r>
          </a:p>
          <a:p>
            <a:pPr lvl="1"/>
            <a:r>
              <a:rPr lang="en-US" dirty="0"/>
              <a:t>Process</a:t>
            </a:r>
          </a:p>
          <a:p>
            <a:pPr lvl="1"/>
            <a:r>
              <a:rPr lang="en-US" dirty="0"/>
              <a:t>Manipulate</a:t>
            </a:r>
          </a:p>
          <a:p>
            <a:pPr lvl="1"/>
            <a:r>
              <a:rPr lang="en-US" dirty="0"/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244399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So what is Python?</a:t>
            </a:r>
          </a:p>
        </p:txBody>
      </p:sp>
      <p:sp>
        <p:nvSpPr>
          <p:cNvPr id="261" name="Google Shape;261;p46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High-level, interpreted </a:t>
            </a:r>
            <a:r>
              <a:rPr lang="en-US" i="1" dirty="0"/>
              <a:t>program</a:t>
            </a:r>
            <a:r>
              <a:rPr lang="en-US" dirty="0"/>
              <a:t>ming language 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readability</a:t>
            </a:r>
          </a:p>
          <a:p>
            <a:pPr lvl="1"/>
            <a:r>
              <a:rPr lang="en-US" dirty="0"/>
              <a:t>versatility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Widely used</a:t>
            </a:r>
          </a:p>
          <a:p>
            <a:pPr lvl="1"/>
            <a:r>
              <a:rPr lang="en-US" dirty="0"/>
              <a:t>Professionals, amateurs</a:t>
            </a:r>
          </a:p>
          <a:p>
            <a:pPr lvl="1"/>
            <a:r>
              <a:rPr lang="en-US" dirty="0"/>
              <a:t>Web dev, data science, automation, 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D3F4-B81F-5FCC-770B-0F5B4AC6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Interpreter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0F3DD-DCFF-65A0-2B71-D24A23204D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 to your terminal and start the python executable</a:t>
            </a:r>
          </a:p>
          <a:p>
            <a:r>
              <a:rPr lang="en-US" dirty="0"/>
              <a:t>The interpreter runs python code</a:t>
            </a:r>
          </a:p>
          <a:p>
            <a:r>
              <a:rPr lang="en-US" dirty="0"/>
              <a:t>Lines preceded by ‘&gt;&gt;&gt;’ are instructions</a:t>
            </a:r>
          </a:p>
          <a:p>
            <a:r>
              <a:rPr lang="en-US" dirty="0"/>
              <a:t>Other lines are results</a:t>
            </a:r>
          </a:p>
          <a:p>
            <a:r>
              <a:rPr lang="en-US" i="1" dirty="0"/>
              <a:t>Expressions</a:t>
            </a:r>
            <a:r>
              <a:rPr lang="en-US" dirty="0"/>
              <a:t> evaluate to a specific value</a:t>
            </a:r>
          </a:p>
          <a:p>
            <a:pPr lvl="1"/>
            <a:r>
              <a:rPr lang="en-US" dirty="0"/>
              <a:t>5 + 7 </a:t>
            </a:r>
            <a:r>
              <a:rPr lang="en-US" dirty="0">
                <a:sym typeface="Wingdings" panose="05000000000000000000" pitchFamily="2" charset="2"/>
              </a:rPr>
              <a:t> 12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True or False  False</a:t>
            </a:r>
          </a:p>
          <a:p>
            <a:endParaRPr lang="en-US" i="1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Statements</a:t>
            </a:r>
            <a:r>
              <a:rPr lang="en-US" dirty="0">
                <a:sym typeface="Wingdings" panose="05000000000000000000" pitchFamily="2" charset="2"/>
              </a:rPr>
              <a:t> do not evaluate to a specific value but may have other </a:t>
            </a:r>
            <a:r>
              <a:rPr lang="en-US" i="1" dirty="0">
                <a:sym typeface="Wingdings" panose="05000000000000000000" pitchFamily="2" charset="2"/>
              </a:rPr>
              <a:t>side effects</a:t>
            </a:r>
            <a:r>
              <a:rPr lang="en-US" dirty="0">
                <a:sym typeface="Wingdings" panose="05000000000000000000" pitchFamily="2" charset="2"/>
              </a:rPr>
              <a:t> (more on this later)</a:t>
            </a:r>
            <a:endParaRPr lang="en-US" i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28DB04-280A-CD3A-F2E4-A669ADF9F6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525" y="2201518"/>
            <a:ext cx="4024313" cy="14262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A0D1-6091-00EC-3E96-67BD2994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AE3B9-EB21-F250-75E4-840EE9568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39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Data and datatypes</a:t>
            </a:r>
          </a:p>
        </p:txBody>
      </p:sp>
      <p:sp>
        <p:nvSpPr>
          <p:cNvPr id="267" name="Google Shape;267;p4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This is important.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Computers classify data into different datatypes.  For instance:</a:t>
            </a:r>
          </a:p>
          <a:p>
            <a:pPr lvl="1"/>
            <a:r>
              <a:rPr lang="en-US" dirty="0"/>
              <a:t>6 is an integer</a:t>
            </a:r>
          </a:p>
          <a:p>
            <a:pPr lvl="1"/>
            <a:r>
              <a:rPr lang="en-US" dirty="0"/>
              <a:t>25.5 is a floating point number (float)</a:t>
            </a:r>
          </a:p>
          <a:p>
            <a:pPr lvl="1"/>
            <a:r>
              <a:rPr lang="en-US" dirty="0"/>
              <a:t>“Hello” is a string</a:t>
            </a:r>
          </a:p>
          <a:p>
            <a:pPr lvl="1"/>
            <a:r>
              <a:rPr lang="en-US" dirty="0"/>
              <a:t>True is a </a:t>
            </a:r>
            <a:r>
              <a:rPr lang="en-US" dirty="0" err="1"/>
              <a:t>boolean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Python will interact with different datatypes differently.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B7793-1F6B-ED9D-D691-633E4C5D1D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dirty="0"/>
              <a:t>Give examples of the following primitive datatypes:</a:t>
            </a:r>
          </a:p>
          <a:p>
            <a:pPr lvl="1"/>
            <a:r>
              <a:rPr lang="en-US" dirty="0"/>
              <a:t>Integers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Boolean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2DED-686C-354A-03AA-8C310523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03FA-440C-E5A0-88B6-F6D53B839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AC81-FB1F-9F08-D768-CB1A89B829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1,668,247,404 (int)</a:t>
            </a:r>
          </a:p>
          <a:p>
            <a:r>
              <a:rPr lang="en-US" dirty="0"/>
              <a:t>4.4168006258522776e+21 (float)</a:t>
            </a:r>
          </a:p>
          <a:p>
            <a:r>
              <a:rPr lang="en-US" dirty="0"/>
              <a:t>"cool" (string)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B38C4-45F3-1654-A84A-E5E00E36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E803-317A-C6AF-DB96-475300B4C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Data Type Conversion (Casting)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C5B9A8-13B2-1DF9-516C-B276FB4C4E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27894" y="1781175"/>
            <a:ext cx="29908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64C403-3397-DF2F-D446-1511CACE48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There are predefined </a:t>
            </a:r>
            <a:r>
              <a:rPr lang="en-US" i="1" dirty="0"/>
              <a:t>functions </a:t>
            </a:r>
            <a:r>
              <a:rPr lang="en-US" dirty="0"/>
              <a:t>we can use to </a:t>
            </a:r>
            <a:r>
              <a:rPr lang="en-US" i="1" dirty="0"/>
              <a:t>explicitly</a:t>
            </a:r>
            <a:r>
              <a:rPr lang="en-US" dirty="0"/>
              <a:t> convert data from one type to another: </a:t>
            </a:r>
          </a:p>
          <a:p>
            <a:pPr lvl="1"/>
            <a:r>
              <a:rPr lang="en-US" dirty="0"/>
              <a:t>int()</a:t>
            </a:r>
          </a:p>
          <a:p>
            <a:pPr lvl="1"/>
            <a:r>
              <a:rPr lang="en-US" dirty="0"/>
              <a:t>float()</a:t>
            </a:r>
          </a:p>
          <a:p>
            <a:pPr lvl="1"/>
            <a:r>
              <a:rPr lang="en-US" dirty="0"/>
              <a:t>str()</a:t>
            </a:r>
          </a:p>
          <a:p>
            <a:pPr lvl="1"/>
            <a:r>
              <a:rPr lang="en-US" dirty="0"/>
              <a:t>bool()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E9037-AF7F-F338-4384-89156B460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6" name="Google Shape;356;p61"/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/>
          <p:cNvGraphicFramePr/>
          <p:nvPr>
            <p:extLst>
              <p:ext uri="{D42A27DB-BD31-4B8C-83A1-F6EECF244321}">
                <p14:modId xmlns:p14="http://schemas.microsoft.com/office/powerpoint/2010/main" val="1297845240"/>
              </p:ext>
            </p:extLst>
          </p:nvPr>
        </p:nvGraphicFramePr>
        <p:xfrm>
          <a:off x="480060" y="1440180"/>
          <a:ext cx="2427725" cy="312248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69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sz="1400" b="0" i="1" u="none" strike="noStrike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58" name="Google Shape;358;p61"/>
          <p:cNvGraphicFramePr/>
          <p:nvPr>
            <p:extLst>
              <p:ext uri="{D42A27DB-BD31-4B8C-83A1-F6EECF244321}">
                <p14:modId xmlns:p14="http://schemas.microsoft.com/office/powerpoint/2010/main" val="1250919493"/>
              </p:ext>
            </p:extLst>
          </p:nvPr>
        </p:nvGraphicFramePr>
        <p:xfrm>
          <a:off x="5760721" y="1028699"/>
          <a:ext cx="2365458" cy="24004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9" name="Google Shape;359;p61"/>
          <p:cNvGraphicFramePr/>
          <p:nvPr>
            <p:extLst>
              <p:ext uri="{D42A27DB-BD31-4B8C-83A1-F6EECF244321}">
                <p14:modId xmlns:p14="http://schemas.microsoft.com/office/powerpoint/2010/main" val="1966445913"/>
              </p:ext>
            </p:extLst>
          </p:nvPr>
        </p:nvGraphicFramePr>
        <p:xfrm>
          <a:off x="3074671" y="1020054"/>
          <a:ext cx="2427724" cy="24690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4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0" name="Google Shape;360;p61"/>
          <p:cNvSpPr/>
          <p:nvPr/>
        </p:nvSpPr>
        <p:spPr>
          <a:xfrm>
            <a:off x="480059" y="1136072"/>
            <a:ext cx="2427723" cy="23552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  <p:sp>
        <p:nvSpPr>
          <p:cNvPr id="361" name="Google Shape;361;p61"/>
          <p:cNvSpPr/>
          <p:nvPr/>
        </p:nvSpPr>
        <p:spPr>
          <a:xfrm>
            <a:off x="3074671" y="711791"/>
            <a:ext cx="2427723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  <p:sp>
        <p:nvSpPr>
          <p:cNvPr id="362" name="Google Shape;362;p61"/>
          <p:cNvSpPr/>
          <p:nvPr/>
        </p:nvSpPr>
        <p:spPr>
          <a:xfrm>
            <a:off x="5754408" y="720436"/>
            <a:ext cx="2365457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/>
          <p:cNvSpPr/>
          <p:nvPr/>
        </p:nvSpPr>
        <p:spPr>
          <a:xfrm>
            <a:off x="5760719" y="3463636"/>
            <a:ext cx="2359145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/>
          <p:cNvGraphicFramePr/>
          <p:nvPr>
            <p:extLst>
              <p:ext uri="{D42A27DB-BD31-4B8C-83A1-F6EECF244321}">
                <p14:modId xmlns:p14="http://schemas.microsoft.com/office/powerpoint/2010/main" val="954701164"/>
              </p:ext>
            </p:extLst>
          </p:nvPr>
        </p:nvGraphicFramePr>
        <p:xfrm>
          <a:off x="5754406" y="3771851"/>
          <a:ext cx="2365458" cy="134120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7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Meaning</a:t>
                      </a:r>
                      <a:endParaRPr dirty="0"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5" name="Google Shape;365;p61"/>
          <p:cNvSpPr/>
          <p:nvPr/>
        </p:nvSpPr>
        <p:spPr>
          <a:xfrm>
            <a:off x="3097530" y="3595256"/>
            <a:ext cx="2153607" cy="127751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Order of Operations</a:t>
            </a:r>
          </a:p>
        </p:txBody>
      </p:sp>
      <p:sp>
        <p:nvSpPr>
          <p:cNvPr id="372" name="Google Shape;372;p6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 order of operations in Python is essentially the same as in math you are already familiar with: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Expressions in parentheses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Exponentiation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Multiplication, division, integer division, and modulo (remainder)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Addition and subtraction</a:t>
            </a:r>
          </a:p>
          <a:p>
            <a:pPr lvl="0"/>
            <a:r>
              <a:rPr lang="en-US" dirty="0"/>
              <a:t>Operators with the same precedence (except for </a:t>
            </a:r>
            <a:r>
              <a:rPr lang="en-US" dirty="0">
                <a:sym typeface="Consolas"/>
              </a:rPr>
              <a:t>**</a:t>
            </a:r>
            <a:r>
              <a:rPr lang="en-US" dirty="0"/>
              <a:t>) are evaluated from left-to-right.  (In algebra we say they are left-associative.)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In Class Exercise 1</a:t>
            </a:r>
          </a:p>
        </p:txBody>
      </p:sp>
      <p:sp>
        <p:nvSpPr>
          <p:cNvPr id="320" name="Google Shape;320;p55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Run the following code snippets in the interpreter.  What do they do?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How do we fix the last 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7AE33-683E-D59D-0A26-4E58770A1CB2}"/>
              </a:ext>
            </a:extLst>
          </p:cNvPr>
          <p:cNvSpPr txBox="1"/>
          <p:nvPr/>
        </p:nvSpPr>
        <p:spPr>
          <a:xfrm>
            <a:off x="411163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10 + 15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1868-4A47-1378-82F4-DB27DD38EFF5}"/>
              </a:ext>
            </a:extLst>
          </p:cNvPr>
          <p:cNvSpPr txBox="1"/>
          <p:nvPr/>
        </p:nvSpPr>
        <p:spPr>
          <a:xfrm>
            <a:off x="2822368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"10" + "15"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E183F-D775-0F77-40E7-1E833F827069}"/>
              </a:ext>
            </a:extLst>
          </p:cNvPr>
          <p:cNvSpPr txBox="1"/>
          <p:nvPr/>
        </p:nvSpPr>
        <p:spPr>
          <a:xfrm>
            <a:off x="5568122" y="2417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 + "15"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2CADC2-DB7F-6412-B5E3-9D6D57ABA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6E56BAB-56E0-516E-4575-D3107452B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4FD4C-7185-FCA9-476F-A3A4F908C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7E0CF-5BF1-84CC-B2D5-8D205C651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84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9B7-E46D-D8EB-3407-AC7457A4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65EF-2667-015E-3559-C71C345F71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Variables</a:t>
            </a:r>
            <a:r>
              <a:rPr lang="en-US" dirty="0"/>
              <a:t> are stored in memory</a:t>
            </a:r>
          </a:p>
          <a:p>
            <a:pPr lvl="1"/>
            <a:r>
              <a:rPr lang="en-US" dirty="0"/>
              <a:t>Can be read</a:t>
            </a:r>
          </a:p>
          <a:p>
            <a:pPr lvl="1"/>
            <a:r>
              <a:rPr lang="en-US" dirty="0"/>
              <a:t>Can be written</a:t>
            </a:r>
          </a:p>
          <a:p>
            <a:pPr lvl="1"/>
            <a:r>
              <a:rPr lang="en-US" dirty="0"/>
              <a:t>Can be deleted</a:t>
            </a:r>
          </a:p>
          <a:p>
            <a:r>
              <a:rPr lang="en-US" dirty="0"/>
              <a:t>Used for short-term storage</a:t>
            </a:r>
          </a:p>
          <a:p>
            <a:r>
              <a:rPr lang="en-US" dirty="0"/>
              <a:t>Let’s fill in the table on the right…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A9C3-45DC-BCFB-D0DE-1DB5C555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CC786-C5EB-1DDE-3894-30587C23B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993AFCB7-4869-FEAE-A137-9522B4B463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45258901"/>
              </p:ext>
            </p:extLst>
          </p:nvPr>
        </p:nvGraphicFramePr>
        <p:xfrm>
          <a:off x="3962400" y="1200150"/>
          <a:ext cx="4770436" cy="1483360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4263872489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360226786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032398684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57438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 </a:t>
                      </a:r>
                      <a:r>
                        <a:rPr lang="en-US" dirty="0" err="1"/>
                        <a:t>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23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5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50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48672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A61A7C7-62EC-6838-9D3C-C8FC11E25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950440"/>
              </p:ext>
            </p:extLst>
          </p:nvPr>
        </p:nvGraphicFramePr>
        <p:xfrm>
          <a:off x="3962086" y="1570990"/>
          <a:ext cx="4770436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225367945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56831563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447679000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103754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my_variable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2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new_variable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"hello"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38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third_variable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796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6CA6D26-1A5A-8EEA-9CCD-CBF9C7DE7934}"/>
              </a:ext>
            </a:extLst>
          </p:cNvPr>
          <p:cNvSpPr txBox="1"/>
          <p:nvPr/>
        </p:nvSpPr>
        <p:spPr>
          <a:xfrm>
            <a:off x="5124174" y="2889249"/>
            <a:ext cx="3577425" cy="10380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How does the computer calculate the value for the last line?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1DEE64-0CD9-B3E7-6300-6D5F3494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" y="2988702"/>
            <a:ext cx="4553585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8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3020-0C6E-2BE8-B970-878F589C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C173BB-2B34-BBE3-9A14-05FDD00185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was the </a:t>
            </a:r>
            <a:r>
              <a:rPr lang="en-US" i="1" dirty="0"/>
              <a:t>result</a:t>
            </a:r>
            <a:r>
              <a:rPr lang="en-US" dirty="0"/>
              <a:t> of the first line?</a:t>
            </a:r>
          </a:p>
          <a:p>
            <a:r>
              <a:rPr lang="en-US" dirty="0"/>
              <a:t>Is that a statement or an expression?</a:t>
            </a:r>
          </a:p>
          <a:p>
            <a:r>
              <a:rPr lang="en-US" i="1" dirty="0"/>
              <a:t>Important!</a:t>
            </a:r>
            <a:r>
              <a:rPr lang="en-US" dirty="0"/>
              <a:t>  </a:t>
            </a:r>
            <a:r>
              <a:rPr lang="en-US" i="1" dirty="0"/>
              <a:t>Statements</a:t>
            </a:r>
            <a:r>
              <a:rPr lang="en-US" dirty="0"/>
              <a:t> do not give a value back.</a:t>
            </a:r>
          </a:p>
          <a:p>
            <a:r>
              <a:rPr lang="en-US" i="1" dirty="0"/>
              <a:t>Expressions</a:t>
            </a:r>
            <a:r>
              <a:rPr lang="en-US" dirty="0"/>
              <a:t> do evaluate to a value.</a:t>
            </a:r>
          </a:p>
          <a:p>
            <a:r>
              <a:rPr lang="en-US" dirty="0"/>
              <a:t>Statements can contain expressions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50C07-C9B3-B7DB-CA0F-7FC749C0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minute…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50B6-ED80-A597-7735-9D739525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B6A18-6527-2D70-6B3E-D3F8A546A8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9BCF09-E4CC-A386-CBB8-304FCD928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1163" y="2144306"/>
            <a:ext cx="4024312" cy="154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39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Variable Naming Rules and Conventions</a:t>
            </a:r>
          </a:p>
        </p:txBody>
      </p:sp>
      <p:sp>
        <p:nvSpPr>
          <p:cNvPr id="332" name="Google Shape;332;p5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dirty="0"/>
              <a:t>You can name a variable anything but…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start with a number.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include special characters (&amp;*^%!)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have any spaces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be a python keyword (for, if, else…)</a:t>
            </a:r>
            <a:br>
              <a:rPr lang="en-US" dirty="0"/>
            </a:br>
            <a:r>
              <a:rPr lang="en-US" dirty="0"/>
              <a:t>(You’ll learn more keywords as you learn the language)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B445F-A090-94C9-0107-7F0085BAF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1" y="1244324"/>
            <a:ext cx="4023360" cy="342900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dirty="0"/>
              <a:t>Your variable name should…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describe something about the data</a:t>
            </a:r>
          </a:p>
          <a:p>
            <a:pPr lvl="1">
              <a:spcBef>
                <a:spcPts val="600"/>
              </a:spcBef>
            </a:pPr>
            <a:r>
              <a:rPr lang="en-US" dirty="0" err="1"/>
              <a:t>use_snake_case_for_variables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 err="1"/>
              <a:t>UseCapWordsForClassNames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Use ALLCAPs for constants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0A24AA87-FE3F-E7BC-362C-6B240547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E5D280F4-CF3B-C906-DF6C-43B12B48C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2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6E81462C-7AD2-9182-930A-A35B7403B9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Pittsburgh pizza shop is having a two-for-one deal. You can get two small (12”) pizzas for $9.99. In contrast, a large pizza (16”) costs $9.99.  Which one is the better deal (yields more area)?</a:t>
            </a:r>
          </a:p>
          <a:p>
            <a:pPr lvl="1"/>
            <a:r>
              <a:rPr lang="en-US" dirty="0"/>
              <a:t>What is your first intuition?</a:t>
            </a:r>
          </a:p>
          <a:p>
            <a:pPr lvl="1"/>
            <a:r>
              <a:rPr lang="en-US" dirty="0"/>
              <a:t>With a partner, write a plan on how to solve the problem</a:t>
            </a:r>
          </a:p>
          <a:p>
            <a:pPr lvl="1"/>
            <a:r>
              <a:rPr lang="en-US" dirty="0"/>
              <a:t>Then write Python code in the interpreter to answer this question.</a:t>
            </a:r>
          </a:p>
          <a:p>
            <a:pPr lvl="2"/>
            <a:r>
              <a:rPr lang="en-US" dirty="0"/>
              <a:t>Use variables to store data for later</a:t>
            </a:r>
          </a:p>
          <a:p>
            <a:pPr lvl="2"/>
            <a:r>
              <a:rPr lang="en-US" dirty="0"/>
              <a:t>Use 3.14 for pi</a:t>
            </a:r>
          </a:p>
          <a:p>
            <a:pPr lvl="2"/>
            <a:r>
              <a:rPr lang="en-US" dirty="0"/>
              <a:t>area = pi * radius **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81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2F2D8F9-EB09-6887-8954-C2D2FD8AF3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Take a Break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4038B997-B770-FDE2-1A90-0BEB003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>
            <a:extLst>
              <a:ext uri="{FF2B5EF4-FFF2-40B4-BE49-F238E27FC236}">
                <a16:creationId xmlns:a16="http://schemas.microsoft.com/office/drawing/2014/main" id="{09683E35-95C6-C893-D673-BDDA531B52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0DCD318-C40F-65B3-6BDC-ED75EF14B7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Scripts</a:t>
            </a:r>
          </a:p>
        </p:txBody>
      </p:sp>
    </p:spTree>
    <p:extLst>
      <p:ext uri="{BB962C8B-B14F-4D97-AF65-F5344CB8AC3E}">
        <p14:creationId xmlns:p14="http://schemas.microsoft.com/office/powerpoint/2010/main" val="16236933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Scripting</a:t>
            </a:r>
          </a:p>
        </p:txBody>
      </p:sp>
      <p:sp>
        <p:nvSpPr>
          <p:cNvPr id="344" name="Google Shape;344;p59"/>
          <p:cNvSpPr txBox="1">
            <a:spLocks noGrp="1"/>
          </p:cNvSpPr>
          <p:nvPr>
            <p:ph sz="half" idx="1"/>
          </p:nvPr>
        </p:nvSpPr>
        <p:spPr>
          <a:xfrm>
            <a:off x="411163" y="1200150"/>
            <a:ext cx="42005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python script is a text file</a:t>
            </a:r>
          </a:p>
          <a:p>
            <a:pPr lvl="0"/>
            <a:r>
              <a:rPr lang="en-US" dirty="0"/>
              <a:t>By convention, filename ends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dirty="0"/>
              <a:t>Contains a series of python statements</a:t>
            </a:r>
          </a:p>
          <a:p>
            <a:pPr lvl="0"/>
            <a:r>
              <a:rPr lang="en-US" dirty="0"/>
              <a:t>When executed, runs all statements, in-order</a:t>
            </a:r>
          </a:p>
          <a:p>
            <a:pPr lvl="0"/>
            <a:r>
              <a:rPr lang="en-US" i="1" dirty="0"/>
              <a:t>Statements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i="1" dirty="0"/>
              <a:t>Expressions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dirty="0"/>
              <a:t>Use print() function to </a:t>
            </a:r>
            <a:r>
              <a:rPr lang="en-US" i="1" dirty="0"/>
              <a:t>display</a:t>
            </a:r>
            <a:r>
              <a:rPr lang="en-US" dirty="0"/>
              <a:t> values to the terminal</a:t>
            </a:r>
          </a:p>
          <a:p>
            <a:pPr lvl="0"/>
            <a:r>
              <a:rPr lang="en-US" dirty="0"/>
              <a:t>Run with `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path_to_script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`</a:t>
            </a:r>
          </a:p>
          <a:p>
            <a:pPr lvl="0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18E57C-0384-362F-EA9F-6C7DBC455E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17967" y="874725"/>
            <a:ext cx="3219899" cy="1800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8A9D-63CA-9077-9671-0E6E90325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6052"/>
            <a:ext cx="9144000" cy="993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09E2E9C3-8B94-8FC3-BE30-36A1C906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>
            <a:extLst>
              <a:ext uri="{FF2B5EF4-FFF2-40B4-BE49-F238E27FC236}">
                <a16:creationId xmlns:a16="http://schemas.microsoft.com/office/drawing/2014/main" id="{15EC4887-AE47-05F5-D89B-9FCFFCB93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Another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DE401E-9E1C-3DC0-F4B5-A535B05F2A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89395" y="1200150"/>
            <a:ext cx="4024313" cy="199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11F73-BCA8-6073-9BE6-76F014FF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04" y="3339891"/>
            <a:ext cx="855464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1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74A0-CF22-1758-0E79-128F68B5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With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E4C3-7049-892B-4381-901E60F534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Right now, we can only enter text to interact with our scripts</a:t>
            </a:r>
          </a:p>
          <a:p>
            <a:r>
              <a:rPr lang="en-US" dirty="0"/>
              <a:t>The input() function waits for the user to type something and hit enter</a:t>
            </a:r>
          </a:p>
          <a:p>
            <a:r>
              <a:rPr lang="en-US" dirty="0"/>
              <a:t>Always gives you a string back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3A6B97-BA1B-02A4-7AAC-474838296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208" y="1200150"/>
            <a:ext cx="4024313" cy="14372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78C26-B49A-27CB-4811-D57B6FEE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F0E06-6025-180A-AF09-723C24D1B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AE9CE7-B1F9-651D-0F72-BC41A74D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1" y="3243165"/>
            <a:ext cx="8545118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FD19721-AF14-E39E-39F8-1859741A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6661F13-C124-9E4E-F33B-EEFC6D4EB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3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175D8326-A8E4-EF4B-93CB-524F95EEE7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Write a script that prompts the user for a diameter and outputs the area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Remember to convert from string to another datatype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#1:  write a script that calculates the price per area.  The user should input the diameter and the cost.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#2:  write a script that calculates the best deal.  The user should input three diameters (two for the first deal, one </a:t>
            </a:r>
            <a:r>
              <a:rPr lang="en-US"/>
              <a:t>for the second deal), and the two costs.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Solutions available in the lesson folder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45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9BB285-FAC8-125A-8550-25560F66A4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17 February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Final Exercise</a:t>
            </a:r>
          </a:p>
        </p:txBody>
      </p:sp>
      <p:sp>
        <p:nvSpPr>
          <p:cNvPr id="410" name="Google Shape;410;p68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Copy the lyrics of your favorite song into a string variable.</a:t>
            </a:r>
          </a:p>
          <a:p>
            <a:pPr lvl="0"/>
            <a:r>
              <a:rPr lang="en-US" dirty="0"/>
              <a:t>Determine all the unique words in the song and the number of times they occur.</a:t>
            </a:r>
          </a:p>
          <a:p>
            <a:pPr lvl="0"/>
            <a:r>
              <a:rPr lang="en-US" dirty="0"/>
              <a:t>*DISCLAIMER*  You will not be able to do this with only what you have been taught so far.  The intent is that you try to think through this for a little bit and inevitably look up a solution.  This exposes you to some of the things we are going to learn later on.</a:t>
            </a:r>
          </a:p>
          <a:p>
            <a:pPr lvl="0"/>
            <a:r>
              <a:rPr lang="en-US" dirty="0"/>
              <a:t>5 different solutions for this are given in Lesson01FinalProblemSolution.py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</TotalTime>
  <Words>1829</Words>
  <Application>Microsoft Office PowerPoint</Application>
  <PresentationFormat>On-screen Show (16:9)</PresentationFormat>
  <Paragraphs>458</Paragraphs>
  <Slides>41</Slides>
  <Notes>32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Aptos Narrow</vt:lpstr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Ai2c technician cohort 7 lesson 1: intro to python</vt:lpstr>
      <vt:lpstr>AI2C Technician cohort 7</vt:lpstr>
      <vt:lpstr>Class Schedule </vt:lpstr>
      <vt:lpstr>Today's Schedule </vt:lpstr>
      <vt:lpstr>Icebreaker – Human Bingo</vt:lpstr>
      <vt:lpstr>Icebreaker – Human Bingo</vt:lpstr>
      <vt:lpstr>Intros</vt:lpstr>
      <vt:lpstr>expectations</vt:lpstr>
      <vt:lpstr>Laptop Issues?</vt:lpstr>
      <vt:lpstr>PowerPoint Presentation</vt:lpstr>
      <vt:lpstr>AI2C Technician Cohort 7</vt:lpstr>
      <vt:lpstr>Let’s download Python</vt:lpstr>
      <vt:lpstr>Verify the download</vt:lpstr>
      <vt:lpstr>Interactive Python</vt:lpstr>
      <vt:lpstr>Integrated Development Environments (IDE)</vt:lpstr>
      <vt:lpstr>Visual Studio Code</vt:lpstr>
      <vt:lpstr>Running code in VS Code</vt:lpstr>
      <vt:lpstr>Saving Code on the Internet and version control?</vt:lpstr>
      <vt:lpstr>PowerPoint Presentation</vt:lpstr>
      <vt:lpstr>What is a Program?</vt:lpstr>
      <vt:lpstr>So what is Python?</vt:lpstr>
      <vt:lpstr>The Interpreter</vt:lpstr>
      <vt:lpstr>Data and datatypes</vt:lpstr>
      <vt:lpstr>Spot the Difference</vt:lpstr>
      <vt:lpstr>Data Type Conversion (Casting)</vt:lpstr>
      <vt:lpstr>Operators</vt:lpstr>
      <vt:lpstr>Order of Operations</vt:lpstr>
      <vt:lpstr>In Class Exercise 1</vt:lpstr>
      <vt:lpstr>PowerPoint Presentation</vt:lpstr>
      <vt:lpstr>Variables</vt:lpstr>
      <vt:lpstr>Wait a minute…</vt:lpstr>
      <vt:lpstr>Variable Naming Rules and Conventions</vt:lpstr>
      <vt:lpstr>In Class Exercise 2</vt:lpstr>
      <vt:lpstr>PowerPoint Presentation</vt:lpstr>
      <vt:lpstr>PowerPoint Presentation</vt:lpstr>
      <vt:lpstr>Scripting</vt:lpstr>
      <vt:lpstr>Another Example</vt:lpstr>
      <vt:lpstr>Interacting With Scripts</vt:lpstr>
      <vt:lpstr>In Class Exercise 3</vt:lpstr>
      <vt:lpstr>PowerPoint Presentation</vt:lpstr>
      <vt:lpstr>Final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135</cp:revision>
  <dcterms:modified xsi:type="dcterms:W3CDTF">2026-02-18T04:28:48Z</dcterms:modified>
</cp:coreProperties>
</file>