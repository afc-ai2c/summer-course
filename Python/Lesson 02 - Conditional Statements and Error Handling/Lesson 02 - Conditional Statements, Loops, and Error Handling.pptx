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3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9144000" cy="5143500" type="screen16x9"/>
  <p:notesSz cx="6858000" cy="9144000"/>
  <p:embeddedFontLst>
    <p:embeddedFont>
      <p:font typeface="Arial Bold" panose="020B0704020202020204" pitchFamily="34" charset="0"/>
      <p:bold r:id="rId31"/>
    </p:embeddedFon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hR28n/WwYP6NLmq1keFa6scSye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0FD1EA-CF83-6AF1-2618-F0E19B6C97F2}" v="139" dt="2025-07-21T01:09:02.171"/>
  </p1510:revLst>
</p1510:revInfo>
</file>

<file path=ppt/tableStyles.xml><?xml version="1.0" encoding="utf-8"?>
<a:tblStyleLst xmlns:a="http://schemas.openxmlformats.org/drawingml/2006/main" def="{73A53AC3-02BE-4BBD-822B-44806B13A2D8}">
  <a:tblStyle styleId="{73A53AC3-02BE-4BBD-822B-44806B13A2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00" y="2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9.fntdata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6.fntdata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4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viewProps" Target="viewProps.xml"/><Relationship Id="rId20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iedel, Brenna M CPT USARMY AFC AI2C (USA)" userId="S::brenna.m.friedel.mil@army.mil::4fe8b5d6-a82b-4ac6-ab8f-346e0799b26a" providerId="AD" clId="Web-{480FD1EA-CF83-6AF1-2618-F0E19B6C97F2}"/>
    <pc:docChg chg="modSld">
      <pc:chgData name="Friedel, Brenna M CPT USARMY AFC AI2C (USA)" userId="S::brenna.m.friedel.mil@army.mil::4fe8b5d6-a82b-4ac6-ab8f-346e0799b26a" providerId="AD" clId="Web-{480FD1EA-CF83-6AF1-2618-F0E19B6C97F2}" dt="2025-07-21T01:09:00.593" v="133" actId="20577"/>
      <pc:docMkLst>
        <pc:docMk/>
      </pc:docMkLst>
      <pc:sldChg chg="modSp">
        <pc:chgData name="Friedel, Brenna M CPT USARMY AFC AI2C (USA)" userId="S::brenna.m.friedel.mil@army.mil::4fe8b5d6-a82b-4ac6-ab8f-346e0799b26a" providerId="AD" clId="Web-{480FD1EA-CF83-6AF1-2618-F0E19B6C97F2}" dt="2025-07-21T01:05:39.254" v="67" actId="20577"/>
        <pc:sldMkLst>
          <pc:docMk/>
          <pc:sldMk cId="0" sldId="262"/>
        </pc:sldMkLst>
        <pc:spChg chg="mod">
          <ac:chgData name="Friedel, Brenna M CPT USARMY AFC AI2C (USA)" userId="S::brenna.m.friedel.mil@army.mil::4fe8b5d6-a82b-4ac6-ab8f-346e0799b26a" providerId="AD" clId="Web-{480FD1EA-CF83-6AF1-2618-F0E19B6C97F2}" dt="2025-07-21T01:05:39.254" v="67" actId="20577"/>
          <ac:spMkLst>
            <pc:docMk/>
            <pc:sldMk cId="0" sldId="262"/>
            <ac:spMk id="101" creationId="{00000000-0000-0000-0000-000000000000}"/>
          </ac:spMkLst>
        </pc:spChg>
      </pc:sldChg>
      <pc:sldChg chg="modSp">
        <pc:chgData name="Friedel, Brenna M CPT USARMY AFC AI2C (USA)" userId="S::brenna.m.friedel.mil@army.mil::4fe8b5d6-a82b-4ac6-ab8f-346e0799b26a" providerId="AD" clId="Web-{480FD1EA-CF83-6AF1-2618-F0E19B6C97F2}" dt="2025-07-21T01:02:43.996" v="7" actId="20577"/>
        <pc:sldMkLst>
          <pc:docMk/>
          <pc:sldMk cId="0" sldId="263"/>
        </pc:sldMkLst>
        <pc:spChg chg="mod">
          <ac:chgData name="Friedel, Brenna M CPT USARMY AFC AI2C (USA)" userId="S::brenna.m.friedel.mil@army.mil::4fe8b5d6-a82b-4ac6-ab8f-346e0799b26a" providerId="AD" clId="Web-{480FD1EA-CF83-6AF1-2618-F0E19B6C97F2}" dt="2025-07-21T01:02:43.996" v="7" actId="20577"/>
          <ac:spMkLst>
            <pc:docMk/>
            <pc:sldMk cId="0" sldId="263"/>
            <ac:spMk id="107" creationId="{00000000-0000-0000-0000-000000000000}"/>
          </ac:spMkLst>
        </pc:spChg>
      </pc:sldChg>
      <pc:sldChg chg="modSp">
        <pc:chgData name="Friedel, Brenna M CPT USARMY AFC AI2C (USA)" userId="S::brenna.m.friedel.mil@army.mil::4fe8b5d6-a82b-4ac6-ab8f-346e0799b26a" providerId="AD" clId="Web-{480FD1EA-CF83-6AF1-2618-F0E19B6C97F2}" dt="2025-07-21T01:08:50.576" v="131" actId="20577"/>
        <pc:sldMkLst>
          <pc:docMk/>
          <pc:sldMk cId="0" sldId="264"/>
        </pc:sldMkLst>
        <pc:spChg chg="mod">
          <ac:chgData name="Friedel, Brenna M CPT USARMY AFC AI2C (USA)" userId="S::brenna.m.friedel.mil@army.mil::4fe8b5d6-a82b-4ac6-ab8f-346e0799b26a" providerId="AD" clId="Web-{480FD1EA-CF83-6AF1-2618-F0E19B6C97F2}" dt="2025-07-21T01:08:50.576" v="131" actId="20577"/>
          <ac:spMkLst>
            <pc:docMk/>
            <pc:sldMk cId="0" sldId="264"/>
            <ac:spMk id="113" creationId="{00000000-0000-0000-0000-000000000000}"/>
          </ac:spMkLst>
        </pc:spChg>
      </pc:sldChg>
      <pc:sldChg chg="modSp">
        <pc:chgData name="Friedel, Brenna M CPT USARMY AFC AI2C (USA)" userId="S::brenna.m.friedel.mil@army.mil::4fe8b5d6-a82b-4ac6-ab8f-346e0799b26a" providerId="AD" clId="Web-{480FD1EA-CF83-6AF1-2618-F0E19B6C97F2}" dt="2025-07-21T01:03:17.357" v="23" actId="20577"/>
        <pc:sldMkLst>
          <pc:docMk/>
          <pc:sldMk cId="0" sldId="266"/>
        </pc:sldMkLst>
        <pc:spChg chg="mod">
          <ac:chgData name="Friedel, Brenna M CPT USARMY AFC AI2C (USA)" userId="S::brenna.m.friedel.mil@army.mil::4fe8b5d6-a82b-4ac6-ab8f-346e0799b26a" providerId="AD" clId="Web-{480FD1EA-CF83-6AF1-2618-F0E19B6C97F2}" dt="2025-07-21T01:03:17.357" v="23" actId="20577"/>
          <ac:spMkLst>
            <pc:docMk/>
            <pc:sldMk cId="0" sldId="266"/>
            <ac:spMk id="125" creationId="{00000000-0000-0000-0000-000000000000}"/>
          </ac:spMkLst>
        </pc:spChg>
      </pc:sldChg>
      <pc:sldChg chg="modSp">
        <pc:chgData name="Friedel, Brenna M CPT USARMY AFC AI2C (USA)" userId="S::brenna.m.friedel.mil@army.mil::4fe8b5d6-a82b-4ac6-ab8f-346e0799b26a" providerId="AD" clId="Web-{480FD1EA-CF83-6AF1-2618-F0E19B6C97F2}" dt="2025-07-21T01:05:48.677" v="69" actId="20577"/>
        <pc:sldMkLst>
          <pc:docMk/>
          <pc:sldMk cId="0" sldId="267"/>
        </pc:sldMkLst>
        <pc:spChg chg="mod">
          <ac:chgData name="Friedel, Brenna M CPT USARMY AFC AI2C (USA)" userId="S::brenna.m.friedel.mil@army.mil::4fe8b5d6-a82b-4ac6-ab8f-346e0799b26a" providerId="AD" clId="Web-{480FD1EA-CF83-6AF1-2618-F0E19B6C97F2}" dt="2025-07-21T01:05:48.677" v="69" actId="20577"/>
          <ac:spMkLst>
            <pc:docMk/>
            <pc:sldMk cId="0" sldId="267"/>
            <ac:spMk id="131" creationId="{00000000-0000-0000-0000-000000000000}"/>
          </ac:spMkLst>
        </pc:spChg>
      </pc:sldChg>
      <pc:sldChg chg="modSp">
        <pc:chgData name="Friedel, Brenna M CPT USARMY AFC AI2C (USA)" userId="S::brenna.m.friedel.mil@army.mil::4fe8b5d6-a82b-4ac6-ab8f-346e0799b26a" providerId="AD" clId="Web-{480FD1EA-CF83-6AF1-2618-F0E19B6C97F2}" dt="2025-07-21T01:05:53.739" v="72" actId="20577"/>
        <pc:sldMkLst>
          <pc:docMk/>
          <pc:sldMk cId="0" sldId="268"/>
        </pc:sldMkLst>
        <pc:spChg chg="mod">
          <ac:chgData name="Friedel, Brenna M CPT USARMY AFC AI2C (USA)" userId="S::brenna.m.friedel.mil@army.mil::4fe8b5d6-a82b-4ac6-ab8f-346e0799b26a" providerId="AD" clId="Web-{480FD1EA-CF83-6AF1-2618-F0E19B6C97F2}" dt="2025-07-21T01:05:53.739" v="72" actId="20577"/>
          <ac:spMkLst>
            <pc:docMk/>
            <pc:sldMk cId="0" sldId="268"/>
            <ac:spMk id="137" creationId="{00000000-0000-0000-0000-000000000000}"/>
          </ac:spMkLst>
        </pc:spChg>
      </pc:sldChg>
      <pc:sldChg chg="modSp">
        <pc:chgData name="Friedel, Brenna M CPT USARMY AFC AI2C (USA)" userId="S::brenna.m.friedel.mil@army.mil::4fe8b5d6-a82b-4ac6-ab8f-346e0799b26a" providerId="AD" clId="Web-{480FD1EA-CF83-6AF1-2618-F0E19B6C97F2}" dt="2025-07-21T01:04:37.845" v="41" actId="20577"/>
        <pc:sldMkLst>
          <pc:docMk/>
          <pc:sldMk cId="0" sldId="270"/>
        </pc:sldMkLst>
        <pc:spChg chg="mod">
          <ac:chgData name="Friedel, Brenna M CPT USARMY AFC AI2C (USA)" userId="S::brenna.m.friedel.mil@army.mil::4fe8b5d6-a82b-4ac6-ab8f-346e0799b26a" providerId="AD" clId="Web-{480FD1EA-CF83-6AF1-2618-F0E19B6C97F2}" dt="2025-07-21T01:04:37.845" v="41" actId="20577"/>
          <ac:spMkLst>
            <pc:docMk/>
            <pc:sldMk cId="0" sldId="270"/>
            <ac:spMk id="149" creationId="{00000000-0000-0000-0000-000000000000}"/>
          </ac:spMkLst>
        </pc:spChg>
      </pc:sldChg>
      <pc:sldChg chg="modSp">
        <pc:chgData name="Friedel, Brenna M CPT USARMY AFC AI2C (USA)" userId="S::brenna.m.friedel.mil@army.mil::4fe8b5d6-a82b-4ac6-ab8f-346e0799b26a" providerId="AD" clId="Web-{480FD1EA-CF83-6AF1-2618-F0E19B6C97F2}" dt="2025-07-21T01:09:00.593" v="133" actId="20577"/>
        <pc:sldMkLst>
          <pc:docMk/>
          <pc:sldMk cId="0" sldId="271"/>
        </pc:sldMkLst>
        <pc:spChg chg="mod">
          <ac:chgData name="Friedel, Brenna M CPT USARMY AFC AI2C (USA)" userId="S::brenna.m.friedel.mil@army.mil::4fe8b5d6-a82b-4ac6-ab8f-346e0799b26a" providerId="AD" clId="Web-{480FD1EA-CF83-6AF1-2618-F0E19B6C97F2}" dt="2025-07-21T01:09:00.593" v="133" actId="20577"/>
          <ac:spMkLst>
            <pc:docMk/>
            <pc:sldMk cId="0" sldId="271"/>
            <ac:spMk id="155" creationId="{00000000-0000-0000-0000-000000000000}"/>
          </ac:spMkLst>
        </pc:spChg>
      </pc:sldChg>
      <pc:sldChg chg="modSp">
        <pc:chgData name="Friedel, Brenna M CPT USARMY AFC AI2C (USA)" userId="S::brenna.m.friedel.mil@army.mil::4fe8b5d6-a82b-4ac6-ab8f-346e0799b26a" providerId="AD" clId="Web-{480FD1EA-CF83-6AF1-2618-F0E19B6C97F2}" dt="2025-07-21T01:07:10.321" v="98" actId="20577"/>
        <pc:sldMkLst>
          <pc:docMk/>
          <pc:sldMk cId="0" sldId="276"/>
        </pc:sldMkLst>
        <pc:spChg chg="mod">
          <ac:chgData name="Friedel, Brenna M CPT USARMY AFC AI2C (USA)" userId="S::brenna.m.friedel.mil@army.mil::4fe8b5d6-a82b-4ac6-ab8f-346e0799b26a" providerId="AD" clId="Web-{480FD1EA-CF83-6AF1-2618-F0E19B6C97F2}" dt="2025-07-21T01:07:10.321" v="98" actId="20577"/>
          <ac:spMkLst>
            <pc:docMk/>
            <pc:sldMk cId="0" sldId="276"/>
            <ac:spMk id="184" creationId="{00000000-0000-0000-0000-000000000000}"/>
          </ac:spMkLst>
        </pc:spChg>
      </pc:sldChg>
      <pc:sldChg chg="modSp">
        <pc:chgData name="Friedel, Brenna M CPT USARMY AFC AI2C (USA)" userId="S::brenna.m.friedel.mil@army.mil::4fe8b5d6-a82b-4ac6-ab8f-346e0799b26a" providerId="AD" clId="Web-{480FD1EA-CF83-6AF1-2618-F0E19B6C97F2}" dt="2025-07-21T01:07:46.620" v="112" actId="20577"/>
        <pc:sldMkLst>
          <pc:docMk/>
          <pc:sldMk cId="0" sldId="277"/>
        </pc:sldMkLst>
        <pc:spChg chg="mod">
          <ac:chgData name="Friedel, Brenna M CPT USARMY AFC AI2C (USA)" userId="S::brenna.m.friedel.mil@army.mil::4fe8b5d6-a82b-4ac6-ab8f-346e0799b26a" providerId="AD" clId="Web-{480FD1EA-CF83-6AF1-2618-F0E19B6C97F2}" dt="2025-07-21T01:07:46.620" v="112" actId="20577"/>
          <ac:spMkLst>
            <pc:docMk/>
            <pc:sldMk cId="0" sldId="277"/>
            <ac:spMk id="190" creationId="{00000000-0000-0000-0000-000000000000}"/>
          </ac:spMkLst>
        </pc:spChg>
      </pc:sldChg>
      <pc:sldChg chg="modSp">
        <pc:chgData name="Friedel, Brenna M CPT USARMY AFC AI2C (USA)" userId="S::brenna.m.friedel.mil@army.mil::4fe8b5d6-a82b-4ac6-ab8f-346e0799b26a" providerId="AD" clId="Web-{480FD1EA-CF83-6AF1-2618-F0E19B6C97F2}" dt="2025-07-21T01:08:03.387" v="120" actId="20577"/>
        <pc:sldMkLst>
          <pc:docMk/>
          <pc:sldMk cId="0" sldId="278"/>
        </pc:sldMkLst>
        <pc:spChg chg="mod">
          <ac:chgData name="Friedel, Brenna M CPT USARMY AFC AI2C (USA)" userId="S::brenna.m.friedel.mil@army.mil::4fe8b5d6-a82b-4ac6-ab8f-346e0799b26a" providerId="AD" clId="Web-{480FD1EA-CF83-6AF1-2618-F0E19B6C97F2}" dt="2025-07-21T01:08:03.387" v="120" actId="20577"/>
          <ac:spMkLst>
            <pc:docMk/>
            <pc:sldMk cId="0" sldId="278"/>
            <ac:spMk id="196" creationId="{00000000-0000-0000-0000-000000000000}"/>
          </ac:spMkLst>
        </pc:spChg>
      </pc:sldChg>
      <pc:sldChg chg="modSp">
        <pc:chgData name="Friedel, Brenna M CPT USARMY AFC AI2C (USA)" userId="S::brenna.m.friedel.mil@army.mil::4fe8b5d6-a82b-4ac6-ab8f-346e0799b26a" providerId="AD" clId="Web-{480FD1EA-CF83-6AF1-2618-F0E19B6C97F2}" dt="2025-07-21T01:08:15.528" v="123" actId="20577"/>
        <pc:sldMkLst>
          <pc:docMk/>
          <pc:sldMk cId="0" sldId="279"/>
        </pc:sldMkLst>
        <pc:spChg chg="mod">
          <ac:chgData name="Friedel, Brenna M CPT USARMY AFC AI2C (USA)" userId="S::brenna.m.friedel.mil@army.mil::4fe8b5d6-a82b-4ac6-ab8f-346e0799b26a" providerId="AD" clId="Web-{480FD1EA-CF83-6AF1-2618-F0E19B6C97F2}" dt="2025-07-21T01:08:15.528" v="123" actId="20577"/>
          <ac:spMkLst>
            <pc:docMk/>
            <pc:sldMk cId="0" sldId="279"/>
            <ac:spMk id="202" creationId="{00000000-0000-0000-0000-000000000000}"/>
          </ac:spMkLst>
        </pc:spChg>
      </pc:sldChg>
      <pc:sldChg chg="modSp">
        <pc:chgData name="Friedel, Brenna M CPT USARMY AFC AI2C (USA)" userId="S::brenna.m.friedel.mil@army.mil::4fe8b5d6-a82b-4ac6-ab8f-346e0799b26a" providerId="AD" clId="Web-{480FD1EA-CF83-6AF1-2618-F0E19B6C97F2}" dt="2025-07-21T01:08:28.419" v="128" actId="20577"/>
        <pc:sldMkLst>
          <pc:docMk/>
          <pc:sldMk cId="0" sldId="280"/>
        </pc:sldMkLst>
        <pc:spChg chg="mod">
          <ac:chgData name="Friedel, Brenna M CPT USARMY AFC AI2C (USA)" userId="S::brenna.m.friedel.mil@army.mil::4fe8b5d6-a82b-4ac6-ab8f-346e0799b26a" providerId="AD" clId="Web-{480FD1EA-CF83-6AF1-2618-F0E19B6C97F2}" dt="2025-07-21T01:08:28.419" v="128" actId="20577"/>
          <ac:spMkLst>
            <pc:docMk/>
            <pc:sldMk cId="0" sldId="280"/>
            <ac:spMk id="20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4deeedf1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4deeedf1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4deeedf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4deeedf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4deeedf1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4deeedf12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4deeedf1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4deeedf12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Remember: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Defining a function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If-elif-else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Comparison operators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Early exits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4deeedf1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44deeedf12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4deeedf12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4deeedf12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4deeedf12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4deeedf12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4deeedf12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4deeedf12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4deeedf12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4deeedf12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You will need nested loops.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outer loop controls the number of lines.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inner loop prints 1 2 3 on each line.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4deeedf1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344deeedf1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4deeedf12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44deeedf12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4deeedf12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344deeedf12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4deeedf12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4deeedf12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4deeedf12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4deeedf12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4deeedf12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44deeedf12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4deeedf12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344deeedf12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1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5793518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4510495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1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183840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50963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862337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4098846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8026406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379686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4666212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367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1040674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6441362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3658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9864173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4137296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8500093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0003688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1906116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563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24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368818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11888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40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52996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8575675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15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4338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2712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808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5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40967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01225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62618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58014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1_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8617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13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dirty="0">
                <a:solidFill>
                  <a:schemeClr val="accent2"/>
                </a:solidFill>
              </a:rPr>
              <a:t>Conditional Statements and Loops</a:t>
            </a: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dirty="0"/>
              <a:t>Review: What is a Boolean?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Conditional Statements</a:t>
            </a:r>
            <a:endParaRPr dirty="0"/>
          </a:p>
        </p:txBody>
      </p:sp>
      <p:sp>
        <p:nvSpPr>
          <p:cNvPr id="77" name="Google Shape;77;p3"/>
          <p:cNvSpPr txBox="1"/>
          <p:nvPr/>
        </p:nvSpPr>
        <p:spPr>
          <a:xfrm>
            <a:off x="616150" y="1580550"/>
            <a:ext cx="7786800" cy="3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r>
              <a:rPr lang="en" sz="1800" dirty="0"/>
              <a:t>Conditions are expressions that evaluate to a Boolean value</a:t>
            </a:r>
            <a:endParaRPr lang="en-US" sz="1800" dirty="0"/>
          </a:p>
          <a:p>
            <a:pPr marL="5715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r>
              <a:rPr lang="en-US" sz="1800" dirty="0"/>
              <a:t>They often involve comparison operators (&lt;, &gt;, ==, !=, &lt;=, &gt;=) and logical operators (and, or, not)</a:t>
            </a:r>
          </a:p>
          <a:p>
            <a:pPr marL="1143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endParaRPr lang="en" sz="1800" dirty="0"/>
          </a:p>
          <a:p>
            <a:pPr marL="1143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r>
              <a:rPr lang="en" sz="1800" dirty="0"/>
              <a:t>Python relies on indentation (whitespace at the beginning of a line) to define code blocks</a:t>
            </a:r>
            <a:endParaRPr lang="en" dirty="0"/>
          </a:p>
          <a:p>
            <a:pPr marL="1143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endParaRPr lang="en" sz="1800" i="1" dirty="0"/>
          </a:p>
          <a:p>
            <a:pPr marL="1143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r>
              <a:rPr lang="en" sz="1800" i="1" dirty="0"/>
              <a:t>Incorrect indentation will lead to errors.</a:t>
            </a:r>
            <a:endParaRPr sz="1800" i="1" dirty="0"/>
          </a:p>
          <a:p>
            <a:pPr marL="1143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endParaRPr lang="en" sz="1800" dirty="0"/>
          </a:p>
          <a:p>
            <a:pPr marL="1143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r>
              <a:rPr lang="en" sz="1800" dirty="0"/>
              <a:t>You can create Nested Conditional Statements to control the flow of code</a:t>
            </a:r>
            <a:endParaRPr sz="1800" b="0" i="0" u="none" strike="noStrike" cap="none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"/>
              <a:t>The "if" Statement</a:t>
            </a:r>
            <a:endParaRPr/>
          </a:p>
        </p:txBody>
      </p:sp>
      <p:sp>
        <p:nvSpPr>
          <p:cNvPr id="83" name="Google Shape;83;p4"/>
          <p:cNvSpPr txBox="1">
            <a:spLocks noGrp="1"/>
          </p:cNvSpPr>
          <p:nvPr>
            <p:ph type="body" sz="quarter" idx="11"/>
          </p:nvPr>
        </p:nvSpPr>
        <p:spPr>
          <a:xfrm>
            <a:off x="411480" y="930349"/>
            <a:ext cx="8509236" cy="369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</a:pPr>
            <a:r>
              <a:rPr lang="en" dirty="0"/>
              <a:t>Executes a block of code only if a given condition evaluates to </a:t>
            </a:r>
            <a:r>
              <a:rPr lang="en" b="1" dirty="0"/>
              <a:t>True</a:t>
            </a:r>
            <a:endParaRPr b="1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1460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</a:pPr>
            <a:r>
              <a:rPr lang="en" dirty="0"/>
              <a:t>Syntax:</a:t>
            </a:r>
            <a:endParaRPr dirty="0"/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if condition:</a:t>
            </a:r>
            <a:endParaRPr dirty="0">
              <a:solidFill>
                <a:schemeClr val="tx2"/>
              </a:solidFill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    # code</a:t>
            </a:r>
            <a:endParaRPr dirty="0">
              <a:solidFill>
                <a:schemeClr val="tx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146050" lvl="0" algn="l" rtl="0">
              <a:spcBef>
                <a:spcPts val="0"/>
              </a:spcBef>
              <a:spcAft>
                <a:spcPts val="0"/>
              </a:spcAft>
              <a:buSzPts val="1300"/>
            </a:pPr>
            <a:r>
              <a:rPr lang="en" dirty="0"/>
              <a:t>Example:</a:t>
            </a:r>
            <a:endParaRPr dirty="0"/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age = 20</a:t>
            </a:r>
            <a:endParaRPr dirty="0">
              <a:solidFill>
                <a:schemeClr val="tx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if age &gt;= 18:</a:t>
            </a:r>
            <a:endParaRPr dirty="0">
              <a:solidFill>
                <a:schemeClr val="tx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    print(“You are eligible to vote.”)</a:t>
            </a:r>
            <a:endParaRPr dirty="0">
              <a:solidFill>
                <a:schemeClr val="tx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4deeedf12_0_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“else” Statement</a:t>
            </a:r>
            <a:endParaRPr/>
          </a:p>
        </p:txBody>
      </p:sp>
      <p:sp>
        <p:nvSpPr>
          <p:cNvPr id="89" name="Google Shape;89;g344deeedf12_0_5"/>
          <p:cNvSpPr txBox="1">
            <a:spLocks noGrp="1"/>
          </p:cNvSpPr>
          <p:nvPr>
            <p:ph type="body" sz="quarter" idx="11"/>
          </p:nvPr>
        </p:nvSpPr>
        <p:spPr>
          <a:xfrm>
            <a:off x="411480" y="929309"/>
            <a:ext cx="8394590" cy="36998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300"/>
              <a:buFont typeface="Arial"/>
              <a:buChar char="●"/>
            </a:pPr>
            <a:r>
              <a:rPr lang="en" dirty="0"/>
              <a:t>“Else” is used in conjunction with “if” 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300"/>
              <a:buFont typeface="Arial"/>
              <a:buChar char="●"/>
            </a:pPr>
            <a:r>
              <a:rPr lang="en" dirty="0"/>
              <a:t>Provides an alternate block of code to execute if the “if” condition evaluates to false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dirty="0"/>
              <a:t>Syntax:</a:t>
            </a:r>
            <a:endParaRPr dirty="0"/>
          </a:p>
          <a:p>
            <a:pPr marL="457200" lvl="0" indent="-2286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dirty="0"/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if condition:</a:t>
            </a:r>
            <a:endParaRPr dirty="0">
              <a:solidFill>
                <a:schemeClr val="accent2"/>
              </a:solidFill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    # code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else condition: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# code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dirty="0"/>
              <a:t>Example:</a:t>
            </a:r>
            <a:endParaRPr dirty="0"/>
          </a:p>
          <a:p>
            <a:pPr marL="457200" lvl="0" indent="-2286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dirty="0"/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temperature = 78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if temperature &gt; 85: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    print(“It’s hot out today!”)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print(“It’s not too hot.”)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4deeedf12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“elif” Statement</a:t>
            </a:r>
            <a:endParaRPr/>
          </a:p>
        </p:txBody>
      </p:sp>
      <p:sp>
        <p:nvSpPr>
          <p:cNvPr id="95" name="Google Shape;95;g344deeedf12_0_0"/>
          <p:cNvSpPr txBox="1">
            <a:spLocks noGrp="1"/>
          </p:cNvSpPr>
          <p:nvPr>
            <p:ph type="body" sz="quarter" idx="11"/>
          </p:nvPr>
        </p:nvSpPr>
        <p:spPr>
          <a:xfrm>
            <a:off x="411480" y="770283"/>
            <a:ext cx="8464163" cy="38588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●"/>
            </a:pPr>
            <a:r>
              <a:rPr lang="en" dirty="0"/>
              <a:t>“elif” is short for else-if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●"/>
            </a:pPr>
            <a:r>
              <a:rPr lang="en" dirty="0"/>
              <a:t>It allows for checking multiple conditions sequentially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●"/>
            </a:pPr>
            <a:r>
              <a:rPr lang="en" dirty="0"/>
              <a:t>If the “if” condition evaluates to false, the “elif” statements are evaluated in order until one evaluates to True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dirty="0"/>
              <a:t>Syntax:</a:t>
            </a:r>
            <a:endParaRPr dirty="0"/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if condition:</a:t>
            </a:r>
            <a:endParaRPr dirty="0">
              <a:solidFill>
                <a:schemeClr val="accent2"/>
              </a:solidFill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    # code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elif condition: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# code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else condition: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# code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dirty="0"/>
              <a:t>Example:</a:t>
            </a:r>
            <a:endParaRPr dirty="0"/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score = 89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if score &gt;= 90: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    print(“Grade: A”)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elif score &gt;= 80: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print(“Grade: B”)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elif score &gt;= 70: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print(“Grade: C”)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elif score &gt;= 60: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print(“Grade: D”)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15950" lvl="1" indent="29845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print(“Grade: F”)</a:t>
            </a: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4deeedf12_0_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Nested Conditional Statements	</a:t>
            </a:r>
            <a:endParaRPr/>
          </a:p>
        </p:txBody>
      </p:sp>
      <p:sp>
        <p:nvSpPr>
          <p:cNvPr id="101" name="Google Shape;101;g344deeedf12_0_22"/>
          <p:cNvSpPr txBox="1">
            <a:spLocks noGrp="1"/>
          </p:cNvSpPr>
          <p:nvPr>
            <p:ph type="body" sz="quarter" idx="11"/>
          </p:nvPr>
        </p:nvSpPr>
        <p:spPr>
          <a:xfrm>
            <a:off x="411480" y="855921"/>
            <a:ext cx="8456073" cy="37732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</a:pPr>
            <a:r>
              <a:rPr lang="en" dirty="0"/>
              <a:t>You can place “if” or “if...else” statements inside other “if” or “else” blocks to create more complex decision structures.</a:t>
            </a:r>
            <a:endParaRPr dirty="0"/>
          </a:p>
          <a:p>
            <a:pPr marL="615950" lvl="1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1460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</a:pPr>
            <a:r>
              <a:rPr lang="en" dirty="0"/>
              <a:t>Example:</a:t>
            </a:r>
          </a:p>
          <a:p>
            <a:pPr marL="1460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</a:pPr>
            <a:endParaRPr lang="en" sz="800" dirty="0">
              <a:solidFill>
                <a:schemeClr val="tx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460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</a:pPr>
            <a:r>
              <a:rPr lang="en" sz="800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weather = "rainy“</a:t>
            </a:r>
          </a:p>
          <a:p>
            <a:pPr marL="1460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</a:pPr>
            <a:r>
              <a:rPr lang="en" sz="800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temperature = 45</a:t>
            </a:r>
          </a:p>
          <a:p>
            <a:pPr marL="1460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</a:pPr>
            <a:r>
              <a:rPr lang="en" sz="800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if weather == "rainy":</a:t>
            </a:r>
            <a:endParaRPr sz="800" dirty="0">
              <a:solidFill>
                <a:schemeClr val="tx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>
              <a:buNone/>
            </a:pPr>
            <a:r>
              <a:rPr lang="en" sz="800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      if temperature &lt; 50:</a:t>
            </a:r>
            <a:endParaRPr sz="800" dirty="0">
              <a:solidFill>
                <a:schemeClr val="tx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>
              <a:buNone/>
            </a:pPr>
            <a:r>
              <a:rPr lang="en" sz="800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      print("It's cold and rainy. Wear a jacket and bring an umbrella.")</a:t>
            </a:r>
            <a:endParaRPr lang="en-US" sz="800" dirty="0">
              <a:solidFill>
                <a:schemeClr val="tx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>
              <a:buNone/>
            </a:pPr>
            <a:r>
              <a:rPr lang="en-US" sz="800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   else:</a:t>
            </a:r>
          </a:p>
          <a:p>
            <a:pPr indent="0">
              <a:buNone/>
            </a:pPr>
            <a:r>
              <a:rPr lang="en" sz="800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      print("It's rainy but warm. Just bring an umbrella.")</a:t>
            </a:r>
            <a:endParaRPr lang="en-US" sz="800" dirty="0">
              <a:solidFill>
                <a:schemeClr val="tx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>
              <a:buNone/>
            </a:pPr>
            <a:r>
              <a:rPr lang="en-US" sz="800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   else:</a:t>
            </a:r>
          </a:p>
          <a:p>
            <a:pPr indent="0">
              <a:buNone/>
            </a:pPr>
            <a:r>
              <a:rPr lang="en" sz="800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      print("No rain today. Enjoy the weather!")</a:t>
            </a:r>
            <a:endParaRPr sz="800" dirty="0">
              <a:solidFill>
                <a:schemeClr val="tx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460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</a:pPr>
            <a:endParaRPr lang="en" sz="1100" dirty="0">
              <a:latin typeface="Consolas"/>
              <a:sym typeface="Consolas"/>
            </a:endParaRPr>
          </a:p>
          <a:p>
            <a:pPr marL="1460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</a:pPr>
            <a:r>
              <a:rPr lang="en" dirty="0"/>
              <a:t>Code Examples</a:t>
            </a:r>
            <a:endParaRPr sz="11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4deeedf12_0_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 Concepts	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A5E97F-CFC4-A900-6BE1-B8D82A86F63D}"/>
              </a:ext>
            </a:extLst>
          </p:cNvPr>
          <p:cNvSpPr txBox="1"/>
          <p:nvPr/>
        </p:nvSpPr>
        <p:spPr>
          <a:xfrm>
            <a:off x="175682" y="1009650"/>
            <a:ext cx="8968317" cy="371475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46050">
              <a:lnSpc>
                <a:spcPct val="114999"/>
              </a:lnSpc>
              <a:buSzPts val="1300"/>
            </a:pPr>
            <a:r>
              <a:rPr lang="en-US" sz="1600" dirty="0">
                <a:latin typeface="Consolas" panose="020B0609020204030204" pitchFamily="49" charset="0"/>
              </a:rPr>
              <a:t>Conditions are expressions that evaluate to a Boolean value (True or False)</a:t>
            </a:r>
          </a:p>
          <a:p>
            <a:pPr marL="146050">
              <a:lnSpc>
                <a:spcPct val="114999"/>
              </a:lnSpc>
              <a:buSzPts val="1300"/>
            </a:pPr>
            <a:r>
              <a:rPr lang="en-US" sz="1600" dirty="0">
                <a:latin typeface="Consolas" panose="020B0609020204030204" pitchFamily="49" charset="0"/>
              </a:rPr>
              <a:t>They often involve comparison operators (e.g., &gt;, &lt;, ==, !=, &gt;=, &lt;=) and logical operators (e.g., and, or, not)</a:t>
            </a:r>
          </a:p>
          <a:p>
            <a:pPr>
              <a:lnSpc>
                <a:spcPct val="114999"/>
              </a:lnSpc>
            </a:pPr>
            <a:r>
              <a:rPr lang="en-US" sz="1600" dirty="0">
                <a:latin typeface="Consolas" panose="020B0609020204030204" pitchFamily="49" charset="0"/>
              </a:rPr>
              <a:t> Python uses indentation to define code blocks.</a:t>
            </a:r>
          </a:p>
          <a:p>
            <a:pPr marL="0" lvl="1" indent="0">
              <a:lnSpc>
                <a:spcPct val="114999"/>
              </a:lnSpc>
              <a:spcBef>
                <a:spcPts val="0"/>
              </a:spcBef>
              <a:buSzPts val="1300"/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lvl="1" indent="0">
              <a:lnSpc>
                <a:spcPct val="114999"/>
              </a:lnSpc>
              <a:spcBef>
                <a:spcPts val="0"/>
              </a:spcBef>
              <a:buSzPts val="1300"/>
              <a:buNone/>
            </a:pPr>
            <a:r>
              <a:rPr lang="en-US" sz="1600" dirty="0">
                <a:latin typeface="Consolas" panose="020B0609020204030204" pitchFamily="49" charset="0"/>
              </a:rPr>
              <a:t> The code indented under an if, </a:t>
            </a:r>
            <a:r>
              <a:rPr lang="en-US" sz="1600" dirty="0" err="1">
                <a:latin typeface="Consolas" panose="020B0609020204030204" pitchFamily="49" charset="0"/>
              </a:rPr>
              <a:t>elif</a:t>
            </a:r>
            <a:r>
              <a:rPr lang="en-US" sz="1600" dirty="0">
                <a:latin typeface="Consolas" panose="020B0609020204030204" pitchFamily="49" charset="0"/>
              </a:rPr>
              <a:t>, or else statement belongs to that specific conditional block.</a:t>
            </a:r>
          </a:p>
          <a:p>
            <a:pPr marL="0" lvl="1" indent="0">
              <a:lnSpc>
                <a:spcPct val="114999"/>
              </a:lnSpc>
              <a:spcBef>
                <a:spcPts val="0"/>
              </a:spcBef>
              <a:buSzPts val="1300"/>
              <a:buNone/>
            </a:pPr>
            <a:r>
              <a:rPr lang="en-US" sz="1600" dirty="0">
                <a:latin typeface="Consolas" panose="020B0609020204030204" pitchFamily="49" charset="0"/>
              </a:rPr>
              <a:t> Conditional statements enable "branching" in your code, directing the program's execution down different paths based on the evaluated conditions</a:t>
            </a:r>
          </a:p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Exercise - Conditional statements</a:t>
            </a:r>
            <a:endParaRPr/>
          </a:p>
        </p:txBody>
      </p:sp>
      <p:sp>
        <p:nvSpPr>
          <p:cNvPr id="113" name="Google Shape;113;p5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700" b="1" dirty="0"/>
              <a:t>10 minutes</a:t>
            </a:r>
            <a:endParaRPr sz="1700" b="1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700" dirty="0"/>
              <a:t>Write a function that checks a number and returns “positive,” “zero,” or “negative”</a:t>
            </a: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endParaRPr sz="1700"/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Loops</a:t>
            </a:r>
            <a:endParaRPr dirty="0"/>
          </a:p>
        </p:txBody>
      </p:sp>
      <p:sp>
        <p:nvSpPr>
          <p:cNvPr id="119" name="Google Shape;119;p6"/>
          <p:cNvSpPr txBox="1"/>
          <p:nvPr/>
        </p:nvSpPr>
        <p:spPr>
          <a:xfrm>
            <a:off x="0" y="973667"/>
            <a:ext cx="8565850" cy="3848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-US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Fundamental control flow structures used to execute a block of code repeatedly</a:t>
            </a: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-US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Two primary types of loops are “for” and “while” loops, which have distinct purposes</a:t>
            </a: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-US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You can nest loops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4deeedf12_0_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range() function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g344deeedf12_0_58"/>
          <p:cNvSpPr txBox="1">
            <a:spLocks noGrp="1"/>
          </p:cNvSpPr>
          <p:nvPr>
            <p:ph type="body" sz="quarter" idx="11"/>
          </p:nvPr>
        </p:nvSpPr>
        <p:spPr>
          <a:xfrm>
            <a:off x="411480" y="808893"/>
            <a:ext cx="7792999" cy="38202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5240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</a:pPr>
            <a:r>
              <a:rPr lang="en" dirty="0">
                <a:solidFill>
                  <a:srgbClr val="FFFFFF"/>
                </a:solidFill>
              </a:rPr>
              <a:t>A built-in Python function</a:t>
            </a:r>
            <a:endParaRPr lang="en-US" dirty="0">
              <a:solidFill>
                <a:srgbClr val="FFFFFF"/>
              </a:solidFill>
            </a:endParaRPr>
          </a:p>
          <a:p>
            <a:pPr marL="146685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7692"/>
            </a:pPr>
            <a:r>
              <a:rPr lang="en" dirty="0">
                <a:solidFill>
                  <a:srgbClr val="FFFFFF"/>
                </a:solidFill>
              </a:rPr>
              <a:t>Output is a “range object,” which is an immutable sequence type and memory efficient compared to a list</a:t>
            </a:r>
            <a:endParaRPr dirty="0">
              <a:solidFill>
                <a:srgbClr val="FFFFFF"/>
              </a:solidFill>
            </a:endParaRPr>
          </a:p>
          <a:p>
            <a:pPr marL="146685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7692"/>
            </a:pPr>
            <a:r>
              <a:rPr lang="en" dirty="0">
                <a:solidFill>
                  <a:srgbClr val="FFFFFF"/>
                </a:solidFill>
              </a:rPr>
              <a:t>range(stop)</a:t>
            </a:r>
            <a:endParaRPr dirty="0">
              <a:solidFill>
                <a:srgbClr val="FFFFFF"/>
              </a:solidFill>
            </a:endParaRPr>
          </a:p>
          <a:p>
            <a:pPr marL="603885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7272"/>
              <a:buNone/>
            </a:pPr>
            <a:r>
              <a:rPr lang="en" dirty="0">
                <a:solidFill>
                  <a:srgbClr val="FFFFFF"/>
                </a:solidFill>
              </a:rPr>
              <a:t>Generates a sequence of numbers starting from 0 (default) up to, but not including, the stop value</a:t>
            </a:r>
            <a:endParaRPr dirty="0">
              <a:solidFill>
                <a:srgbClr val="FFFFFF"/>
              </a:solidFill>
            </a:endParaRPr>
          </a:p>
          <a:p>
            <a:pPr marL="603885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7272"/>
              <a:buNone/>
            </a:pPr>
            <a:r>
              <a:rPr lang="en" dirty="0">
                <a:solidFill>
                  <a:srgbClr val="FFFFFF"/>
                </a:solidFill>
              </a:rPr>
              <a:t>The numbers increment by 1 (default)</a:t>
            </a:r>
            <a:endParaRPr dirty="0">
              <a:solidFill>
                <a:srgbClr val="FFFFFF"/>
              </a:solidFill>
            </a:endParaRPr>
          </a:p>
          <a:p>
            <a:pPr marL="603885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7272"/>
              <a:buNone/>
            </a:pPr>
            <a:r>
              <a:rPr lang="en" dirty="0">
                <a:solidFill>
                  <a:srgbClr val="FFFFFF"/>
                </a:solidFill>
              </a:rPr>
              <a:t>Example: range(5) generates 0, 1, 2, 3, 4</a:t>
            </a:r>
            <a:endParaRPr dirty="0">
              <a:solidFill>
                <a:srgbClr val="FFFFFF"/>
              </a:solidFill>
            </a:endParaRPr>
          </a:p>
          <a:p>
            <a:pPr marL="146685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7692"/>
            </a:pPr>
            <a:r>
              <a:rPr lang="en" dirty="0">
                <a:solidFill>
                  <a:srgbClr val="FFFFFF"/>
                </a:solidFill>
              </a:rPr>
              <a:t>range(start, stop)</a:t>
            </a:r>
            <a:endParaRPr dirty="0">
              <a:solidFill>
                <a:srgbClr val="FFFFFF"/>
              </a:solidFill>
            </a:endParaRPr>
          </a:p>
          <a:p>
            <a:pPr marL="603885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7272"/>
              <a:buNone/>
            </a:pPr>
            <a:r>
              <a:rPr lang="en" dirty="0">
                <a:solidFill>
                  <a:srgbClr val="FFFFFF"/>
                </a:solidFill>
              </a:rPr>
              <a:t>Generates a sequence of numbers starting from the start value (inclusive) up to, but not including, the stop value</a:t>
            </a:r>
            <a:endParaRPr dirty="0">
              <a:solidFill>
                <a:srgbClr val="FFFFFF"/>
              </a:solidFill>
            </a:endParaRPr>
          </a:p>
          <a:p>
            <a:pPr marL="603885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7272"/>
              <a:buNone/>
            </a:pPr>
            <a:r>
              <a:rPr lang="en" dirty="0">
                <a:solidFill>
                  <a:srgbClr val="FFFFFF"/>
                </a:solidFill>
              </a:rPr>
              <a:t>The numbers increment by 1 (default)</a:t>
            </a:r>
            <a:endParaRPr dirty="0">
              <a:solidFill>
                <a:srgbClr val="FFFFFF"/>
              </a:solidFill>
            </a:endParaRPr>
          </a:p>
          <a:p>
            <a:pPr marL="603885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7272"/>
              <a:buNone/>
            </a:pPr>
            <a:r>
              <a:rPr lang="en" dirty="0">
                <a:solidFill>
                  <a:srgbClr val="FFFFFF"/>
                </a:solidFill>
              </a:rPr>
              <a:t>Example: range(2, 7) generates 2, 3, 4, 5, 6</a:t>
            </a:r>
            <a:endParaRPr dirty="0">
              <a:solidFill>
                <a:srgbClr val="FFFFFF"/>
              </a:solidFill>
            </a:endParaRPr>
          </a:p>
          <a:p>
            <a:pPr marL="146685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7692"/>
            </a:pPr>
            <a:r>
              <a:rPr lang="en" dirty="0">
                <a:solidFill>
                  <a:srgbClr val="FFFFFF"/>
                </a:solidFill>
              </a:rPr>
              <a:t>range(start, stop, step)</a:t>
            </a:r>
            <a:endParaRPr dirty="0">
              <a:solidFill>
                <a:srgbClr val="FFFFFF"/>
              </a:solidFill>
            </a:endParaRPr>
          </a:p>
          <a:p>
            <a:pPr marL="603885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7272"/>
              <a:buNone/>
            </a:pPr>
            <a:r>
              <a:rPr lang="en" dirty="0">
                <a:solidFill>
                  <a:srgbClr val="FFFFFF"/>
                </a:solidFill>
              </a:rPr>
              <a:t>Generates a sequence of numbers starting from the start value (inclusive) up to, but not including, the stop value</a:t>
            </a:r>
            <a:endParaRPr dirty="0">
              <a:solidFill>
                <a:srgbClr val="FFFFFF"/>
              </a:solidFill>
            </a:endParaRPr>
          </a:p>
          <a:p>
            <a:pPr marL="603885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7272"/>
              <a:buNone/>
            </a:pPr>
            <a:r>
              <a:rPr lang="en" dirty="0">
                <a:solidFill>
                  <a:srgbClr val="FFFFFF"/>
                </a:solidFill>
              </a:rPr>
              <a:t>The numbers increment or decrement by the step value (integer!)</a:t>
            </a:r>
            <a:endParaRPr dirty="0">
              <a:solidFill>
                <a:srgbClr val="FFFFFF"/>
              </a:solidFill>
            </a:endParaRPr>
          </a:p>
          <a:p>
            <a:pPr marL="603885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7272"/>
              <a:buNone/>
            </a:pPr>
            <a:r>
              <a:rPr lang="en" dirty="0">
                <a:solidFill>
                  <a:srgbClr val="FFFFFF"/>
                </a:solidFill>
              </a:rPr>
              <a:t>If step is positive, it increments. If step is negative, it decrements (for counting backwards).</a:t>
            </a:r>
            <a:endParaRPr dirty="0">
              <a:solidFill>
                <a:srgbClr val="FFFFFF"/>
              </a:solidFill>
            </a:endParaRPr>
          </a:p>
          <a:p>
            <a:pPr marL="603885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7272"/>
              <a:buNone/>
            </a:pPr>
            <a:r>
              <a:rPr lang="en" dirty="0">
                <a:solidFill>
                  <a:srgbClr val="FFFFFF"/>
                </a:solidFill>
              </a:rPr>
              <a:t>step cannot be 0, as it would lead to an infinite loop and raise a </a:t>
            </a:r>
            <a:r>
              <a:rPr lang="en" dirty="0" err="1">
                <a:solidFill>
                  <a:srgbClr val="FFFFFF"/>
                </a:solidFill>
              </a:rPr>
              <a:t>ValueError</a:t>
            </a:r>
            <a:endParaRPr dirty="0" err="1">
              <a:solidFill>
                <a:srgbClr val="FFFFFF"/>
              </a:solidFill>
            </a:endParaRPr>
          </a:p>
          <a:p>
            <a:pPr marL="603885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7272"/>
              <a:buNone/>
            </a:pPr>
            <a:r>
              <a:rPr lang="en" dirty="0">
                <a:solidFill>
                  <a:srgbClr val="FFFFFF"/>
                </a:solidFill>
              </a:rPr>
              <a:t>Example: range(1, 10, 2) generates 1, 3, 5, 7, 9</a:t>
            </a:r>
            <a:endParaRPr dirty="0">
              <a:solidFill>
                <a:srgbClr val="FFFFFF"/>
              </a:solidFill>
            </a:endParaRPr>
          </a:p>
          <a:p>
            <a:pPr marL="603885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7272"/>
              <a:buNone/>
            </a:pPr>
            <a:r>
              <a:rPr lang="en" dirty="0">
                <a:solidFill>
                  <a:srgbClr val="FFFFFF"/>
                </a:solidFill>
              </a:rPr>
              <a:t>Example: range(5, 0, -1) generates 5, 4, 3, 2,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4deeedf12_0_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“for” loop</a:t>
            </a:r>
            <a:endParaRPr dirty="0"/>
          </a:p>
        </p:txBody>
      </p:sp>
      <p:sp>
        <p:nvSpPr>
          <p:cNvPr id="131" name="Google Shape;131;g344deeedf12_0_53"/>
          <p:cNvSpPr txBox="1">
            <a:spLocks noGrp="1"/>
          </p:cNvSpPr>
          <p:nvPr>
            <p:ph type="body" sz="quarter" idx="11"/>
          </p:nvPr>
        </p:nvSpPr>
        <p:spPr>
          <a:xfrm>
            <a:off x="411480" y="959696"/>
            <a:ext cx="5096351" cy="30175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" sz="1800" dirty="0"/>
              <a:t>For loops iterate over a sequence, such as a list, tuple, string, or range, or other iterable objects</a:t>
            </a:r>
            <a:endParaRPr sz="1800" dirty="0"/>
          </a:p>
          <a:p>
            <a:pPr marL="1143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" sz="1800" dirty="0"/>
              <a:t>A block of code is executed once for each item in the sequence</a:t>
            </a:r>
            <a:endParaRPr sz="1800" dirty="0"/>
          </a:p>
          <a:p>
            <a:pPr marL="4572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dirty="0"/>
          </a:p>
          <a:p>
            <a:pPr marL="1143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" sz="1800" dirty="0"/>
              <a:t>Syntax:</a:t>
            </a:r>
            <a:endParaRPr sz="1800" dirty="0"/>
          </a:p>
          <a:p>
            <a:pPr marL="9144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10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for variable in sequence:</a:t>
            </a:r>
            <a:endParaRPr sz="10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>
              <a:lnSpc>
                <a:spcPct val="100000"/>
              </a:lnSpc>
            </a:pPr>
            <a:r>
              <a:rPr lang="en" sz="10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    # code</a:t>
            </a:r>
            <a:endParaRPr sz="10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1143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" sz="1800" dirty="0"/>
              <a:t>Example:</a:t>
            </a:r>
            <a:endParaRPr sz="1800" dirty="0"/>
          </a:p>
          <a:p>
            <a:pPr marL="9144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10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fruits = ["apple", "banana", "cherry"]</a:t>
            </a:r>
            <a:endParaRPr sz="10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10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for fruit in fruits:</a:t>
            </a:r>
            <a:endParaRPr sz="10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>
              <a:lnSpc>
                <a:spcPct val="100000"/>
              </a:lnSpc>
            </a:pPr>
            <a:r>
              <a:rPr lang="en" sz="10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    print(fruit)</a:t>
            </a:r>
            <a:endParaRPr sz="10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algn="l" rtl="0">
              <a:spcBef>
                <a:spcPts val="0"/>
              </a:spcBef>
              <a:spcAft>
                <a:spcPts val="0"/>
              </a:spcAft>
            </a:pPr>
            <a:endParaRPr sz="1100" dirty="0">
              <a:latin typeface="Consolas"/>
              <a:ea typeface="Consolas"/>
              <a:cs typeface="Consolas"/>
              <a:sym typeface="Consolas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sz="11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4deeedf12_0_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“while” loop</a:t>
            </a:r>
            <a:endParaRPr/>
          </a:p>
        </p:txBody>
      </p:sp>
      <p:sp>
        <p:nvSpPr>
          <p:cNvPr id="137" name="Google Shape;137;g344deeedf12_0_65"/>
          <p:cNvSpPr txBox="1">
            <a:spLocks noGrp="1"/>
          </p:cNvSpPr>
          <p:nvPr>
            <p:ph type="body" sz="quarter" idx="11"/>
          </p:nvPr>
        </p:nvSpPr>
        <p:spPr>
          <a:xfrm>
            <a:off x="411480" y="844946"/>
            <a:ext cx="6928568" cy="34536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r>
              <a:rPr lang="en" sz="1800" dirty="0"/>
              <a:t>While loops execute a block of statements repeatedly as long as a given condition is True</a:t>
            </a:r>
            <a:endParaRPr lang="en-US" sz="1800" dirty="0"/>
          </a:p>
          <a:p>
            <a:pPr marL="1143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" sz="1800" dirty="0"/>
              <a:t>The loop continues to execute until the condition becomes false</a:t>
            </a:r>
            <a:endParaRPr sz="1800" dirty="0"/>
          </a:p>
          <a:p>
            <a:pPr marL="1143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r>
              <a:rPr lang="en" sz="1800" dirty="0"/>
              <a:t>Forever loops</a:t>
            </a:r>
            <a:endParaRPr sz="1800" dirty="0"/>
          </a:p>
          <a:p>
            <a:pPr marL="4572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dirty="0"/>
          </a:p>
          <a:p>
            <a:pPr marL="1143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" sz="1800" dirty="0"/>
              <a:t>Syntax:</a:t>
            </a:r>
            <a:endParaRPr sz="1800" dirty="0"/>
          </a:p>
          <a:p>
            <a:pPr marL="9144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10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while condition:</a:t>
            </a:r>
            <a:endParaRPr sz="1000" dirty="0">
              <a:solidFill>
                <a:srgbClr val="FFCC01"/>
              </a:solidFill>
              <a:latin typeface="Consolas"/>
              <a:ea typeface="Consolas"/>
              <a:cs typeface="Consolas"/>
            </a:endParaRPr>
          </a:p>
          <a:p>
            <a:pPr marL="914400">
              <a:lnSpc>
                <a:spcPct val="100000"/>
              </a:lnSpc>
            </a:pPr>
            <a:r>
              <a:rPr lang="en" sz="10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    # block of code</a:t>
            </a:r>
            <a:endParaRPr sz="1000" dirty="0">
              <a:solidFill>
                <a:srgbClr val="FFCC01"/>
              </a:solidFill>
              <a:latin typeface="Consolas"/>
              <a:ea typeface="Consolas"/>
              <a:cs typeface="Consolas"/>
            </a:endParaRPr>
          </a:p>
          <a:p>
            <a:pPr marL="914400">
              <a:lnSpc>
                <a:spcPct val="100000"/>
              </a:lnSpc>
            </a:pPr>
            <a:endParaRPr sz="1200" dirty="0">
              <a:latin typeface="Consolas"/>
              <a:ea typeface="Consolas"/>
              <a:cs typeface="Consolas"/>
            </a:endParaRPr>
          </a:p>
          <a:p>
            <a:pPr marL="1143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" sz="1800" dirty="0"/>
              <a:t>Example:</a:t>
            </a:r>
            <a:endParaRPr sz="1800" dirty="0"/>
          </a:p>
          <a:p>
            <a:pPr marL="9144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10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count = 0</a:t>
            </a:r>
            <a:endParaRPr sz="1000" dirty="0">
              <a:solidFill>
                <a:srgbClr val="FFCC01"/>
              </a:solidFill>
              <a:latin typeface="Consolas"/>
              <a:ea typeface="Consolas"/>
              <a:cs typeface="Consolas"/>
            </a:endParaRPr>
          </a:p>
          <a:p>
            <a:pPr marL="9144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10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while count &lt; 5:</a:t>
            </a:r>
            <a:endParaRPr sz="1000" dirty="0">
              <a:solidFill>
                <a:srgbClr val="FFCC01"/>
              </a:solidFill>
              <a:latin typeface="Consolas"/>
              <a:ea typeface="Consolas"/>
              <a:cs typeface="Consolas"/>
            </a:endParaRPr>
          </a:p>
          <a:p>
            <a:pPr marL="914400">
              <a:lnSpc>
                <a:spcPct val="100000"/>
              </a:lnSpc>
            </a:pPr>
            <a:r>
              <a:rPr lang="en" sz="10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    print(count)</a:t>
            </a:r>
            <a:endParaRPr sz="1000" dirty="0">
              <a:solidFill>
                <a:srgbClr val="FFCC01"/>
              </a:solidFill>
              <a:latin typeface="Consolas"/>
              <a:ea typeface="Consolas"/>
              <a:cs typeface="Consolas"/>
            </a:endParaRPr>
          </a:p>
          <a:p>
            <a:pPr marL="914400">
              <a:lnSpc>
                <a:spcPct val="100000"/>
              </a:lnSpc>
            </a:pPr>
            <a:r>
              <a:rPr lang="en" sz="10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    count += 1</a:t>
            </a:r>
            <a:endParaRPr sz="1000" dirty="0">
              <a:solidFill>
                <a:srgbClr val="FFCC01"/>
              </a:solidFill>
              <a:latin typeface="Consolas"/>
              <a:ea typeface="Consolas"/>
              <a:cs typeface="Consolas"/>
            </a:endParaRPr>
          </a:p>
          <a:p>
            <a:pPr marL="457200" lvl="0" algn="l" rtl="0">
              <a:spcBef>
                <a:spcPts val="0"/>
              </a:spcBef>
              <a:spcAft>
                <a:spcPts val="0"/>
              </a:spcAft>
            </a:pPr>
            <a:endParaRPr sz="1100" dirty="0">
              <a:latin typeface="Consolas"/>
              <a:ea typeface="Consolas"/>
              <a:cs typeface="Consolas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sz="1100" dirty="0"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4deeedf12_0_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Loop Control Statements</a:t>
            </a:r>
            <a:endParaRPr dirty="0"/>
          </a:p>
        </p:txBody>
      </p:sp>
      <p:sp>
        <p:nvSpPr>
          <p:cNvPr id="143" name="Google Shape;143;g344deeedf12_0_43"/>
          <p:cNvSpPr txBox="1">
            <a:spLocks noGrp="1"/>
          </p:cNvSpPr>
          <p:nvPr>
            <p:ph type="body" sz="quarter" idx="11"/>
          </p:nvPr>
        </p:nvSpPr>
        <p:spPr>
          <a:xfrm>
            <a:off x="292946" y="942763"/>
            <a:ext cx="5096351" cy="30175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n" sz="1800" dirty="0"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terminates the current loop immediately, execution resumes at the statement following the loop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n" sz="1800" dirty="0">
                <a:latin typeface="Consolas"/>
                <a:ea typeface="Consolas"/>
                <a:cs typeface="Consolas"/>
                <a:sym typeface="Consolas"/>
              </a:rPr>
              <a:t>continue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skips the rest of the current iteration of the loop and proceeds to the next iteration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n" sz="1800" dirty="0">
                <a:latin typeface="Consolas"/>
                <a:ea typeface="Consolas"/>
                <a:cs typeface="Consolas"/>
                <a:sym typeface="Consolas"/>
              </a:rPr>
              <a:t>pass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null operation, used as a placeholder in loops or other code blocks where a statement is syntactically required but there is nothing to execute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4deeedf12_0_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Nested Loops</a:t>
            </a:r>
            <a:endParaRPr/>
          </a:p>
        </p:txBody>
      </p:sp>
      <p:sp>
        <p:nvSpPr>
          <p:cNvPr id="149" name="Google Shape;149;g344deeedf12_0_48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r>
              <a:rPr lang="en" sz="1800" dirty="0"/>
              <a:t>Python allows loops inside other loops, called nested loops</a:t>
            </a:r>
            <a:endParaRPr sz="1800" dirty="0"/>
          </a:p>
          <a:p>
            <a:pPr marL="1143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" sz="1800" dirty="0"/>
              <a:t>The inner loop executes completely for each iteration of the outer loop</a:t>
            </a:r>
            <a:endParaRPr sz="1800" dirty="0"/>
          </a:p>
          <a:p>
            <a:pPr marL="9525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</a:pPr>
            <a:r>
              <a:rPr lang="en" sz="1800" dirty="0"/>
              <a:t>Example</a:t>
            </a:r>
            <a:r>
              <a:rPr lang="en" sz="1600" dirty="0"/>
              <a:t>:</a:t>
            </a:r>
            <a:endParaRPr sz="1600" dirty="0"/>
          </a:p>
          <a:p>
            <a:pPr marL="914400" lvl="0" algn="l" rtl="0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dirty="0" err="1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 in range(3):</a:t>
            </a:r>
            <a:endParaRPr dirty="0">
              <a:solidFill>
                <a:schemeClr val="tx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/>
            <a:r>
              <a:rPr lang="en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    for j in range(2):</a:t>
            </a:r>
            <a:endParaRPr dirty="0">
              <a:solidFill>
                <a:schemeClr val="tx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indent="0">
              <a:buNone/>
            </a:pPr>
            <a:r>
              <a:rPr lang="en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        print(</a:t>
            </a:r>
            <a:r>
              <a:rPr lang="en" dirty="0" err="1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dirty="0">
                <a:solidFill>
                  <a:schemeClr val="tx2"/>
                </a:solidFill>
                <a:latin typeface="Consolas"/>
                <a:ea typeface="Consolas"/>
                <a:cs typeface="Consolas"/>
                <a:sym typeface="Consolas"/>
              </a:rPr>
              <a:t>, j)</a:t>
            </a:r>
            <a:endParaRPr dirty="0">
              <a:solidFill>
                <a:schemeClr val="tx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1800" dirty="0"/>
              <a:t>Examples</a:t>
            </a:r>
            <a:endParaRPr sz="11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Exercise - Loops</a:t>
            </a:r>
            <a:endParaRPr/>
          </a:p>
        </p:txBody>
      </p:sp>
      <p:sp>
        <p:nvSpPr>
          <p:cNvPr id="155" name="Google Shape;155;p7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470"/>
              <a:buNone/>
            </a:pPr>
            <a:r>
              <a:rPr lang="en" sz="1700" b="1" dirty="0"/>
              <a:t>10 minutes</a:t>
            </a:r>
            <a:endParaRPr lang="en-US" sz="17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470"/>
              <a:buNone/>
            </a:pP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470"/>
              <a:buNone/>
            </a:pPr>
            <a:r>
              <a:rPr lang="en" sz="1700" dirty="0"/>
              <a:t>Write a program that prints the following output using loops. Do not just write print() statements multiple times.</a:t>
            </a:r>
            <a:endParaRPr sz="1700" dirty="0"/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endParaRPr lang="en" sz="17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470"/>
              <a:buNone/>
            </a:pPr>
            <a:r>
              <a:rPr lang="en-US" sz="1700" b="1" dirty="0">
                <a:ea typeface="Consolas"/>
                <a:cs typeface="Consolas"/>
              </a:rPr>
              <a:t>Output:</a:t>
            </a:r>
            <a:endParaRPr sz="1700" b="1" dirty="0"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" sz="1700" dirty="0">
                <a:latin typeface="Consolas"/>
                <a:ea typeface="Consolas"/>
                <a:cs typeface="Consolas"/>
                <a:sym typeface="Consolas"/>
              </a:rPr>
              <a:t>   1 2 3</a:t>
            </a:r>
            <a:endParaRPr sz="1700" dirty="0"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" sz="1700" dirty="0">
                <a:latin typeface="Consolas"/>
                <a:ea typeface="Consolas"/>
                <a:cs typeface="Consolas"/>
                <a:sym typeface="Consolas"/>
              </a:rPr>
              <a:t>   1 2 3</a:t>
            </a:r>
            <a:endParaRPr lang="en" sz="1700" dirty="0">
              <a:latin typeface="Consolas"/>
              <a:ea typeface="Consolas"/>
              <a:cs typeface="Consolas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" sz="1700" dirty="0">
                <a:latin typeface="Consolas"/>
                <a:ea typeface="Consolas"/>
                <a:cs typeface="Consolas"/>
                <a:sym typeface="Consolas"/>
              </a:rPr>
              <a:t>   1 2 3</a:t>
            </a:r>
            <a:endParaRPr sz="17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76470"/>
              <a:buNone/>
            </a:pPr>
            <a:endParaRPr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4deeedf12_0_7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Python Errors</a:t>
            </a:r>
            <a:endParaRPr/>
          </a:p>
        </p:txBody>
      </p:sp>
      <p:sp>
        <p:nvSpPr>
          <p:cNvPr id="161" name="Google Shape;161;g344deeedf12_0_76"/>
          <p:cNvSpPr txBox="1"/>
          <p:nvPr/>
        </p:nvSpPr>
        <p:spPr>
          <a:xfrm>
            <a:off x="616150" y="1580550"/>
            <a:ext cx="7647000" cy="3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 dirty="0">
                <a:latin typeface="Roboto"/>
                <a:ea typeface="Roboto"/>
                <a:cs typeface="Roboto"/>
                <a:sym typeface="Roboto"/>
              </a:rPr>
              <a:t>Errors are issues in a program that prevent it from running as expected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 dirty="0">
                <a:latin typeface="Roboto"/>
                <a:ea typeface="Roboto"/>
                <a:cs typeface="Roboto"/>
                <a:sym typeface="Roboto"/>
              </a:rPr>
              <a:t>They help programmers find and fix mistakes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 dirty="0">
                <a:latin typeface="Roboto"/>
                <a:ea typeface="Roboto"/>
                <a:cs typeface="Roboto"/>
                <a:sym typeface="Roboto"/>
              </a:rPr>
              <a:t>Why learn errors?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 dirty="0">
                <a:latin typeface="Roboto"/>
                <a:ea typeface="Roboto"/>
                <a:cs typeface="Roboto"/>
                <a:sym typeface="Roboto"/>
              </a:rPr>
              <a:t>Errors help you debug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 dirty="0">
                <a:latin typeface="Roboto"/>
                <a:ea typeface="Roboto"/>
                <a:cs typeface="Roboto"/>
                <a:sym typeface="Roboto"/>
              </a:rPr>
              <a:t>Knowing common errors makes writing and fixing code faster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 dirty="0">
                <a:latin typeface="Roboto"/>
                <a:ea typeface="Roboto"/>
                <a:cs typeface="Roboto"/>
                <a:sym typeface="Roboto"/>
              </a:rPr>
              <a:t>Good programs handle errors gracefully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Exercise - Python Errors</a:t>
            </a:r>
            <a:endParaRPr/>
          </a:p>
        </p:txBody>
      </p:sp>
      <p:sp>
        <p:nvSpPr>
          <p:cNvPr id="167" name="Google Shape;167;p8"/>
          <p:cNvSpPr txBox="1">
            <a:spLocks noGrp="1"/>
          </p:cNvSpPr>
          <p:nvPr>
            <p:ph type="body" sz="quarter" idx="11"/>
          </p:nvPr>
        </p:nvSpPr>
        <p:spPr>
          <a:xfrm>
            <a:off x="411480" y="887819"/>
            <a:ext cx="8418860" cy="3741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500" dirty="0"/>
              <a:t>5 minutes</a:t>
            </a:r>
            <a:endParaRPr sz="15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5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500" dirty="0"/>
              <a:t>Groups of 2-3</a:t>
            </a:r>
            <a:endParaRPr sz="15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500" dirty="0"/>
              <a:t>Research each python error and demonstrate an example case of when this error will be raised</a:t>
            </a:r>
            <a:endParaRPr sz="1500" dirty="0"/>
          </a:p>
          <a:p>
            <a:pPr marL="13335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</a:pPr>
            <a:r>
              <a:rPr lang="en" sz="1500" dirty="0">
                <a:solidFill>
                  <a:schemeClr val="tx2"/>
                </a:solidFill>
              </a:rPr>
              <a:t>SyntaxError</a:t>
            </a:r>
            <a:endParaRPr sz="1500" dirty="0">
              <a:solidFill>
                <a:schemeClr val="tx2"/>
              </a:solidFill>
            </a:endParaRPr>
          </a:p>
          <a:p>
            <a:pPr marL="13335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" sz="1500" dirty="0">
                <a:solidFill>
                  <a:schemeClr val="tx2"/>
                </a:solidFill>
              </a:rPr>
              <a:t>IndentationError</a:t>
            </a:r>
            <a:endParaRPr sz="1500" dirty="0">
              <a:solidFill>
                <a:schemeClr val="tx2"/>
              </a:solidFill>
            </a:endParaRPr>
          </a:p>
          <a:p>
            <a:pPr marL="13335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" sz="1500" dirty="0">
                <a:solidFill>
                  <a:schemeClr val="tx2"/>
                </a:solidFill>
              </a:rPr>
              <a:t>TypeError </a:t>
            </a:r>
            <a:endParaRPr sz="1500" dirty="0">
              <a:solidFill>
                <a:schemeClr val="tx2"/>
              </a:solidFill>
            </a:endParaRPr>
          </a:p>
          <a:p>
            <a:pPr marL="13335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" sz="1500" dirty="0">
                <a:solidFill>
                  <a:schemeClr val="tx2"/>
                </a:solidFill>
              </a:rPr>
              <a:t>ValueError</a:t>
            </a:r>
            <a:endParaRPr sz="1500" dirty="0">
              <a:solidFill>
                <a:schemeClr val="tx2"/>
              </a:solidFill>
            </a:endParaRPr>
          </a:p>
          <a:p>
            <a:pPr marL="13335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" sz="1500" dirty="0">
                <a:solidFill>
                  <a:schemeClr val="tx2"/>
                </a:solidFill>
              </a:rPr>
              <a:t>ZeroDivisionError</a:t>
            </a:r>
            <a:endParaRPr sz="1500" dirty="0">
              <a:solidFill>
                <a:schemeClr val="tx2"/>
              </a:solidFill>
            </a:endParaRPr>
          </a:p>
          <a:p>
            <a:pPr marL="13335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" sz="1500" dirty="0">
                <a:solidFill>
                  <a:schemeClr val="tx2"/>
                </a:solidFill>
              </a:rPr>
              <a:t>IndexError</a:t>
            </a:r>
            <a:endParaRPr sz="1500" dirty="0">
              <a:solidFill>
                <a:schemeClr val="tx2"/>
              </a:solidFill>
            </a:endParaRPr>
          </a:p>
          <a:p>
            <a:pPr marL="13335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" sz="1500" dirty="0">
                <a:solidFill>
                  <a:schemeClr val="tx2"/>
                </a:solidFill>
              </a:rPr>
              <a:t>KeyError</a:t>
            </a:r>
            <a:endParaRPr sz="1500" dirty="0">
              <a:solidFill>
                <a:schemeClr val="tx2"/>
              </a:solidFill>
            </a:endParaRPr>
          </a:p>
          <a:p>
            <a:pPr marL="13335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" sz="1500" dirty="0">
                <a:solidFill>
                  <a:schemeClr val="tx2"/>
                </a:solidFill>
              </a:rPr>
              <a:t>AttributeError</a:t>
            </a:r>
            <a:endParaRPr sz="1500" dirty="0">
              <a:solidFill>
                <a:schemeClr val="tx2"/>
              </a:solidFill>
            </a:endParaRPr>
          </a:p>
          <a:p>
            <a:pPr marL="13335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" sz="1500" dirty="0">
                <a:solidFill>
                  <a:schemeClr val="tx2"/>
                </a:solidFill>
              </a:rPr>
              <a:t>FileNotFoundError</a:t>
            </a:r>
            <a:endParaRPr sz="1500" dirty="0">
              <a:solidFill>
                <a:schemeClr val="tx2"/>
              </a:solidFill>
            </a:endParaRPr>
          </a:p>
          <a:p>
            <a:pPr marL="13335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" sz="1500" dirty="0">
                <a:solidFill>
                  <a:schemeClr val="tx2"/>
                </a:solidFill>
              </a:rPr>
              <a:t>ImportError</a:t>
            </a:r>
            <a:endParaRPr sz="17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44deeedf12_0_88"/>
          <p:cNvGraphicFramePr/>
          <p:nvPr>
            <p:extLst>
              <p:ext uri="{D42A27DB-BD31-4B8C-83A1-F6EECF244321}">
                <p14:modId xmlns:p14="http://schemas.microsoft.com/office/powerpoint/2010/main" val="4030680131"/>
              </p:ext>
            </p:extLst>
          </p:nvPr>
        </p:nvGraphicFramePr>
        <p:xfrm>
          <a:off x="107150" y="712766"/>
          <a:ext cx="8991600" cy="3870630"/>
        </p:xfrm>
        <a:graphic>
          <a:graphicData uri="http://schemas.openxmlformats.org/drawingml/2006/table">
            <a:tbl>
              <a:tblPr>
                <a:noFill/>
                <a:tableStyleId>{73A53AC3-02BE-4BBD-822B-44806B13A2D8}</a:tableStyleId>
              </a:tblPr>
              <a:tblGrid>
                <a:gridCol w="255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Type</a:t>
                      </a:r>
                      <a:endParaRPr sz="1200" b="1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When it Happens</a:t>
                      </a:r>
                      <a:endParaRPr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Example</a:t>
                      </a:r>
                      <a:endParaRPr sz="1200" b="1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SyntaxError</a:t>
                      </a:r>
                      <a:endParaRPr sz="1100" b="1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Code violates Python’s rules</a:t>
                      </a:r>
                      <a:endParaRPr sz="11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Missing colon </a:t>
                      </a:r>
                      <a:r>
                        <a:rPr lang="en" sz="110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:</a:t>
                      </a:r>
                      <a:endParaRPr sz="110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IndentationError</a:t>
                      </a:r>
                      <a:endParaRPr sz="1100" b="1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Code has wrong indentation</a:t>
                      </a:r>
                      <a:endParaRPr sz="11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Misaligned blocks</a:t>
                      </a:r>
                      <a:endParaRPr sz="11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TypeError</a:t>
                      </a:r>
                      <a:endParaRPr sz="1100" b="1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Wrong type used in operation</a:t>
                      </a:r>
                      <a:endParaRPr sz="11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Add </a:t>
                      </a:r>
                      <a:r>
                        <a:rPr lang="en" sz="11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int</a:t>
                      </a:r>
                      <a:r>
                        <a:rPr lang="en" sz="11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to </a:t>
                      </a:r>
                      <a:r>
                        <a:rPr lang="en" sz="11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str</a:t>
                      </a:r>
                      <a:endParaRPr sz="11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ValueError</a:t>
                      </a:r>
                      <a:endParaRPr sz="1100" b="1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Right type, wrong value</a:t>
                      </a:r>
                      <a:endParaRPr sz="11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int("abc")</a:t>
                      </a:r>
                      <a:endParaRPr sz="11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ZeroDivisionError</a:t>
                      </a:r>
                      <a:endParaRPr sz="1100" b="1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Dividing by zero</a:t>
                      </a:r>
                      <a:endParaRPr sz="11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5 / 0</a:t>
                      </a:r>
                      <a:endParaRPr sz="11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IndexError</a:t>
                      </a:r>
                      <a:endParaRPr sz="1100" b="1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Index out of range in a sequence</a:t>
                      </a:r>
                      <a:endParaRPr sz="11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list[5]</a:t>
                      </a:r>
                      <a:r>
                        <a:rPr lang="en" sz="11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with 3 items</a:t>
                      </a:r>
                      <a:endParaRPr sz="11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KeyError</a:t>
                      </a:r>
                      <a:endParaRPr sz="1100" b="1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Missing key in a dictionary</a:t>
                      </a:r>
                      <a:endParaRPr sz="11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dict["missing"]</a:t>
                      </a:r>
                      <a:endParaRPr sz="11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AttributeError</a:t>
                      </a:r>
                      <a:endParaRPr sz="1100" b="1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Attribute doesn’t exist</a:t>
                      </a:r>
                      <a:endParaRPr sz="11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int.append()</a:t>
                      </a:r>
                      <a:endParaRPr sz="11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FileNotFoundError</a:t>
                      </a:r>
                      <a:endParaRPr sz="1100" b="1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File does not exist</a:t>
                      </a:r>
                      <a:endParaRPr sz="11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Open missing file</a:t>
                      </a:r>
                      <a:endParaRPr sz="11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ImportError</a:t>
                      </a:r>
                      <a:endParaRPr sz="1100" b="1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Cannot import a module</a:t>
                      </a:r>
                      <a:endParaRPr sz="11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Wrong module name</a:t>
                      </a:r>
                      <a:endParaRPr sz="11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4deeedf12_0_9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Error Handling</a:t>
            </a:r>
            <a:endParaRPr/>
          </a:p>
        </p:txBody>
      </p:sp>
      <p:sp>
        <p:nvSpPr>
          <p:cNvPr id="178" name="Google Shape;178;g344deeedf12_0_97"/>
          <p:cNvSpPr txBox="1"/>
          <p:nvPr/>
        </p:nvSpPr>
        <p:spPr>
          <a:xfrm>
            <a:off x="606210" y="1570610"/>
            <a:ext cx="7647000" cy="3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 panose="020B0604020202020204" pitchFamily="34" charset="0"/>
              <a:buChar char="•"/>
            </a:pPr>
            <a:r>
              <a:rPr lang="en" sz="1800" dirty="0">
                <a:latin typeface="Roboto"/>
                <a:ea typeface="Roboto"/>
                <a:cs typeface="Roboto"/>
                <a:sym typeface="Roboto"/>
              </a:rPr>
              <a:t>Why Handle Errors?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 panose="020B0604020202020204" pitchFamily="34" charset="0"/>
              <a:buChar char="•"/>
            </a:pPr>
            <a:r>
              <a:rPr lang="en" sz="1800" dirty="0">
                <a:latin typeface="Roboto"/>
                <a:ea typeface="Roboto"/>
                <a:cs typeface="Roboto"/>
                <a:sym typeface="Roboto"/>
              </a:rPr>
              <a:t>Prevent your program from crashing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 panose="020B0604020202020204" pitchFamily="34" charset="0"/>
              <a:buChar char="•"/>
            </a:pPr>
            <a:r>
              <a:rPr lang="en" sz="1800" dirty="0">
                <a:latin typeface="Roboto"/>
                <a:ea typeface="Roboto"/>
                <a:cs typeface="Roboto"/>
                <a:sym typeface="Roboto"/>
              </a:rPr>
              <a:t>Provide helpful messages to users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 panose="020B0604020202020204" pitchFamily="34" charset="0"/>
              <a:buChar char="•"/>
            </a:pPr>
            <a:r>
              <a:rPr lang="en" sz="1800" dirty="0">
                <a:latin typeface="Roboto"/>
                <a:ea typeface="Roboto"/>
                <a:cs typeface="Roboto"/>
                <a:sym typeface="Roboto"/>
              </a:rPr>
              <a:t>Let your code recover from unexpected situations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4deeedf12_0_1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- except</a:t>
            </a:r>
            <a:endParaRPr/>
          </a:p>
        </p:txBody>
      </p:sp>
      <p:sp>
        <p:nvSpPr>
          <p:cNvPr id="184" name="Google Shape;184;g344deeedf12_0_103"/>
          <p:cNvSpPr txBox="1">
            <a:spLocks noGrp="1"/>
          </p:cNvSpPr>
          <p:nvPr>
            <p:ph type="body" sz="quarter" idx="11"/>
          </p:nvPr>
        </p:nvSpPr>
        <p:spPr>
          <a:xfrm>
            <a:off x="411480" y="874643"/>
            <a:ext cx="8321040" cy="375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" sz="1800" dirty="0"/>
              <a:t>Tries a block a code and if an error is raised, can handle that error neatly</a:t>
            </a:r>
            <a:endParaRPr sz="1800" dirty="0"/>
          </a:p>
          <a:p>
            <a:pPr marL="9525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</a:pPr>
            <a:r>
              <a:rPr lang="en" sz="1800" dirty="0"/>
              <a:t>Example:</a:t>
            </a:r>
          </a:p>
          <a:p>
            <a:pPr marL="9525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</a:pPr>
            <a:endParaRPr lang="en" sz="14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525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</a:pPr>
            <a:r>
              <a:rPr lang="en" sz="14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try:</a:t>
            </a:r>
            <a:endParaRPr sz="14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" sz="14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     # code that might cause an error</a:t>
            </a:r>
            <a:endParaRPr sz="14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" sz="14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     number = int("abc")</a:t>
            </a:r>
          </a:p>
          <a:p>
            <a:pPr indent="0">
              <a:lnSpc>
                <a:spcPct val="100000"/>
              </a:lnSpc>
              <a:buNone/>
            </a:pPr>
            <a:r>
              <a:rPr lang="en" sz="14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 except ValueError:</a:t>
            </a:r>
            <a:endParaRPr sz="14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" sz="14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     print("Oops! That wasn't a number.")</a:t>
            </a:r>
            <a:endParaRPr sz="14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4deeedf12_0_1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- except continued</a:t>
            </a:r>
            <a:endParaRPr/>
          </a:p>
        </p:txBody>
      </p:sp>
      <p:sp>
        <p:nvSpPr>
          <p:cNvPr id="190" name="Google Shape;190;g344deeedf12_0_111"/>
          <p:cNvSpPr txBox="1">
            <a:spLocks noGrp="1"/>
          </p:cNvSpPr>
          <p:nvPr>
            <p:ph type="body" sz="quarter" idx="11"/>
          </p:nvPr>
        </p:nvSpPr>
        <p:spPr>
          <a:xfrm>
            <a:off x="411480" y="815009"/>
            <a:ext cx="8321040" cy="3814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1800" dirty="0"/>
              <a:t>Optional</a:t>
            </a:r>
            <a:endParaRPr sz="1800" dirty="0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dirty="0"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" sz="1800" dirty="0"/>
              <a:t>: Runs if no error occurs</a:t>
            </a:r>
            <a:endParaRPr sz="1800" dirty="0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dirty="0">
                <a:latin typeface="Consolas"/>
                <a:ea typeface="Consolas"/>
                <a:cs typeface="Consolas"/>
                <a:sym typeface="Consolas"/>
              </a:rPr>
              <a:t>finally</a:t>
            </a:r>
            <a:r>
              <a:rPr lang="en" sz="1800" dirty="0"/>
              <a:t>: always runs</a:t>
            </a:r>
          </a:p>
          <a:p>
            <a:pPr marL="571500" lvl="1" indent="0">
              <a:lnSpc>
                <a:spcPct val="100000"/>
              </a:lnSpc>
              <a:buClr>
                <a:srgbClr val="000000"/>
              </a:buClr>
              <a:buSzPts val="1800"/>
              <a:buNone/>
            </a:pPr>
            <a:endParaRPr lang="en" sz="18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dirty="0"/>
              <a:t>Example</a:t>
            </a:r>
            <a:endParaRPr sz="1800" dirty="0"/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try:</a:t>
            </a:r>
            <a:endParaRPr sz="14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indent="0">
              <a:lnSpc>
                <a:spcPct val="100000"/>
              </a:lnSpc>
              <a:buNone/>
            </a:pPr>
            <a:r>
              <a:rPr lang="en" sz="14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    result = 10 / 2</a:t>
            </a:r>
            <a:endParaRPr sz="14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except </a:t>
            </a:r>
            <a:r>
              <a:rPr lang="en" sz="1400" dirty="0" err="1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ZeroDivisionError</a:t>
            </a:r>
            <a:r>
              <a:rPr lang="en" sz="14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4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indent="0">
              <a:lnSpc>
                <a:spcPct val="100000"/>
              </a:lnSpc>
              <a:buNone/>
            </a:pPr>
            <a:r>
              <a:rPr lang="en" sz="14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    print("Cannot divide by zero.")</a:t>
            </a:r>
            <a:endParaRPr sz="14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sz="14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indent="0">
              <a:lnSpc>
                <a:spcPct val="100000"/>
              </a:lnSpc>
              <a:buNone/>
            </a:pPr>
            <a:r>
              <a:rPr lang="en" sz="14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    print("Division successful.")</a:t>
            </a:r>
            <a:endParaRPr sz="14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finally:</a:t>
            </a:r>
            <a:endParaRPr sz="14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indent="0">
              <a:lnSpc>
                <a:spcPct val="100000"/>
              </a:lnSpc>
              <a:buNone/>
            </a:pPr>
            <a:r>
              <a:rPr lang="en" sz="14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    print("Done.")</a:t>
            </a:r>
            <a:endParaRPr sz="14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Examples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4deeedf12_0_1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raise</a:t>
            </a:r>
            <a:endParaRPr/>
          </a:p>
        </p:txBody>
      </p:sp>
      <p:sp>
        <p:nvSpPr>
          <p:cNvPr id="196" name="Google Shape;196;g344deeedf12_0_118"/>
          <p:cNvSpPr txBox="1">
            <a:spLocks noGrp="1"/>
          </p:cNvSpPr>
          <p:nvPr>
            <p:ph type="body" sz="quarter" idx="11"/>
          </p:nvPr>
        </p:nvSpPr>
        <p:spPr>
          <a:xfrm>
            <a:off x="411480" y="750404"/>
            <a:ext cx="8321040" cy="38787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17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6666"/>
              <a:buFont typeface="Arial"/>
              <a:buChar char="●"/>
            </a:pPr>
            <a:r>
              <a:rPr lang="en" sz="1800" dirty="0"/>
              <a:t>“raise” is used to intentionally trigger an error</a:t>
            </a:r>
            <a:endParaRPr lang="en-US" sz="1800" dirty="0"/>
          </a:p>
          <a:p>
            <a:pPr marL="457200" lvl="0" indent="-3517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6666"/>
              <a:buFont typeface="Arial"/>
              <a:buChar char="●"/>
            </a:pPr>
            <a:r>
              <a:rPr lang="en" sz="1800" dirty="0"/>
              <a:t>Helps enforce rules and catch problems early</a:t>
            </a:r>
            <a:endParaRPr sz="1800" dirty="0"/>
          </a:p>
          <a:p>
            <a:pPr marL="457200" lvl="0" indent="-3340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●"/>
            </a:pPr>
            <a:r>
              <a:rPr lang="en" sz="1800" dirty="0"/>
              <a:t>Make your code more predictable and safe</a:t>
            </a:r>
            <a:endParaRPr sz="1800" dirty="0"/>
          </a:p>
          <a:p>
            <a:pPr marL="457200" lvl="0" indent="-3517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6666"/>
              <a:buFont typeface="Arial"/>
              <a:buChar char="●"/>
            </a:pPr>
            <a:r>
              <a:rPr lang="en" sz="1800" dirty="0"/>
              <a:t>Useful for custom error messages or defining your own exceptions</a:t>
            </a:r>
            <a:endParaRPr sz="1800" dirty="0"/>
          </a:p>
          <a:p>
            <a:pPr marL="457200" lvl="0" indent="-3340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●"/>
            </a:pPr>
            <a:r>
              <a:rPr lang="en" sz="1800" dirty="0"/>
              <a:t>Syntax</a:t>
            </a:r>
            <a:endParaRPr sz="18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if age &lt; 0:</a:t>
            </a:r>
            <a:endParaRPr sz="1100" dirty="0">
              <a:solidFill>
                <a:srgbClr val="FFCC01"/>
              </a:solidFill>
              <a:latin typeface="Consolas"/>
              <a:ea typeface="Consolas"/>
              <a:cs typeface="Consolas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" sz="11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    raise ValueError("Age cannot be negative.")</a:t>
            </a:r>
            <a:endParaRPr sz="11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40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 dirty="0"/>
              <a:t>Built-in Exceptions</a:t>
            </a:r>
            <a:endParaRPr sz="18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raise </a:t>
            </a:r>
            <a:r>
              <a:rPr lang="en" sz="1200" dirty="0" err="1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TypeError</a:t>
            </a:r>
            <a:r>
              <a:rPr lang="en" sz="12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("This function only accepts strings.")</a:t>
            </a:r>
            <a:endParaRPr sz="12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raise </a:t>
            </a:r>
            <a:r>
              <a:rPr lang="en" sz="1200" dirty="0" err="1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ZeroDivisionError</a:t>
            </a:r>
            <a:r>
              <a:rPr lang="en" sz="12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("Cannot divide by zero.")</a:t>
            </a:r>
            <a:endParaRPr sz="12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340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800" dirty="0"/>
              <a:t>Raised errors can be caught and handled with try / except</a:t>
            </a:r>
            <a:endParaRPr sz="1800" dirty="0"/>
          </a:p>
          <a:p>
            <a:pPr marL="457200" lvl="0" indent="-3340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800" dirty="0"/>
              <a:t>If not caught, they will be passed to the output and stop the program</a:t>
            </a:r>
            <a:endParaRPr sz="18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Final Coding Exercise</a:t>
            </a:r>
            <a:endParaRPr/>
          </a:p>
        </p:txBody>
      </p:sp>
      <p:sp>
        <p:nvSpPr>
          <p:cNvPr id="202" name="Google Shape;202;p10"/>
          <p:cNvSpPr txBox="1">
            <a:spLocks noGrp="1"/>
          </p:cNvSpPr>
          <p:nvPr>
            <p:ph type="body" sz="quarter" idx="11"/>
          </p:nvPr>
        </p:nvSpPr>
        <p:spPr>
          <a:xfrm>
            <a:off x="411480" y="819978"/>
            <a:ext cx="8220655" cy="38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470"/>
              <a:buNone/>
            </a:pPr>
            <a:r>
              <a:rPr lang="en" sz="1700" b="1" dirty="0"/>
              <a:t>20 min </a:t>
            </a:r>
            <a:endParaRPr lang="en-US" sz="17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666"/>
              <a:buNone/>
            </a:pPr>
            <a:endParaRPr sz="15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6470"/>
              <a:buNone/>
            </a:pPr>
            <a:r>
              <a:rPr lang="en" sz="1700" dirty="0"/>
              <a:t>Write a block of code that takes in user input until they guess the random number</a:t>
            </a: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470"/>
              <a:buNone/>
            </a:pPr>
            <a:r>
              <a:rPr lang="en" sz="1700" dirty="0"/>
              <a:t>Prompt the user to help them with their guess</a:t>
            </a: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470"/>
              <a:buNone/>
            </a:pPr>
            <a:r>
              <a:rPr lang="en" sz="1700" dirty="0"/>
              <a:t>Handle the following situations</a:t>
            </a:r>
            <a:endParaRPr sz="1700" dirty="0"/>
          </a:p>
          <a:p>
            <a:pPr marL="457200" lvl="0" indent="-32829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700" dirty="0"/>
              <a:t>User does not input the right python data type</a:t>
            </a:r>
            <a:endParaRPr sz="1700" dirty="0"/>
          </a:p>
          <a:p>
            <a:pPr marL="457200" lvl="0" indent="-32829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700" dirty="0"/>
              <a:t>User inputs a negative number</a:t>
            </a:r>
            <a:endParaRPr sz="1700" dirty="0"/>
          </a:p>
          <a:p>
            <a:pPr marL="457200" lvl="0" indent="-32829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700" dirty="0"/>
              <a:t>User inputs a number outside the guess range</a:t>
            </a: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76470"/>
              <a:buNone/>
            </a:pPr>
            <a:r>
              <a:rPr lang="en" sz="1700" b="1" dirty="0"/>
              <a:t>Hint: use </a:t>
            </a:r>
            <a:r>
              <a:rPr lang="en" sz="1700" b="1" dirty="0">
                <a:solidFill>
                  <a:srgbClr val="FFCC01"/>
                </a:solidFill>
              </a:rPr>
              <a:t>random.randomint() </a:t>
            </a:r>
            <a:r>
              <a:rPr lang="en" sz="1700" b="1" dirty="0"/>
              <a:t>to generate a random number</a:t>
            </a:r>
            <a:endParaRPr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4deeedf12_0_9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Final Coding Exercise</a:t>
            </a:r>
            <a:endParaRPr/>
          </a:p>
        </p:txBody>
      </p:sp>
      <p:sp>
        <p:nvSpPr>
          <p:cNvPr id="208" name="Google Shape;208;g344deeedf12_0_92"/>
          <p:cNvSpPr txBox="1">
            <a:spLocks noGrp="1"/>
          </p:cNvSpPr>
          <p:nvPr>
            <p:ph type="body" sz="quarter" idx="11"/>
          </p:nvPr>
        </p:nvSpPr>
        <p:spPr>
          <a:xfrm>
            <a:off x="411480" y="870065"/>
            <a:ext cx="8321040" cy="375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700" b="1" dirty="0"/>
              <a:t>20 min </a:t>
            </a:r>
            <a:endParaRPr sz="1700" b="1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/>
              <a:t>Given a list of numbers, write a program that:</a:t>
            </a:r>
            <a:endParaRPr sz="1500" dirty="0"/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 dirty="0"/>
              <a:t>Loops through the list</a:t>
            </a:r>
            <a:endParaRPr sz="1500" dirty="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 dirty="0"/>
              <a:t>Skips any None values or non-integer types with an error message using try/except</a:t>
            </a:r>
            <a:endParaRPr sz="1500" dirty="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 dirty="0"/>
              <a:t>Raises a </a:t>
            </a:r>
            <a:r>
              <a:rPr lang="en" sz="1500" dirty="0" err="1"/>
              <a:t>ValueError</a:t>
            </a:r>
            <a:r>
              <a:rPr lang="en" sz="1500" dirty="0"/>
              <a:t> if it finds a negative number (stops the program)</a:t>
            </a:r>
            <a:endParaRPr sz="1500" dirty="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 dirty="0"/>
              <a:t>Collects all valid positive integers into a new list</a:t>
            </a:r>
            <a:endParaRPr sz="1500" dirty="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 dirty="0"/>
              <a:t>Prints the new list and the sum of its numbers</a:t>
            </a:r>
            <a:endParaRPr sz="15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0" dirty="0"/>
              <a:t>List: </a:t>
            </a:r>
            <a:r>
              <a:rPr lang="en" sz="14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[10, -5, 20, ‘hello’, 5.2, 15, None, 30]</a:t>
            </a:r>
            <a:endParaRPr sz="1400" dirty="0">
              <a:solidFill>
                <a:srgbClr val="FFCC0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 dirty="0"/>
              <a:t>Once you have a solution, remove -5 from the list and run it again.</a:t>
            </a:r>
            <a:endParaRPr sz="1500" b="1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/>
              <a:t>Hints:  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/>
              <a:t>Use </a:t>
            </a:r>
            <a:r>
              <a:rPr lang="en" sz="1500" dirty="0" err="1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isinstance</a:t>
            </a:r>
            <a:r>
              <a:rPr lang="en" sz="1500" dirty="0">
                <a:solidFill>
                  <a:srgbClr val="FFCC01"/>
                </a:solidFill>
                <a:latin typeface="Consolas"/>
                <a:ea typeface="Consolas"/>
                <a:cs typeface="Consolas"/>
                <a:sym typeface="Consolas"/>
              </a:rPr>
              <a:t>(item, int) </a:t>
            </a:r>
            <a:r>
              <a:rPr lang="en" sz="1500" dirty="0"/>
              <a:t>to check types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/>
              <a:t>Build the valid list as you go</a:t>
            </a:r>
            <a:endParaRPr sz="15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9dde6c22-8ab6-440c-b851-8913fffc73fe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359E76FA9FC24B943D75031F37743A" ma:contentTypeVersion="15" ma:contentTypeDescription="Create a new document." ma:contentTypeScope="" ma:versionID="665a36501b5e2cf15d1c317412bd8a7d">
  <xsd:schema xmlns:xsd="http://www.w3.org/2001/XMLSchema" xmlns:xs="http://www.w3.org/2001/XMLSchema" xmlns:p="http://schemas.microsoft.com/office/2006/metadata/properties" xmlns:ns1="http://schemas.microsoft.com/sharepoint/v3" xmlns:ns2="9dde6c22-8ab6-440c-b851-8913fffc73fe" xmlns:ns3="ae0dd124-40e6-4fe0-86bb-5d5f22ef871f" targetNamespace="http://schemas.microsoft.com/office/2006/metadata/properties" ma:root="true" ma:fieldsID="170321637f7a3b3ff889e1b65524f254" ns1:_="" ns2:_="" ns3:_="">
    <xsd:import namespace="http://schemas.microsoft.com/sharepoint/v3"/>
    <xsd:import namespace="9dde6c22-8ab6-440c-b851-8913fffc73fe"/>
    <xsd:import namespace="ae0dd124-40e6-4fe0-86bb-5d5f22ef87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de6c22-8ab6-440c-b851-8913fffc7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0dd124-40e6-4fe0-86bb-5d5f22ef871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DAE058-693F-4D4D-B3D4-49585FB2484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A1EB01-861B-4BAA-842F-73F9F1C283D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9dde6c22-8ab6-440c-b851-8913fffc73fe"/>
  </ds:schemaRefs>
</ds:datastoreItem>
</file>

<file path=customXml/itemProps3.xml><?xml version="1.0" encoding="utf-8"?>
<ds:datastoreItem xmlns:ds="http://schemas.openxmlformats.org/officeDocument/2006/customXml" ds:itemID="{0F82FFD5-FE2C-44A9-B406-3CE2F96D80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dde6c22-8ab6-440c-b851-8913fffc73fe"/>
    <ds:schemaRef ds:uri="ae0dd124-40e6-4fe0-86bb-5d5f22ef87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42</TotalTime>
  <Words>1750</Words>
  <Application>Microsoft Office PowerPoint</Application>
  <PresentationFormat>On-screen Show (16:9)</PresentationFormat>
  <Paragraphs>298</Paragraphs>
  <Slides>25</Slides>
  <Notes>25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 Bold</vt:lpstr>
      <vt:lpstr>Consolas</vt:lpstr>
      <vt:lpstr>Roboto</vt:lpstr>
      <vt:lpstr>Arial</vt:lpstr>
      <vt:lpstr>US Army 2023 AFC DEVCOM Logo</vt:lpstr>
      <vt:lpstr>Conditional Statements and Loops</vt:lpstr>
      <vt:lpstr>Review: What is a Boolean?</vt:lpstr>
      <vt:lpstr>Conditional Statements</vt:lpstr>
      <vt:lpstr>The "if" Statement</vt:lpstr>
      <vt:lpstr>The “else” Statement</vt:lpstr>
      <vt:lpstr>The “elif” Statement</vt:lpstr>
      <vt:lpstr>Nested Conditional Statements </vt:lpstr>
      <vt:lpstr>Key Concepts </vt:lpstr>
      <vt:lpstr>Exercise - Conditional statements</vt:lpstr>
      <vt:lpstr>Loops</vt:lpstr>
      <vt:lpstr>range() function </vt:lpstr>
      <vt:lpstr>“for” loop</vt:lpstr>
      <vt:lpstr>“while” loop</vt:lpstr>
      <vt:lpstr>Loop Control Statements</vt:lpstr>
      <vt:lpstr>Nested Loops</vt:lpstr>
      <vt:lpstr>Exercise - Loops</vt:lpstr>
      <vt:lpstr>Python Errors</vt:lpstr>
      <vt:lpstr>Exercise - Python Errors</vt:lpstr>
      <vt:lpstr>PowerPoint Presentation</vt:lpstr>
      <vt:lpstr>Error Handling</vt:lpstr>
      <vt:lpstr>try - except</vt:lpstr>
      <vt:lpstr>try - except continued</vt:lpstr>
      <vt:lpstr>raise</vt:lpstr>
      <vt:lpstr>Final Coding Exercise</vt:lpstr>
      <vt:lpstr>Final Coding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raymond fernandez</cp:lastModifiedBy>
  <cp:revision>66</cp:revision>
  <dcterms:modified xsi:type="dcterms:W3CDTF">2025-12-22T16:05:16Z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0x01010055359E76FA9FC24B943D75031F37743A</vt:lpwstr>
  </property>
  <property fmtid="{D5CDD505-2E9C-101B-9397-08002B2CF9AE}" pid="3" name="MediaServiceImageTags">
    <vt:lpwstr/>
  </property>
</Properties>
</file>