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4"/>
  </p:sldMasterIdLst>
  <p:notesMasterIdLst>
    <p:notesMasterId r:id="rId30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 type="screen16x9"/>
  <p:notesSz cx="6858000" cy="9144000"/>
  <p:embeddedFontLst>
    <p:embeddedFont>
      <p:font typeface="Arial Bold" panose="020B0704020202020204" pitchFamily="34" charset="0"/>
      <p:bold r:id="rId31"/>
    </p:embeddedFont>
    <p:embeddedFont>
      <p:font typeface="Consolas" panose="020B0609020204030204" pitchFamily="49" charset="0"/>
      <p:regular r:id="rId32"/>
      <p:bold r:id="rId33"/>
      <p:italic r:id="rId34"/>
      <p:boldItalic r:id="rId35"/>
    </p:embeddedFont>
    <p:embeddedFont>
      <p:font typeface="Roboto" panose="02000000000000000000" pitchFamily="2" charset="0"/>
      <p:regular r:id="rId36"/>
      <p:bold r:id="rId37"/>
      <p:italic r:id="rId38"/>
      <p:boldItalic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hR28n/WwYP6NLmq1keFa6scSye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FD1EA-CF83-6AF1-2618-F0E19B6C97F2}" v="139" dt="2025-07-21T01:09:02.171"/>
  </p1510:revLst>
</p1510:revInfo>
</file>

<file path=ppt/tableStyles.xml><?xml version="1.0" encoding="utf-8"?>
<a:tblStyleLst xmlns:a="http://schemas.openxmlformats.org/drawingml/2006/main" def="{73A53AC3-02BE-4BBD-822B-44806B13A2D8}">
  <a:tblStyle styleId="{73A53AC3-02BE-4BBD-822B-44806B13A2D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64" y="10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9.fntdata"/><Relationship Id="rId21" Type="http://schemas.openxmlformats.org/officeDocument/2006/relationships/slide" Target="slides/slide17.xml"/><Relationship Id="rId34" Type="http://schemas.openxmlformats.org/officeDocument/2006/relationships/font" Target="fonts/font4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6.fntdata"/><Relationship Id="rId49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.fntdata"/><Relationship Id="rId44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viewProps" Target="viewProps.xml"/><Relationship Id="rId20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iedel, Brenna M CPT USARMY AFC AI2C (USA)" userId="S::brenna.m.friedel.mil@army.mil::4fe8b5d6-a82b-4ac6-ab8f-346e0799b26a" providerId="AD" clId="Web-{480FD1EA-CF83-6AF1-2618-F0E19B6C97F2}"/>
    <pc:docChg chg="modSld">
      <pc:chgData name="Friedel, Brenna M CPT USARMY AFC AI2C (USA)" userId="S::brenna.m.friedel.mil@army.mil::4fe8b5d6-a82b-4ac6-ab8f-346e0799b26a" providerId="AD" clId="Web-{480FD1EA-CF83-6AF1-2618-F0E19B6C97F2}" dt="2025-07-21T01:09:00.593" v="133" actId="20577"/>
      <pc:docMkLst>
        <pc:docMk/>
      </pc:docMkLst>
      <pc:sldChg chg="modSp">
        <pc:chgData name="Friedel, Brenna M CPT USARMY AFC AI2C (USA)" userId="S::brenna.m.friedel.mil@army.mil::4fe8b5d6-a82b-4ac6-ab8f-346e0799b26a" providerId="AD" clId="Web-{480FD1EA-CF83-6AF1-2618-F0E19B6C97F2}" dt="2025-07-21T01:05:39.254" v="67" actId="20577"/>
        <pc:sldMkLst>
          <pc:docMk/>
          <pc:sldMk cId="0" sldId="262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5:39.254" v="67" actId="20577"/>
          <ac:spMkLst>
            <pc:docMk/>
            <pc:sldMk cId="0" sldId="262"/>
            <ac:spMk id="101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2:43.996" v="7" actId="20577"/>
        <pc:sldMkLst>
          <pc:docMk/>
          <pc:sldMk cId="0" sldId="263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2:43.996" v="7" actId="20577"/>
          <ac:spMkLst>
            <pc:docMk/>
            <pc:sldMk cId="0" sldId="263"/>
            <ac:spMk id="107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50.576" v="131" actId="20577"/>
        <pc:sldMkLst>
          <pc:docMk/>
          <pc:sldMk cId="0" sldId="264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50.576" v="131" actId="20577"/>
          <ac:spMkLst>
            <pc:docMk/>
            <pc:sldMk cId="0" sldId="264"/>
            <ac:spMk id="113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3:17.357" v="23" actId="20577"/>
        <pc:sldMkLst>
          <pc:docMk/>
          <pc:sldMk cId="0" sldId="266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3:17.357" v="23" actId="20577"/>
          <ac:spMkLst>
            <pc:docMk/>
            <pc:sldMk cId="0" sldId="266"/>
            <ac:spMk id="125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5:48.677" v="69" actId="20577"/>
        <pc:sldMkLst>
          <pc:docMk/>
          <pc:sldMk cId="0" sldId="267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5:48.677" v="69" actId="20577"/>
          <ac:spMkLst>
            <pc:docMk/>
            <pc:sldMk cId="0" sldId="267"/>
            <ac:spMk id="131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5:53.739" v="72" actId="20577"/>
        <pc:sldMkLst>
          <pc:docMk/>
          <pc:sldMk cId="0" sldId="268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5:53.739" v="72" actId="20577"/>
          <ac:spMkLst>
            <pc:docMk/>
            <pc:sldMk cId="0" sldId="268"/>
            <ac:spMk id="137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4:37.845" v="41" actId="20577"/>
        <pc:sldMkLst>
          <pc:docMk/>
          <pc:sldMk cId="0" sldId="270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4:37.845" v="41" actId="20577"/>
          <ac:spMkLst>
            <pc:docMk/>
            <pc:sldMk cId="0" sldId="270"/>
            <ac:spMk id="149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9:00.593" v="133" actId="20577"/>
        <pc:sldMkLst>
          <pc:docMk/>
          <pc:sldMk cId="0" sldId="271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9:00.593" v="133" actId="20577"/>
          <ac:spMkLst>
            <pc:docMk/>
            <pc:sldMk cId="0" sldId="271"/>
            <ac:spMk id="155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7:10.321" v="98" actId="20577"/>
        <pc:sldMkLst>
          <pc:docMk/>
          <pc:sldMk cId="0" sldId="276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7:10.321" v="98" actId="20577"/>
          <ac:spMkLst>
            <pc:docMk/>
            <pc:sldMk cId="0" sldId="276"/>
            <ac:spMk id="184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7:46.620" v="112" actId="20577"/>
        <pc:sldMkLst>
          <pc:docMk/>
          <pc:sldMk cId="0" sldId="277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7:46.620" v="112" actId="20577"/>
          <ac:spMkLst>
            <pc:docMk/>
            <pc:sldMk cId="0" sldId="277"/>
            <ac:spMk id="190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03.387" v="120" actId="20577"/>
        <pc:sldMkLst>
          <pc:docMk/>
          <pc:sldMk cId="0" sldId="278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03.387" v="120" actId="20577"/>
          <ac:spMkLst>
            <pc:docMk/>
            <pc:sldMk cId="0" sldId="278"/>
            <ac:spMk id="196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15.528" v="123" actId="20577"/>
        <pc:sldMkLst>
          <pc:docMk/>
          <pc:sldMk cId="0" sldId="279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15.528" v="123" actId="20577"/>
          <ac:spMkLst>
            <pc:docMk/>
            <pc:sldMk cId="0" sldId="279"/>
            <ac:spMk id="202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28.419" v="128" actId="20577"/>
        <pc:sldMkLst>
          <pc:docMk/>
          <pc:sldMk cId="0" sldId="280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28.419" v="128" actId="20577"/>
          <ac:spMkLst>
            <pc:docMk/>
            <pc:sldMk cId="0" sldId="280"/>
            <ac:spMk id="20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44deeedf1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44deeedf1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44deeedf1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44deeedf1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44deeedf1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44deeedf1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44deeedf12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44deeedf12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●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Remember: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Defining a function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If-elif-else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Comparison operators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Early exits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44deeedf12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44deeedf12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44deeedf12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44deeedf12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44deeedf12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44deeedf12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44deeedf12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44deeedf12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44deeedf12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44deeedf12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You will need nested loops.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outer loop controls the number of lines.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inner loop prints 1 2 3 on each line.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44deeedf12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344deeedf12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44deeedf12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44deeedf12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44deeedf12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g344deeedf12_0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44deeedf12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44deeedf12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44deeedf12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44deeedf12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44deeedf12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44deeedf12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44deeedf12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44deeedf12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1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5793518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35668" y="78731"/>
            <a:ext cx="2434590" cy="919356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0" y="2838549"/>
            <a:ext cx="2674144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4510495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1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1838403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200149"/>
            <a:ext cx="50963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1480" y="4972050"/>
            <a:ext cx="617220" cy="17145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433828" y="4972050"/>
            <a:ext cx="299408" cy="171450"/>
          </a:xfrm>
        </p:spPr>
        <p:txBody>
          <a:bodyPr rIns="0"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862337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915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4098846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78124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44767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8026406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379686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11480" y="1200150"/>
            <a:ext cx="418338" cy="416624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1148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256032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256032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70916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685800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4666212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670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1040674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12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6441362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3658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9864173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308610"/>
            <a:ext cx="8321040" cy="233172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2846070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709159" y="2846070"/>
            <a:ext cx="4023360" cy="1783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4137296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0915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09159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70915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8500093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278123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8123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278123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44767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44767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144767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0003688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80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71604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604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2571604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978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788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46978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5800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85800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1906116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5633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FFFFFF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6858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724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36881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0"/>
            <a:ext cx="4023995" cy="685800"/>
          </a:xfrm>
        </p:spPr>
        <p:txBody>
          <a:bodyPr anchor="t" anchorCtr="0"/>
          <a:lstStyle>
            <a:lvl1pPr>
              <a:lnSpc>
                <a:spcPct val="90000"/>
              </a:lnSpc>
              <a:defRPr sz="18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200150"/>
            <a:ext cx="5096351" cy="3429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27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118886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040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996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8575675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6153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4338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2712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164" y="3614561"/>
            <a:ext cx="4024312" cy="10286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900"/>
            </a:lvl1pPr>
            <a:lvl2pPr marL="0" indent="0">
              <a:spcBef>
                <a:spcPts val="0"/>
              </a:spcBef>
              <a:buFontTx/>
              <a:buNone/>
              <a:defRPr sz="900"/>
            </a:lvl2pPr>
            <a:lvl3pPr marL="0" indent="0">
              <a:spcBef>
                <a:spcPts val="0"/>
              </a:spcBef>
              <a:buFontTx/>
              <a:buNone/>
              <a:defRPr sz="900"/>
            </a:lvl3pPr>
            <a:lvl4pPr marL="0" indent="0">
              <a:spcBef>
                <a:spcPts val="0"/>
              </a:spcBef>
              <a:buFontTx/>
              <a:buNone/>
              <a:defRPr sz="900"/>
            </a:lvl4pPr>
            <a:lvl5pPr marL="0" indent="0">
              <a:spcBef>
                <a:spcPts val="0"/>
              </a:spcBef>
              <a:buFontTx/>
              <a:buNone/>
              <a:defRPr sz="900"/>
            </a:lvl5pPr>
            <a:lvl6pPr marL="0" indent="0">
              <a:spcBef>
                <a:spcPts val="0"/>
              </a:spcBef>
              <a:buFontTx/>
              <a:buNone/>
              <a:defRPr sz="900"/>
            </a:lvl6pPr>
            <a:lvl7pPr marL="0" indent="0">
              <a:spcBef>
                <a:spcPts val="0"/>
              </a:spcBef>
              <a:buFontTx/>
              <a:buNone/>
              <a:defRPr sz="900"/>
            </a:lvl7pPr>
            <a:lvl8pPr marL="0" indent="0">
              <a:spcBef>
                <a:spcPts val="0"/>
              </a:spcBef>
              <a:buFontTx/>
              <a:buNone/>
              <a:defRPr sz="900"/>
            </a:lvl8pPr>
            <a:lvl9pPr marL="0" indent="0">
              <a:spcBef>
                <a:spcPts val="0"/>
              </a:spcBef>
              <a:buFontTx/>
              <a:buNone/>
              <a:defRPr sz="9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808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2120265" y="1645920"/>
            <a:ext cx="4903470" cy="18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355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1_Title slid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240967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601225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1_Title onl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62618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458014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1_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8617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/>
        </p:nvPicPr>
        <p:blipFill>
          <a:blip r:embed="rId37"/>
          <a:srcRect l="26274" t="67"/>
          <a:stretch>
            <a:fillRect/>
          </a:stretch>
        </p:blipFill>
        <p:spPr>
          <a:xfrm>
            <a:off x="7821386" y="308611"/>
            <a:ext cx="911133" cy="35827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0766" y="4972050"/>
            <a:ext cx="617934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525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525" b="1">
                <a:solidFill>
                  <a:schemeClr val="tx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444515" y="318065"/>
            <a:ext cx="376871" cy="3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413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750"/>
        </a:spcBef>
        <a:buFont typeface="Arial" panose="020B0604020202020204" pitchFamily="34" charset="0"/>
        <a:buChar char="▪"/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12344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dirty="0">
                <a:solidFill>
                  <a:schemeClr val="accent2"/>
                </a:solidFill>
              </a:rPr>
              <a:t>Conditional Statements and Loops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dirty="0"/>
              <a:t>Review: What is a Boolean?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dirty="0"/>
              <a:t>Conditional Statements</a:t>
            </a:r>
            <a:endParaRPr dirty="0"/>
          </a:p>
        </p:txBody>
      </p:sp>
      <p:sp>
        <p:nvSpPr>
          <p:cNvPr id="77" name="Google Shape;77;p3"/>
          <p:cNvSpPr txBox="1"/>
          <p:nvPr/>
        </p:nvSpPr>
        <p:spPr>
          <a:xfrm>
            <a:off x="616150" y="1580550"/>
            <a:ext cx="77868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Conditions are expressions that evaluate to a Boolean value</a:t>
            </a:r>
            <a:endParaRPr lang="en-US" sz="1800" dirty="0"/>
          </a:p>
          <a:p>
            <a:pPr marL="571500"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-US" sz="1800" dirty="0"/>
              <a:t>They often involve comparison operators (&lt;, &gt;, ==, !=, &lt;=, &gt;=) and logical operators (and, or, not)</a:t>
            </a:r>
          </a:p>
          <a:p>
            <a:pPr marL="1143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endParaRPr lang="en" sz="1800" dirty="0"/>
          </a:p>
          <a:p>
            <a:pPr marL="1143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Python relies on indentation (whitespace at the beginning of a line) to define code blocks</a:t>
            </a:r>
            <a:endParaRPr lang="en" dirty="0"/>
          </a:p>
          <a:p>
            <a:pPr marL="1143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endParaRPr lang="en" sz="1800" i="1" dirty="0"/>
          </a:p>
          <a:p>
            <a:pPr marL="1143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i="1" dirty="0"/>
              <a:t>Incorrect indentation will lead to errors.</a:t>
            </a:r>
            <a:endParaRPr sz="1800" i="1" dirty="0"/>
          </a:p>
          <a:p>
            <a:pPr marL="1143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endParaRPr lang="en" sz="1800" dirty="0"/>
          </a:p>
          <a:p>
            <a:pPr marL="1143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You can create Nested Conditional Statements to control the flow of code</a:t>
            </a:r>
            <a:endParaRPr sz="1800" b="0" i="0" u="none" strike="noStrike" cap="none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</a:pPr>
            <a:r>
              <a:rPr lang="en"/>
              <a:t>The "if" Statement</a:t>
            </a:r>
            <a:endParaRPr/>
          </a:p>
        </p:txBody>
      </p:sp>
      <p:sp>
        <p:nvSpPr>
          <p:cNvPr id="83" name="Google Shape;83;p4"/>
          <p:cNvSpPr txBox="1">
            <a:spLocks noGrp="1"/>
          </p:cNvSpPr>
          <p:nvPr>
            <p:ph type="body" sz="quarter" idx="11"/>
          </p:nvPr>
        </p:nvSpPr>
        <p:spPr>
          <a:xfrm>
            <a:off x="411480" y="930349"/>
            <a:ext cx="8509236" cy="3698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4605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" dirty="0"/>
              <a:t>Executes a block of code only if a given condition evaluates to </a:t>
            </a:r>
            <a:r>
              <a:rPr lang="en" b="1" dirty="0"/>
              <a:t>True</a:t>
            </a:r>
            <a:endParaRPr b="1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14605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" dirty="0"/>
              <a:t>Syntax: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 dirty="0">
              <a:solidFill>
                <a:schemeClr val="tx2"/>
              </a:solidFill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   # code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" dirty="0"/>
              <a:t>Example: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age = 20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if age &gt;= 18: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   print(“You are eligible to vote.”)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44deeedf12_0_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“else” Statement</a:t>
            </a:r>
            <a:endParaRPr/>
          </a:p>
        </p:txBody>
      </p:sp>
      <p:sp>
        <p:nvSpPr>
          <p:cNvPr id="89" name="Google Shape;89;g344deeedf12_0_5"/>
          <p:cNvSpPr txBox="1">
            <a:spLocks noGrp="1"/>
          </p:cNvSpPr>
          <p:nvPr>
            <p:ph type="body" sz="quarter" idx="11"/>
          </p:nvPr>
        </p:nvSpPr>
        <p:spPr>
          <a:xfrm>
            <a:off x="411480" y="929309"/>
            <a:ext cx="8394590" cy="36998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300"/>
              <a:buFont typeface="Arial"/>
              <a:buChar char="●"/>
            </a:pPr>
            <a:r>
              <a:rPr lang="en" dirty="0"/>
              <a:t>“Else” is used in conjunction with “if” 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300"/>
              <a:buFont typeface="Arial"/>
              <a:buChar char="●"/>
            </a:pPr>
            <a:r>
              <a:rPr lang="en" dirty="0"/>
              <a:t>Provides an alternate block of code to execute if the “if” condition evaluates to false</a:t>
            </a: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Syntax:</a:t>
            </a:r>
            <a:endParaRPr dirty="0"/>
          </a:p>
          <a:p>
            <a:pPr marL="457200" lvl="0" indent="-2286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 dirty="0">
              <a:solidFill>
                <a:schemeClr val="accent2"/>
              </a:solidFill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 condition: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Example:</a:t>
            </a:r>
            <a:endParaRPr dirty="0"/>
          </a:p>
          <a:p>
            <a:pPr marL="457200" lvl="0" indent="-2286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temperature = 78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temperature &gt; 85: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print(“It’s hot out today!”)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print(“It’s not too hot.”)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deeedf12_0_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“elif” Statement</a:t>
            </a:r>
            <a:endParaRPr/>
          </a:p>
        </p:txBody>
      </p:sp>
      <p:sp>
        <p:nvSpPr>
          <p:cNvPr id="95" name="Google Shape;95;g344deeedf12_0_0"/>
          <p:cNvSpPr txBox="1">
            <a:spLocks noGrp="1"/>
          </p:cNvSpPr>
          <p:nvPr>
            <p:ph type="body" sz="quarter" idx="11"/>
          </p:nvPr>
        </p:nvSpPr>
        <p:spPr>
          <a:xfrm>
            <a:off x="411480" y="770283"/>
            <a:ext cx="8464163" cy="3858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Char char="●"/>
            </a:pPr>
            <a:r>
              <a:rPr lang="en" dirty="0"/>
              <a:t>“elif” is short for else-if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Char char="●"/>
            </a:pPr>
            <a:r>
              <a:rPr lang="en" dirty="0"/>
              <a:t>It allows for checking multiple conditions sequentially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Char char="●"/>
            </a:pPr>
            <a:r>
              <a:rPr lang="en" dirty="0"/>
              <a:t>If the “if” condition evaluates to false, the “elif” statements are evaluated in order until one evaluates to True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Syntax: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 dirty="0">
              <a:solidFill>
                <a:schemeClr val="accent2"/>
              </a:solidFill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condition: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 condition: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Example: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score = 89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score &gt;= 90: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print(“Grade: A”)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80: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print(“Grade: B”)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70: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print(“Grade: C”)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60: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print(“Grade: D”)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29845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print(“Grade: F”)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44deeedf12_0_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Nested Conditional Statements	</a:t>
            </a:r>
            <a:endParaRPr/>
          </a:p>
        </p:txBody>
      </p:sp>
      <p:sp>
        <p:nvSpPr>
          <p:cNvPr id="101" name="Google Shape;101;g344deeedf12_0_22"/>
          <p:cNvSpPr txBox="1">
            <a:spLocks noGrp="1"/>
          </p:cNvSpPr>
          <p:nvPr>
            <p:ph type="body" sz="quarter" idx="11"/>
          </p:nvPr>
        </p:nvSpPr>
        <p:spPr>
          <a:xfrm>
            <a:off x="411480" y="855921"/>
            <a:ext cx="8456073" cy="37732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</a:pPr>
            <a:r>
              <a:rPr lang="en" dirty="0"/>
              <a:t>You can place “if” or “if...else” statements inside other “if” or “else” blocks to create more complex decision structures.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</a:pPr>
            <a:r>
              <a:rPr lang="en" dirty="0"/>
              <a:t>Example:</a:t>
            </a: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</a:pPr>
            <a:endParaRPr lang="en"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weather = "rainy“</a:t>
            </a: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temperature = 45</a:t>
            </a: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if weather == "rainy":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  if temperature &lt; 50: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  print("It's cold and rainy. Wear a jacket and bring an umbrella.")</a:t>
            </a:r>
            <a:endParaRPr lang="en-US"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-US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   else:</a:t>
            </a: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  print("It's rainy but warm. Just bring an umbrella.")</a:t>
            </a:r>
            <a:endParaRPr lang="en-US"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-US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   else:</a:t>
            </a: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  print("No rain today. Enjoy the weather!")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</a:pPr>
            <a:endParaRPr lang="en" sz="1100" dirty="0">
              <a:latin typeface="Consolas"/>
              <a:sym typeface="Consolas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</a:pPr>
            <a:r>
              <a:rPr lang="en" dirty="0"/>
              <a:t>Code Examples</a:t>
            </a: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44deeedf12_0_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Key Concepts	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5E97F-CFC4-A900-6BE1-B8D82A86F63D}"/>
              </a:ext>
            </a:extLst>
          </p:cNvPr>
          <p:cNvSpPr txBox="1"/>
          <p:nvPr/>
        </p:nvSpPr>
        <p:spPr>
          <a:xfrm>
            <a:off x="175682" y="1009650"/>
            <a:ext cx="8968317" cy="371475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46050">
              <a:lnSpc>
                <a:spcPct val="114999"/>
              </a:lnSpc>
              <a:buSzPts val="1300"/>
            </a:pPr>
            <a:r>
              <a:rPr lang="en-US" sz="1600" dirty="0">
                <a:latin typeface="Consolas" panose="020B0609020204030204" pitchFamily="49" charset="0"/>
              </a:rPr>
              <a:t>Conditions are expressions that evaluate to a Boolean value (True or False)</a:t>
            </a:r>
          </a:p>
          <a:p>
            <a:pPr marL="146050">
              <a:lnSpc>
                <a:spcPct val="114999"/>
              </a:lnSpc>
              <a:buSzPts val="1300"/>
            </a:pPr>
            <a:r>
              <a:rPr lang="en-US" sz="1600" dirty="0">
                <a:latin typeface="Consolas" panose="020B0609020204030204" pitchFamily="49" charset="0"/>
              </a:rPr>
              <a:t>They often involve comparison operators (e.g., &gt;, &lt;, ==, !=, &gt;=, &lt;=) and logical operators (e.g., and, or, not)</a:t>
            </a:r>
          </a:p>
          <a:p>
            <a:pPr>
              <a:lnSpc>
                <a:spcPct val="114999"/>
              </a:lnSpc>
            </a:pPr>
            <a:r>
              <a:rPr lang="en-US" sz="1600" dirty="0">
                <a:latin typeface="Consolas" panose="020B0609020204030204" pitchFamily="49" charset="0"/>
              </a:rPr>
              <a:t> Python uses indentation to define code blocks.</a:t>
            </a:r>
          </a:p>
          <a:p>
            <a:pPr marL="0" lvl="1" indent="0">
              <a:lnSpc>
                <a:spcPct val="114999"/>
              </a:lnSpc>
              <a:spcBef>
                <a:spcPts val="0"/>
              </a:spcBef>
              <a:buSzPts val="1300"/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0" lvl="1" indent="0">
              <a:lnSpc>
                <a:spcPct val="114999"/>
              </a:lnSpc>
              <a:spcBef>
                <a:spcPts val="0"/>
              </a:spcBef>
              <a:buSzPts val="1300"/>
              <a:buNone/>
            </a:pPr>
            <a:r>
              <a:rPr lang="en-US" sz="1600" dirty="0">
                <a:latin typeface="Consolas" panose="020B0609020204030204" pitchFamily="49" charset="0"/>
              </a:rPr>
              <a:t> The code indented under an if, </a:t>
            </a:r>
            <a:r>
              <a:rPr lang="en-US" sz="1600" dirty="0" err="1">
                <a:latin typeface="Consolas" panose="020B0609020204030204" pitchFamily="49" charset="0"/>
              </a:rPr>
              <a:t>elif</a:t>
            </a:r>
            <a:r>
              <a:rPr lang="en-US" sz="1600" dirty="0">
                <a:latin typeface="Consolas" panose="020B0609020204030204" pitchFamily="49" charset="0"/>
              </a:rPr>
              <a:t>, or else statement belongs to that specific conditional block.</a:t>
            </a:r>
          </a:p>
          <a:p>
            <a:pPr marL="0" lvl="1" indent="0">
              <a:lnSpc>
                <a:spcPct val="114999"/>
              </a:lnSpc>
              <a:spcBef>
                <a:spcPts val="0"/>
              </a:spcBef>
              <a:buSzPts val="1300"/>
              <a:buNone/>
            </a:pPr>
            <a:r>
              <a:rPr lang="en-US" sz="1600" dirty="0">
                <a:latin typeface="Consolas" panose="020B0609020204030204" pitchFamily="49" charset="0"/>
              </a:rPr>
              <a:t> Conditional statements enable "branching" in your code, directing the program's execution down different paths based on the evaluated conditions</a:t>
            </a:r>
          </a:p>
          <a:p>
            <a:pPr marL="182880" indent="-182880">
              <a:lnSpc>
                <a:spcPct val="95000"/>
              </a:lnSpc>
              <a:spcBef>
                <a:spcPts val="1000"/>
              </a:spcBef>
              <a:buSzPct val="100000"/>
              <a:buFont typeface="Arial"/>
              <a:buChar char="▪"/>
            </a:pP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Exercise - Conditional statements</a:t>
            </a:r>
            <a:endParaRPr/>
          </a:p>
        </p:txBody>
      </p:sp>
      <p:sp>
        <p:nvSpPr>
          <p:cNvPr id="113" name="Google Shape;113;p5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700" b="1" dirty="0"/>
              <a:t>10 minutes</a:t>
            </a:r>
            <a:endParaRPr sz="1700" b="1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endParaRPr sz="17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r>
              <a:rPr lang="en" sz="1700" dirty="0"/>
              <a:t>Write a function that checks a number and returns “positive,” “zero,” or “negative”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endParaRPr sz="1700"/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dirty="0"/>
              <a:t>Loops</a:t>
            </a:r>
            <a:endParaRPr dirty="0"/>
          </a:p>
        </p:txBody>
      </p:sp>
      <p:sp>
        <p:nvSpPr>
          <p:cNvPr id="119" name="Google Shape;119;p6"/>
          <p:cNvSpPr txBox="1"/>
          <p:nvPr/>
        </p:nvSpPr>
        <p:spPr>
          <a:xfrm>
            <a:off x="0" y="973667"/>
            <a:ext cx="8565850" cy="384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"/>
              <a:buChar char="●"/>
            </a:pPr>
            <a:r>
              <a:rPr lang="en-US" dirty="0">
                <a:latin typeface="Consolas" panose="020B0609020204030204" pitchFamily="49" charset="0"/>
                <a:ea typeface="Roboto"/>
                <a:cs typeface="Roboto"/>
                <a:sym typeface="Roboto"/>
              </a:rPr>
              <a:t>Fundamental control flow structures used to execute a block of code repeatedly</a:t>
            </a: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"/>
              <a:buChar char="●"/>
            </a:pPr>
            <a:r>
              <a:rPr lang="en-US" dirty="0">
                <a:latin typeface="Consolas" panose="020B0609020204030204" pitchFamily="49" charset="0"/>
                <a:ea typeface="Roboto"/>
                <a:cs typeface="Roboto"/>
                <a:sym typeface="Roboto"/>
              </a:rPr>
              <a:t>Two primary types of loops are “for” and “while” loops, which have distinct purposes</a:t>
            </a: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"/>
              <a:buChar char="●"/>
            </a:pPr>
            <a:r>
              <a:rPr lang="en-US" dirty="0">
                <a:latin typeface="Consolas" panose="020B0609020204030204" pitchFamily="49" charset="0"/>
                <a:ea typeface="Roboto"/>
                <a:cs typeface="Roboto"/>
                <a:sym typeface="Roboto"/>
              </a:rPr>
              <a:t>You can nest loops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44deeedf12_0_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range() function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5" name="Google Shape;125;g344deeedf12_0_58"/>
          <p:cNvSpPr txBox="1">
            <a:spLocks noGrp="1"/>
          </p:cNvSpPr>
          <p:nvPr>
            <p:ph type="body" sz="quarter" idx="11"/>
          </p:nvPr>
        </p:nvSpPr>
        <p:spPr>
          <a:xfrm>
            <a:off x="411480" y="808893"/>
            <a:ext cx="7792999" cy="38202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15240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</a:pPr>
            <a:r>
              <a:rPr lang="en" dirty="0">
                <a:solidFill>
                  <a:srgbClr val="FFFFFF"/>
                </a:solidFill>
              </a:rPr>
              <a:t>A built-in Python function</a:t>
            </a:r>
            <a:endParaRPr lang="en-US"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Output is a “range object,” which is an immutable sequence type and memory efficient compared to a list</a:t>
            </a:r>
            <a:endParaRPr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range(stop)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Generates a sequence of numbers starting from 0 (default) up to, but not including, the stop value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The numbers increment by 1 (default)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range(5) generates 0, 1, 2, 3, 4</a:t>
            </a:r>
            <a:endParaRPr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range(start, stop)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Generates a sequence of numbers starting from the start value (inclusive) up to, but not including, the stop value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The numbers increment by 1 (default)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range(2, 7) generates 2, 3, 4, 5, 6</a:t>
            </a:r>
            <a:endParaRPr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range(start, stop, step)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Generates a sequence of numbers starting from the start value (inclusive) up to, but not including, the stop value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The numbers increment or decrement by the step value (integer!)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If step is positive, it increments. If step is negative, it decrements (for counting backwards).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step cannot be 0, as it would lead to an infinite loop and raise a </a:t>
            </a:r>
            <a:r>
              <a:rPr lang="en" dirty="0" err="1">
                <a:solidFill>
                  <a:srgbClr val="FFFFFF"/>
                </a:solidFill>
              </a:rPr>
              <a:t>ValueError</a:t>
            </a:r>
            <a:endParaRPr dirty="0" err="1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range(1, 10, 2) generates 1, 3, 5, 7, 9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range(5, 0, -1) generates 5, 4, 3, 2,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44deeedf12_0_5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“for” loop</a:t>
            </a:r>
            <a:endParaRPr dirty="0"/>
          </a:p>
        </p:txBody>
      </p:sp>
      <p:sp>
        <p:nvSpPr>
          <p:cNvPr id="131" name="Google Shape;131;g344deeedf12_0_53"/>
          <p:cNvSpPr txBox="1">
            <a:spLocks noGrp="1"/>
          </p:cNvSpPr>
          <p:nvPr>
            <p:ph type="body" sz="quarter" idx="11"/>
          </p:nvPr>
        </p:nvSpPr>
        <p:spPr>
          <a:xfrm>
            <a:off x="411480" y="959696"/>
            <a:ext cx="5096351" cy="30175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For loops iterate over a sequence, such as a list, tuple, string, or range, or other iterable objects</a:t>
            </a: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A block of code is executed once for each item in the sequence</a:t>
            </a:r>
            <a:endParaRPr sz="1800" dirty="0"/>
          </a:p>
          <a:p>
            <a:pPr marL="4572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Syntax: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for variable in sequence: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# code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200" dirty="0">
              <a:latin typeface="Consolas"/>
              <a:ea typeface="Consolas"/>
              <a:cs typeface="Consolas"/>
              <a:sym typeface="Consolas"/>
            </a:endParaRPr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Example: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fruits = ["apple", "banana", "cherry"]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for fruit in fruits: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print(fruit)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  <a:sym typeface="Consolas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44deeedf12_0_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“while” loop</a:t>
            </a:r>
            <a:endParaRPr/>
          </a:p>
        </p:txBody>
      </p:sp>
      <p:sp>
        <p:nvSpPr>
          <p:cNvPr id="137" name="Google Shape;137;g344deeedf12_0_65"/>
          <p:cNvSpPr txBox="1">
            <a:spLocks noGrp="1"/>
          </p:cNvSpPr>
          <p:nvPr>
            <p:ph type="body" sz="quarter" idx="11"/>
          </p:nvPr>
        </p:nvSpPr>
        <p:spPr>
          <a:xfrm>
            <a:off x="411480" y="844946"/>
            <a:ext cx="6928568" cy="34536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While loops execute a block of statements repeatedly as long as a given condition is True</a:t>
            </a:r>
            <a:endParaRPr lang="en-US"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The loop continues to execute until the condition becomes false</a:t>
            </a: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Forever loops</a:t>
            </a:r>
            <a:endParaRPr sz="1800" dirty="0"/>
          </a:p>
          <a:p>
            <a:pPr marL="4572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Syntax: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while condition: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# block of code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endParaRPr sz="1200" dirty="0">
              <a:latin typeface="Consolas"/>
              <a:ea typeface="Consolas"/>
              <a:cs typeface="Consolas"/>
            </a:endParaRPr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Example: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count = 0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while count &lt; 5: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print(count)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count += 1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457200"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44deeedf12_0_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 Control Statements</a:t>
            </a:r>
            <a:endParaRPr dirty="0"/>
          </a:p>
        </p:txBody>
      </p:sp>
      <p:sp>
        <p:nvSpPr>
          <p:cNvPr id="143" name="Google Shape;143;g344deeedf12_0_43"/>
          <p:cNvSpPr txBox="1">
            <a:spLocks noGrp="1"/>
          </p:cNvSpPr>
          <p:nvPr>
            <p:ph type="body" sz="quarter" idx="11"/>
          </p:nvPr>
        </p:nvSpPr>
        <p:spPr>
          <a:xfrm>
            <a:off x="292946" y="942763"/>
            <a:ext cx="5096351" cy="30175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break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terminates the current loop immediately, execution resumes at the statement following the loop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continue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skips the rest of the current iteration of the loop and proceeds to the next iteration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null operation, used as a placeholder in loops or other code blocks where a statement is syntactically required but there is nothing to execute</a:t>
            </a: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44deeedf12_0_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Nested Loops</a:t>
            </a:r>
            <a:endParaRPr/>
          </a:p>
        </p:txBody>
      </p:sp>
      <p:sp>
        <p:nvSpPr>
          <p:cNvPr id="149" name="Google Shape;149;g344deeedf12_0_48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Python allows loops inside other loops, called nested loops</a:t>
            </a: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The inner loop executes completely for each iteration of the outer loop</a:t>
            </a:r>
            <a:endParaRPr sz="1800" dirty="0"/>
          </a:p>
          <a:p>
            <a:pPr marL="952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</a:pPr>
            <a:r>
              <a:rPr lang="en" sz="1800" dirty="0"/>
              <a:t>Example</a:t>
            </a:r>
            <a:r>
              <a:rPr lang="en" sz="1600" dirty="0"/>
              <a:t>:</a:t>
            </a:r>
            <a:endParaRPr sz="1600" dirty="0"/>
          </a:p>
          <a:p>
            <a:pPr marL="914400" lvl="0" algn="l" rtl="0">
              <a:spcBef>
                <a:spcPts val="0"/>
              </a:spcBef>
              <a:spcAft>
                <a:spcPts val="0"/>
              </a:spcAft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for </a:t>
            </a:r>
            <a:r>
              <a:rPr lang="en" dirty="0" err="1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 in range(3):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/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for j in range(2):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    print(</a:t>
            </a:r>
            <a:r>
              <a:rPr lang="en" dirty="0" err="1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, j)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●"/>
            </a:pPr>
            <a:r>
              <a:rPr lang="en" sz="1800" dirty="0"/>
              <a:t>Examples</a:t>
            </a: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Exercise - Loops</a:t>
            </a:r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b="1" dirty="0"/>
              <a:t>10 minutes</a:t>
            </a:r>
            <a:endParaRPr lang="en-US" sz="1700" b="1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endParaRPr sz="17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Write a program that prints the following output using loops. Do not just write print() statements multiple times.</a:t>
            </a:r>
            <a:endParaRPr sz="1700" dirty="0"/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"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-US" sz="1700" b="1" dirty="0">
                <a:ea typeface="Consolas"/>
                <a:cs typeface="Consolas"/>
              </a:rPr>
              <a:t>Output:</a:t>
            </a:r>
            <a:endParaRPr sz="1700" b="1" dirty="0"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" sz="1700" dirty="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sz="1700" dirty="0"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" sz="1700" dirty="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lang="en" sz="1700" dirty="0">
              <a:latin typeface="Consolas"/>
              <a:ea typeface="Consolas"/>
              <a:cs typeface="Consolas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" sz="1700" dirty="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sz="17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7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76470"/>
              <a:buNone/>
            </a:pPr>
            <a:endParaRPr sz="17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4deeedf12_0_7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Python Errors</a:t>
            </a:r>
            <a:endParaRPr/>
          </a:p>
        </p:txBody>
      </p:sp>
      <p:sp>
        <p:nvSpPr>
          <p:cNvPr id="161" name="Google Shape;161;g344deeedf12_0_76"/>
          <p:cNvSpPr txBox="1"/>
          <p:nvPr/>
        </p:nvSpPr>
        <p:spPr>
          <a:xfrm>
            <a:off x="616150" y="158055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Errors are issues in a program that prevent it from running as expected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They help programmers find and fix mistakes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Why learn errors?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Errors help you debug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Knowing common errors makes writing and fixing code faster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Good programs handle errors gracefully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Exercise - Python Errors</a:t>
            </a:r>
            <a:endParaRPr/>
          </a:p>
        </p:txBody>
      </p:sp>
      <p:sp>
        <p:nvSpPr>
          <p:cNvPr id="167" name="Google Shape;167;p8"/>
          <p:cNvSpPr txBox="1">
            <a:spLocks noGrp="1"/>
          </p:cNvSpPr>
          <p:nvPr>
            <p:ph type="body" sz="quarter" idx="11"/>
          </p:nvPr>
        </p:nvSpPr>
        <p:spPr>
          <a:xfrm>
            <a:off x="411480" y="887819"/>
            <a:ext cx="8418860" cy="3741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500" dirty="0"/>
              <a:t>5 minutes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500" dirty="0"/>
              <a:t>Groups of 2-3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r>
              <a:rPr lang="en" sz="1500" dirty="0"/>
              <a:t>Research each python error and demonstrate an example case of when this error will be raised</a:t>
            </a:r>
            <a:endParaRPr sz="1500" dirty="0"/>
          </a:p>
          <a:p>
            <a:pPr marL="133350" lvl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SyntaxError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IndentationError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TypeError 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ValueError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ZeroDivisionError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IndexError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KeyError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AttributeError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FileNotFoundError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ImportError</a:t>
            </a: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2" name="Google Shape;172;g344deeedf12_0_88"/>
          <p:cNvGraphicFramePr/>
          <p:nvPr>
            <p:extLst>
              <p:ext uri="{D42A27DB-BD31-4B8C-83A1-F6EECF244321}">
                <p14:modId xmlns:p14="http://schemas.microsoft.com/office/powerpoint/2010/main" val="4030680131"/>
              </p:ext>
            </p:extLst>
          </p:nvPr>
        </p:nvGraphicFramePr>
        <p:xfrm>
          <a:off x="107150" y="712766"/>
          <a:ext cx="8991600" cy="3870630"/>
        </p:xfrm>
        <a:graphic>
          <a:graphicData uri="http://schemas.openxmlformats.org/drawingml/2006/table">
            <a:tbl>
              <a:tblPr>
                <a:noFill/>
                <a:tableStyleId>{73A53AC3-02BE-4BBD-822B-44806B13A2D8}</a:tableStyleId>
              </a:tblPr>
              <a:tblGrid>
                <a:gridCol w="2550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8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Type</a:t>
                      </a:r>
                      <a:endParaRPr sz="12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When it Happens</a:t>
                      </a:r>
                      <a:endParaRPr sz="1200" b="1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Example</a:t>
                      </a:r>
                      <a:endParaRPr sz="12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SyntaxError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Code violates Python’s rules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Missing colon </a:t>
                      </a: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: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IndentationError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Code has wrong indentation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Misaligned blocks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TypeError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Wrong type used in operation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Add 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int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to 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str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ValueError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Right type, wrong value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int("abc")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ZeroDivisionError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Dividing by zero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5 / 0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IndexError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Index out of range in a sequence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list[5]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with 3 items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KeyError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Missing key in a dictionary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dict["missing"]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AttributeError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Attribute doesn’t exist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int.append()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FileNotFoundError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File does not exist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Open missing file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ImportError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Cannot import a module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Wrong module name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44deeedf12_0_9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Error Handling</a:t>
            </a:r>
            <a:endParaRPr/>
          </a:p>
        </p:txBody>
      </p:sp>
      <p:sp>
        <p:nvSpPr>
          <p:cNvPr id="178" name="Google Shape;178;g344deeedf12_0_97"/>
          <p:cNvSpPr txBox="1"/>
          <p:nvPr/>
        </p:nvSpPr>
        <p:spPr>
          <a:xfrm>
            <a:off x="606210" y="157061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 pitchFamily="34" charset="0"/>
              <a:buChar char="•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Why Handle Errors?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 pitchFamily="34" charset="0"/>
              <a:buChar char="•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Prevent your program from crashing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 pitchFamily="34" charset="0"/>
              <a:buChar char="•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Provide helpful messages to users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 pitchFamily="34" charset="0"/>
              <a:buChar char="•"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Let your code recover from unexpected situations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44deeedf12_0_10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- except</a:t>
            </a:r>
            <a:endParaRPr/>
          </a:p>
        </p:txBody>
      </p:sp>
      <p:sp>
        <p:nvSpPr>
          <p:cNvPr id="184" name="Google Shape;184;g344deeedf12_0_103"/>
          <p:cNvSpPr txBox="1">
            <a:spLocks noGrp="1"/>
          </p:cNvSpPr>
          <p:nvPr>
            <p:ph type="body" sz="quarter" idx="11"/>
          </p:nvPr>
        </p:nvSpPr>
        <p:spPr>
          <a:xfrm>
            <a:off x="411480" y="874643"/>
            <a:ext cx="8321040" cy="37545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Tries a block a code and if an error is raised, can handle that error neatly</a:t>
            </a:r>
            <a:endParaRPr sz="1800" dirty="0"/>
          </a:p>
          <a:p>
            <a:pPr marL="9525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</a:pPr>
            <a:r>
              <a:rPr lang="en" sz="1800" dirty="0"/>
              <a:t>Example:</a:t>
            </a:r>
          </a:p>
          <a:p>
            <a:pPr marL="9525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</a:pPr>
            <a:endParaRPr lang="en"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525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try: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 # code that might cause an error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   number = int("abc")</a:t>
            </a:r>
          </a:p>
          <a:p>
            <a:pPr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except ValueError: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   print("Oops! That wasn't a number.")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44deeedf12_0_1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- except continued</a:t>
            </a:r>
            <a:endParaRPr/>
          </a:p>
        </p:txBody>
      </p:sp>
      <p:sp>
        <p:nvSpPr>
          <p:cNvPr id="190" name="Google Shape;190;g344deeedf12_0_111"/>
          <p:cNvSpPr txBox="1">
            <a:spLocks noGrp="1"/>
          </p:cNvSpPr>
          <p:nvPr>
            <p:ph type="body" sz="quarter" idx="11"/>
          </p:nvPr>
        </p:nvSpPr>
        <p:spPr>
          <a:xfrm>
            <a:off x="411480" y="815009"/>
            <a:ext cx="8321040" cy="3814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●"/>
            </a:pPr>
            <a:r>
              <a:rPr lang="en" sz="1800" dirty="0"/>
              <a:t>Optional</a:t>
            </a:r>
            <a:endParaRPr sz="1800" dirty="0"/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800" dirty="0"/>
              <a:t>: Runs if no error occurs</a:t>
            </a:r>
            <a:endParaRPr sz="1800" dirty="0"/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finally</a:t>
            </a:r>
            <a:r>
              <a:rPr lang="en" sz="1800" dirty="0"/>
              <a:t>: always runs</a:t>
            </a:r>
          </a:p>
          <a:p>
            <a:pPr marL="571500" lvl="1" indent="0">
              <a:lnSpc>
                <a:spcPct val="100000"/>
              </a:lnSpc>
              <a:buClr>
                <a:srgbClr val="000000"/>
              </a:buClr>
              <a:buSzPts val="1800"/>
              <a:buNone/>
            </a:pPr>
            <a:endParaRPr lang="en" sz="18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" sz="1800" dirty="0"/>
              <a:t>Example</a:t>
            </a:r>
            <a:endParaRPr sz="1800" dirty="0"/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try: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result = 10 / 2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except </a:t>
            </a:r>
            <a:r>
              <a:rPr lang="en" sz="14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ZeroDivisionError</a:t>
            </a: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print("Cannot divide by zero.")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print("Division successful.")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finally: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print("Done.")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Examples</a:t>
            </a:r>
            <a:endParaRPr sz="1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4deeedf12_0_1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raise</a:t>
            </a:r>
            <a:endParaRPr/>
          </a:p>
        </p:txBody>
      </p:sp>
      <p:sp>
        <p:nvSpPr>
          <p:cNvPr id="196" name="Google Shape;196;g344deeedf12_0_118"/>
          <p:cNvSpPr txBox="1">
            <a:spLocks noGrp="1"/>
          </p:cNvSpPr>
          <p:nvPr>
            <p:ph type="body" sz="quarter" idx="11"/>
          </p:nvPr>
        </p:nvSpPr>
        <p:spPr>
          <a:xfrm>
            <a:off x="411480" y="750404"/>
            <a:ext cx="8321040" cy="38787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17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6666"/>
              <a:buFont typeface="Arial"/>
              <a:buChar char="●"/>
            </a:pPr>
            <a:r>
              <a:rPr lang="en" sz="1800" dirty="0"/>
              <a:t>“raise” is used to intentionally trigger an error</a:t>
            </a:r>
            <a:endParaRPr lang="en-US" sz="1800" dirty="0"/>
          </a:p>
          <a:p>
            <a:pPr marL="457200" lvl="0" indent="-3517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6666"/>
              <a:buFont typeface="Arial"/>
              <a:buChar char="●"/>
            </a:pPr>
            <a:r>
              <a:rPr lang="en" sz="1800" dirty="0"/>
              <a:t>Helps enforce rules and catch problems early</a:t>
            </a: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Arial"/>
              <a:buChar char="●"/>
            </a:pPr>
            <a:r>
              <a:rPr lang="en" sz="1800" dirty="0"/>
              <a:t>Make your code more predictable and safe</a:t>
            </a:r>
            <a:endParaRPr sz="1800" dirty="0"/>
          </a:p>
          <a:p>
            <a:pPr marL="457200" lvl="0" indent="-3517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6666"/>
              <a:buFont typeface="Arial"/>
              <a:buChar char="●"/>
            </a:pPr>
            <a:r>
              <a:rPr lang="en" sz="1800" dirty="0"/>
              <a:t>Useful for custom error messages or defining your own exceptions</a:t>
            </a: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Arial"/>
              <a:buChar char="●"/>
            </a:pPr>
            <a:r>
              <a:rPr lang="en" sz="1800" dirty="0"/>
              <a:t>Syntax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if age &lt; 0:</a:t>
            </a:r>
            <a:endParaRPr sz="11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1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raise ValueError("Age cannot be negative.")</a:t>
            </a:r>
            <a:endParaRPr sz="11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800" dirty="0"/>
              <a:t>Built-in Exceptions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raise </a:t>
            </a:r>
            <a:r>
              <a:rPr lang="en" sz="12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TypeError</a:t>
            </a: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("This function only accepts strings.")</a:t>
            </a:r>
            <a:endParaRPr sz="12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raise </a:t>
            </a:r>
            <a:r>
              <a:rPr lang="en" sz="12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ZeroDivisionError</a:t>
            </a: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("Cannot divide by zero.")</a:t>
            </a:r>
            <a:endParaRPr sz="12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800" dirty="0"/>
              <a:t>Raised errors can be caught and handled with try / except</a:t>
            </a: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800" dirty="0"/>
              <a:t>If not caught, they will be passed to the output and stop the program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Final Coding Exercise</a:t>
            </a:r>
            <a:endParaRPr/>
          </a:p>
        </p:txBody>
      </p:sp>
      <p:sp>
        <p:nvSpPr>
          <p:cNvPr id="202" name="Google Shape;202;p10"/>
          <p:cNvSpPr txBox="1">
            <a:spLocks noGrp="1"/>
          </p:cNvSpPr>
          <p:nvPr>
            <p:ph type="body" sz="quarter" idx="11"/>
          </p:nvPr>
        </p:nvSpPr>
        <p:spPr>
          <a:xfrm>
            <a:off x="411480" y="819978"/>
            <a:ext cx="8220655" cy="38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6470"/>
              <a:buNone/>
            </a:pPr>
            <a:r>
              <a:rPr lang="en" sz="1700" b="1" dirty="0"/>
              <a:t>20 min </a:t>
            </a:r>
            <a:endParaRPr lang="en-US" sz="1700" b="1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6666"/>
              <a:buNone/>
            </a:pPr>
            <a:endParaRPr sz="1500" b="1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Write a block of code that takes in user input until they guess the random number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Prompt the user to help them with their guess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Handle the following situations</a:t>
            </a:r>
            <a:endParaRPr sz="1700" dirty="0"/>
          </a:p>
          <a:p>
            <a:pPr marL="457200" lvl="0" indent="-32829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 sz="1700" dirty="0"/>
              <a:t>User does not input the right python data type</a:t>
            </a:r>
            <a:endParaRPr sz="1700" dirty="0"/>
          </a:p>
          <a:p>
            <a:pPr marL="457200" lvl="0" indent="-32829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700" dirty="0"/>
              <a:t>User inputs a negative number</a:t>
            </a:r>
            <a:endParaRPr sz="1700" dirty="0"/>
          </a:p>
          <a:p>
            <a:pPr marL="457200" lvl="0" indent="-32829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700" dirty="0"/>
              <a:t>User inputs a number outside the guess range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76470"/>
              <a:buNone/>
            </a:pPr>
            <a:r>
              <a:rPr lang="en" sz="1700" b="1" dirty="0"/>
              <a:t>Hint: use </a:t>
            </a:r>
            <a:r>
              <a:rPr lang="en" sz="1700" b="1" dirty="0">
                <a:solidFill>
                  <a:srgbClr val="FFCC01"/>
                </a:solidFill>
              </a:rPr>
              <a:t>random.randomint() </a:t>
            </a:r>
            <a:r>
              <a:rPr lang="en" sz="1700" b="1" dirty="0"/>
              <a:t>to generate a random number</a:t>
            </a:r>
            <a:endParaRPr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44deeedf12_0_9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Final Coding Exercise</a:t>
            </a:r>
            <a:endParaRPr/>
          </a:p>
        </p:txBody>
      </p:sp>
      <p:sp>
        <p:nvSpPr>
          <p:cNvPr id="208" name="Google Shape;208;g344deeedf12_0_92"/>
          <p:cNvSpPr txBox="1">
            <a:spLocks noGrp="1"/>
          </p:cNvSpPr>
          <p:nvPr>
            <p:ph type="body" sz="quarter" idx="11"/>
          </p:nvPr>
        </p:nvSpPr>
        <p:spPr>
          <a:xfrm>
            <a:off x="411480" y="870065"/>
            <a:ext cx="8321040" cy="375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700" b="1" dirty="0"/>
              <a:t>20 min </a:t>
            </a:r>
            <a:endParaRPr sz="1700" b="1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dirty="0"/>
              <a:t>Given a list of numbers, write a program that: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Loops through the list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Skips any None values or non-integer types with an error message using try/except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Raises a </a:t>
            </a:r>
            <a:r>
              <a:rPr lang="en" sz="1500" dirty="0" err="1"/>
              <a:t>ValueError</a:t>
            </a:r>
            <a:r>
              <a:rPr lang="en" sz="1500" dirty="0"/>
              <a:t> if it finds a negative number (stops the program)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Collects all valid positive integers into a new list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Prints the new list and the sum of its numbers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50" dirty="0"/>
              <a:t>List: </a:t>
            </a: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[10, -5, 20, ‘hello’, 5.2, 15, None, 30]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b="1" dirty="0"/>
              <a:t>Once you have a solution, remove -5 from the list and run it again.</a:t>
            </a:r>
            <a:endParaRPr sz="1500" b="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dirty="0"/>
              <a:t>Hints:  </a:t>
            </a:r>
            <a:endParaRPr sz="1500" dirty="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 dirty="0"/>
              <a:t>Use </a:t>
            </a:r>
            <a:r>
              <a:rPr lang="en" sz="15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isinstance</a:t>
            </a:r>
            <a:r>
              <a:rPr lang="en" sz="15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(item, int) </a:t>
            </a:r>
            <a:r>
              <a:rPr lang="en" sz="1500" dirty="0"/>
              <a:t>to check types</a:t>
            </a:r>
            <a:endParaRPr sz="1500" dirty="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 dirty="0"/>
              <a:t>Build the valid list as you go</a:t>
            </a:r>
            <a:endParaRPr sz="15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5359E76FA9FC24B943D75031F37743A" ma:contentTypeVersion="15" ma:contentTypeDescription="Create a new document." ma:contentTypeScope="" ma:versionID="665a36501b5e2cf15d1c317412bd8a7d">
  <xsd:schema xmlns:xsd="http://www.w3.org/2001/XMLSchema" xmlns:xs="http://www.w3.org/2001/XMLSchema" xmlns:p="http://schemas.microsoft.com/office/2006/metadata/properties" xmlns:ns1="http://schemas.microsoft.com/sharepoint/v3" xmlns:ns2="9dde6c22-8ab6-440c-b851-8913fffc73fe" xmlns:ns3="ae0dd124-40e6-4fe0-86bb-5d5f22ef871f" targetNamespace="http://schemas.microsoft.com/office/2006/metadata/properties" ma:root="true" ma:fieldsID="170321637f7a3b3ff889e1b65524f254" ns1:_="" ns2:_="" ns3:_="">
    <xsd:import namespace="http://schemas.microsoft.com/sharepoint/v3"/>
    <xsd:import namespace="9dde6c22-8ab6-440c-b851-8913fffc73fe"/>
    <xsd:import namespace="ae0dd124-40e6-4fe0-86bb-5d5f22ef87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de6c22-8ab6-440c-b851-8913fffc73f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c874fec-6985-468d-9a86-0194f6fd86d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0dd124-40e6-4fe0-86bb-5d5f22ef871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dde6c22-8ab6-440c-b851-8913fffc73fe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F82FFD5-FE2C-44A9-B406-3CE2F96D800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dde6c22-8ab6-440c-b851-8913fffc73fe"/>
    <ds:schemaRef ds:uri="ae0dd124-40e6-4fe0-86bb-5d5f22ef87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7A1EB01-861B-4BAA-842F-73F9F1C283D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9dde6c22-8ab6-440c-b851-8913fffc73fe"/>
  </ds:schemaRefs>
</ds:datastoreItem>
</file>

<file path=customXml/itemProps3.xml><?xml version="1.0" encoding="utf-8"?>
<ds:datastoreItem xmlns:ds="http://schemas.openxmlformats.org/officeDocument/2006/customXml" ds:itemID="{EEDAE058-693F-4D4D-B3D4-49585FB248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AI2C Slide Template</Template>
  <TotalTime>42</TotalTime>
  <Words>1750</Words>
  <Application>Microsoft Office PowerPoint</Application>
  <PresentationFormat>On-screen Show (16:9)</PresentationFormat>
  <Paragraphs>298</Paragraphs>
  <Slides>25</Slides>
  <Notes>25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Consolas</vt:lpstr>
      <vt:lpstr>Arial Bold</vt:lpstr>
      <vt:lpstr>Roboto</vt:lpstr>
      <vt:lpstr>Arial</vt:lpstr>
      <vt:lpstr>US Army 2023 AFC DEVCOM Logo</vt:lpstr>
      <vt:lpstr>Conditional Statements and Loops</vt:lpstr>
      <vt:lpstr>Review: What is a Boolean?</vt:lpstr>
      <vt:lpstr>Conditional Statements</vt:lpstr>
      <vt:lpstr>The "if" Statement</vt:lpstr>
      <vt:lpstr>The “else” Statement</vt:lpstr>
      <vt:lpstr>The “elif” Statement</vt:lpstr>
      <vt:lpstr>Nested Conditional Statements </vt:lpstr>
      <vt:lpstr>Key Concepts </vt:lpstr>
      <vt:lpstr>Exercise - Conditional statements</vt:lpstr>
      <vt:lpstr>Loops</vt:lpstr>
      <vt:lpstr>range() function </vt:lpstr>
      <vt:lpstr>“for” loop</vt:lpstr>
      <vt:lpstr>“while” loop</vt:lpstr>
      <vt:lpstr>Loop Control Statements</vt:lpstr>
      <vt:lpstr>Nested Loops</vt:lpstr>
      <vt:lpstr>Exercise - Loops</vt:lpstr>
      <vt:lpstr>Python Errors</vt:lpstr>
      <vt:lpstr>Exercise - Python Errors</vt:lpstr>
      <vt:lpstr>PowerPoint Presentation</vt:lpstr>
      <vt:lpstr>Error Handling</vt:lpstr>
      <vt:lpstr>try - except</vt:lpstr>
      <vt:lpstr>try - except continued</vt:lpstr>
      <vt:lpstr>raise</vt:lpstr>
      <vt:lpstr>Final Coding Exercise</vt:lpstr>
      <vt:lpstr>Final Coding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raymond fernandez</cp:lastModifiedBy>
  <cp:revision>66</cp:revision>
  <dcterms:modified xsi:type="dcterms:W3CDTF">2025-12-22T16:03:02Z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0x01010055359E76FA9FC24B943D75031F37743A</vt:lpwstr>
  </property>
  <property fmtid="{D5CDD505-2E9C-101B-9397-08002B2CF9AE}" pid="3" name="MediaServiceImageTags">
    <vt:lpwstr/>
  </property>
</Properties>
</file>