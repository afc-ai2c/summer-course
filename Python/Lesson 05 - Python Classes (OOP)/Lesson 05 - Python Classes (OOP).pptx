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512" r:id="rId5"/>
    <p:sldId id="259" r:id="rId6"/>
    <p:sldId id="260" r:id="rId7"/>
    <p:sldId id="511" r:id="rId8"/>
    <p:sldId id="262" r:id="rId9"/>
    <p:sldId id="265" r:id="rId10"/>
    <p:sldId id="264" r:id="rId11"/>
    <p:sldId id="263" r:id="rId12"/>
    <p:sldId id="266" r:id="rId13"/>
    <p:sldId id="509" r:id="rId14"/>
    <p:sldId id="268" r:id="rId15"/>
    <p:sldId id="510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8" autoAdjust="0"/>
  </p:normalViewPr>
  <p:slideViewPr>
    <p:cSldViewPr snapToGrid="0">
      <p:cViewPr>
        <p:scale>
          <a:sx n="100" d="100"/>
          <a:sy n="100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2CED0-0053-4CA5-BBA9-1B4221C85B4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10795-42AE-41C2-B777-14342A771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Defining the class is different than </a:t>
            </a:r>
            <a:r>
              <a:rPr lang="en-US" i="1" dirty="0"/>
              <a:t>instantiating</a:t>
            </a:r>
            <a:r>
              <a:rPr lang="en-US" i="0" dirty="0"/>
              <a:t> the class</a:t>
            </a:r>
          </a:p>
          <a:p>
            <a:endParaRPr lang="en-US" i="0" dirty="0"/>
          </a:p>
          <a:p>
            <a:r>
              <a:rPr lang="en-US" i="0" dirty="0"/>
              <a:t>Line 7 instantiates </a:t>
            </a:r>
            <a:r>
              <a:rPr lang="en-US" i="0"/>
              <a:t>the class, </a:t>
            </a:r>
            <a:r>
              <a:rPr lang="en-US" i="0" dirty="0"/>
              <a:t>lines 1-5 define the class.</a:t>
            </a:r>
          </a:p>
          <a:p>
            <a:endParaRPr lang="en-US" i="0" dirty="0"/>
          </a:p>
          <a:p>
            <a:r>
              <a:rPr lang="en-US" i="0" dirty="0"/>
              <a:t>Just like defining a function and calling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56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https://docs.python.org/3/reference/datamodel.html#basic-customization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8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FE7D-F7DB-A08D-6069-3C8592C2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6F55C-2FB1-D876-429B-93331F9F3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6E452-4B50-54A6-CCB5-AC4FE1607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FECCB-8479-2F89-9338-278D085DE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0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46578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448109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823377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79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42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23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15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17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61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43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53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09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33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95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5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4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02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49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89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43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42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23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73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89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7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25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14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3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98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18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F3BF4-A71D-449D-2EF9-AFD034590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28BDF-186A-C300-2672-07E96A9B3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82207-3850-A856-C35D-7AE25A80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D7254-F64A-562F-5198-3A8F5F98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93DDF-DD21-D785-FDBB-08F8A1225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322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42D0-F42C-A7AD-451A-4EE65018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6013-3C83-B03F-180D-3F23214C5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1CD4A-3A28-146E-C83F-F79EA416F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7822-0D3E-2524-6605-B1549F9F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55B03-2E61-3D01-E355-C160E3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FE4D-F4E1-835F-C314-1B8981F3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3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0BCBADB4-C04F-4E32-9A86-DF1B5AA91BC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2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B89E-D437-DDEE-EF60-D8FEAACA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dirty="0"/>
              <a:t>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B13B-C7A6-E7BA-F0D6-EB060527ED5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48640" y="1425034"/>
            <a:ext cx="4505899" cy="45720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2405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13C-EF4C-AC2D-69C5-D96E231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F9A6-D074-B4DD-AA37-66A632B0C1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1409102"/>
            <a:ext cx="6795135" cy="4023360"/>
          </a:xfrm>
        </p:spPr>
        <p:txBody>
          <a:bodyPr/>
          <a:lstStyle/>
          <a:p>
            <a:r>
              <a:rPr lang="en-US" dirty="0"/>
              <a:t>Implement classes in a python program to encapsulate functionality</a:t>
            </a:r>
          </a:p>
          <a:p>
            <a:r>
              <a:rPr lang="en-US" dirty="0"/>
              <a:t>Discuss uses of classes and their interactions in python</a:t>
            </a:r>
          </a:p>
        </p:txBody>
      </p:sp>
    </p:spTree>
    <p:extLst>
      <p:ext uri="{BB962C8B-B14F-4D97-AF65-F5344CB8AC3E}">
        <p14:creationId xmlns:p14="http://schemas.microsoft.com/office/powerpoint/2010/main" val="14452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3358-02A1-9D11-085E-A784D400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600E-78B1-F8B2-7357-53D3DF694F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Things in the real world are objects</a:t>
            </a:r>
          </a:p>
          <a:p>
            <a:r>
              <a:rPr lang="en-US" dirty="0"/>
              <a:t>Objects interact with each other</a:t>
            </a:r>
          </a:p>
          <a:p>
            <a:r>
              <a:rPr lang="en-US" dirty="0"/>
              <a:t>Similar types of objects operate in the same manner</a:t>
            </a:r>
          </a:p>
          <a:p>
            <a:r>
              <a:rPr lang="en-US" dirty="0"/>
              <a:t>Seems like a good way to model software</a:t>
            </a:r>
          </a:p>
          <a:p>
            <a:endParaRPr lang="en-US" dirty="0"/>
          </a:p>
          <a:p>
            <a:r>
              <a:rPr lang="en-US" dirty="0"/>
              <a:t>Encapsulation – hiding complexity behind an interface</a:t>
            </a:r>
          </a:p>
        </p:txBody>
      </p:sp>
    </p:spTree>
    <p:extLst>
      <p:ext uri="{BB962C8B-B14F-4D97-AF65-F5344CB8AC3E}">
        <p14:creationId xmlns:p14="http://schemas.microsoft.com/office/powerpoint/2010/main" val="403309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8565-A38F-1BBF-B2FE-EE4B4837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Objects Example</a:t>
            </a:r>
          </a:p>
        </p:txBody>
      </p:sp>
    </p:spTree>
    <p:extLst>
      <p:ext uri="{BB962C8B-B14F-4D97-AF65-F5344CB8AC3E}">
        <p14:creationId xmlns:p14="http://schemas.microsoft.com/office/powerpoint/2010/main" val="3886764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2289-3677-E7D2-3D3D-8007E8A4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BD0A8-4284-9C05-3D99-2A1EA69D06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1" y="1545697"/>
            <a:ext cx="3643216" cy="4023360"/>
          </a:xfrm>
        </p:spPr>
        <p:txBody>
          <a:bodyPr/>
          <a:lstStyle/>
          <a:p>
            <a:r>
              <a:rPr lang="en-US" dirty="0"/>
              <a:t>Attributes – stored data / properties of the class</a:t>
            </a:r>
          </a:p>
          <a:p>
            <a:r>
              <a:rPr lang="en-US" dirty="0"/>
              <a:t>Methods – what the class can do</a:t>
            </a:r>
          </a:p>
          <a:p>
            <a:endParaRPr lang="en-US" dirty="0"/>
          </a:p>
          <a:p>
            <a:r>
              <a:rPr lang="en-US" dirty="0"/>
              <a:t>Objects are instantiations of classes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13C24B-B9DC-51FD-5409-08DEFAB75D6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27306" y="1525154"/>
            <a:ext cx="7617577" cy="3909879"/>
          </a:xfrm>
        </p:spPr>
      </p:pic>
    </p:spTree>
    <p:extLst>
      <p:ext uri="{BB962C8B-B14F-4D97-AF65-F5344CB8AC3E}">
        <p14:creationId xmlns:p14="http://schemas.microsoft.com/office/powerpoint/2010/main" val="394853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275D0-67EA-0F85-3A2B-058FB5AA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class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18302-21D8-3347-CA0D-D5D4B25E7E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908862"/>
            <a:ext cx="10794029" cy="594360"/>
          </a:xfrm>
        </p:spPr>
        <p:txBody>
          <a:bodyPr/>
          <a:lstStyle/>
          <a:p>
            <a:r>
              <a:rPr lang="en-US" dirty="0"/>
              <a:t>Objects are </a:t>
            </a:r>
            <a:r>
              <a:rPr lang="en-US" i="1" dirty="0"/>
              <a:t>constructed </a:t>
            </a:r>
            <a:r>
              <a:rPr lang="en-US" dirty="0"/>
              <a:t>from classes</a:t>
            </a:r>
          </a:p>
          <a:p>
            <a:r>
              <a:rPr lang="en-US" dirty="0"/>
              <a:t>The </a:t>
            </a:r>
            <a:r>
              <a:rPr lang="en-US" i="1" dirty="0"/>
              <a:t>constructor</a:t>
            </a:r>
            <a:r>
              <a:rPr lang="en-US" dirty="0"/>
              <a:t> defines that behavior</a:t>
            </a:r>
          </a:p>
          <a:p>
            <a:r>
              <a:rPr lang="en-US" dirty="0"/>
              <a:t>We can set attributes during the constructor</a:t>
            </a:r>
          </a:p>
          <a:p>
            <a:r>
              <a:rPr lang="en-US" dirty="0"/>
              <a:t>The self keyword references an instantiated object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FBB53A-91EC-FC6C-7076-9A811DB08DC0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48640" y="2592218"/>
            <a:ext cx="6540529" cy="3977592"/>
          </a:xfrm>
        </p:spPr>
      </p:pic>
    </p:spTree>
    <p:extLst>
      <p:ext uri="{BB962C8B-B14F-4D97-AF65-F5344CB8AC3E}">
        <p14:creationId xmlns:p14="http://schemas.microsoft.com/office/powerpoint/2010/main" val="97342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1F67-2A90-22AB-D79B-CF73D5BB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RPS Example</a:t>
            </a:r>
          </a:p>
        </p:txBody>
      </p:sp>
    </p:spTree>
    <p:extLst>
      <p:ext uri="{BB962C8B-B14F-4D97-AF65-F5344CB8AC3E}">
        <p14:creationId xmlns:p14="http://schemas.microsoft.com/office/powerpoint/2010/main" val="26949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A3C6-E251-3490-C61A-40103F43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4C1A-2351-36C1-5C4B-9633F141A9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1" y="2148840"/>
            <a:ext cx="5225436" cy="4023360"/>
          </a:xfrm>
        </p:spPr>
        <p:txBody>
          <a:bodyPr/>
          <a:lstStyle/>
          <a:p>
            <a:r>
              <a:rPr lang="en-US" i="1" dirty="0"/>
              <a:t>Classes</a:t>
            </a:r>
            <a:r>
              <a:rPr lang="en-US" dirty="0"/>
              <a:t> can have their own attributes and methods</a:t>
            </a:r>
          </a:p>
          <a:p>
            <a:r>
              <a:rPr lang="en-US" i="1" dirty="0"/>
              <a:t>Instances</a:t>
            </a:r>
            <a:r>
              <a:rPr lang="en-US" dirty="0"/>
              <a:t> can have their own properties and methods</a:t>
            </a:r>
          </a:p>
          <a:p>
            <a:endParaRPr lang="en-US" dirty="0"/>
          </a:p>
          <a:p>
            <a:r>
              <a:rPr lang="en-US" dirty="0"/>
              <a:t>Pay special attention to the example on the right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CD6C81-E9DA-071D-E4CA-11B1BA7E26E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587987" y="365125"/>
            <a:ext cx="6059487" cy="5861050"/>
          </a:xfrm>
        </p:spPr>
      </p:pic>
    </p:spTree>
    <p:extLst>
      <p:ext uri="{BB962C8B-B14F-4D97-AF65-F5344CB8AC3E}">
        <p14:creationId xmlns:p14="http://schemas.microsoft.com/office/powerpoint/2010/main" val="1095448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8945-85EB-E3BF-A59F-DAF78256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other</a:t>
            </a:r>
            <a:r>
              <a:rPr lang="en-US" dirty="0"/>
              <a:t> class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1BBE0-AC32-50E8-7E8A-3D053049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type of a class is type class</a:t>
            </a:r>
          </a:p>
          <a:p>
            <a:r>
              <a:rPr lang="en-US" dirty="0"/>
              <a:t>The type of an object is class name</a:t>
            </a:r>
          </a:p>
          <a:p>
            <a:endParaRPr lang="en-US" dirty="0"/>
          </a:p>
          <a:p>
            <a:r>
              <a:rPr lang="en-US" dirty="0"/>
              <a:t>See object’s options using </a:t>
            </a:r>
            <a:r>
              <a:rPr lang="en-US" b="1" dirty="0" err="1">
                <a:solidFill>
                  <a:schemeClr val="tx2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dirty="0"/>
          </a:p>
          <a:p>
            <a:r>
              <a:rPr lang="en-US" dirty="0"/>
              <a:t>By convention, things with 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‘__’</a:t>
            </a:r>
            <a:r>
              <a:rPr lang="en-US" dirty="0"/>
              <a:t> or </a:t>
            </a:r>
            <a:r>
              <a:rPr lang="en-US" b="1" dirty="0">
                <a:solidFill>
                  <a:schemeClr val="tx2"/>
                </a:solidFill>
                <a:latin typeface="Congenial UltraLight" panose="020F0502020204030204" pitchFamily="2" charset="0"/>
              </a:rPr>
              <a:t>‘_’</a:t>
            </a:r>
            <a:r>
              <a:rPr lang="en-US" dirty="0"/>
              <a:t> are not to be used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427147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1057-464D-13F5-77D2-14C4F30A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2B45-D8F3-3403-1AF3-F1CB457070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Create a Spacecraft class</a:t>
            </a:r>
          </a:p>
        </p:txBody>
      </p:sp>
    </p:spTree>
    <p:extLst>
      <p:ext uri="{BB962C8B-B14F-4D97-AF65-F5344CB8AC3E}">
        <p14:creationId xmlns:p14="http://schemas.microsoft.com/office/powerpoint/2010/main" val="184941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0A89-F435-3162-5AE0-0FFC9FF3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EFFC-0BC8-66D7-FE2F-BD012CAD45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4454875" cy="4023360"/>
          </a:xfrm>
        </p:spPr>
        <p:txBody>
          <a:bodyPr/>
          <a:lstStyle/>
          <a:p>
            <a:r>
              <a:rPr lang="en-US" dirty="0"/>
              <a:t>One interface that accepts multiple types</a:t>
            </a:r>
          </a:p>
          <a:p>
            <a:r>
              <a:rPr lang="en-US" dirty="0"/>
              <a:t>Can you think of any that we’ve used?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12F224-256C-C204-6FAB-AA2D96A7E15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5531606" y="2148840"/>
            <a:ext cx="4869763" cy="1837533"/>
          </a:xfrm>
        </p:spPr>
      </p:pic>
    </p:spTree>
    <p:extLst>
      <p:ext uri="{BB962C8B-B14F-4D97-AF65-F5344CB8AC3E}">
        <p14:creationId xmlns:p14="http://schemas.microsoft.com/office/powerpoint/2010/main" val="275609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FC6D-A8D9-3E3D-4D63-D0653896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Methods and Overloads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5ECEE-A22F-0F3C-7589-841C4AA7B9B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These methods are called by python to do many operations like sorting or printing</a:t>
            </a:r>
          </a:p>
          <a:p>
            <a:r>
              <a:rPr lang="en-US" dirty="0"/>
              <a:t>You can “overload” or override these methods by defining your own method in a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3DCE-CF7B-51A6-3C41-F1FB28955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59498"/>
            <a:ext cx="4833257" cy="343744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B58465-1E35-305D-945D-1539C4CCD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66573"/>
              </p:ext>
            </p:extLst>
          </p:nvPr>
        </p:nvGraphicFramePr>
        <p:xfrm>
          <a:off x="168965" y="2466103"/>
          <a:ext cx="5307495" cy="3659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1708">
                  <a:extLst>
                    <a:ext uri="{9D8B030D-6E8A-4147-A177-3AD203B41FA5}">
                      <a16:colId xmlns:a16="http://schemas.microsoft.com/office/drawing/2014/main" val="2290486697"/>
                    </a:ext>
                  </a:extLst>
                </a:gridCol>
                <a:gridCol w="2995787">
                  <a:extLst>
                    <a:ext uri="{9D8B030D-6E8A-4147-A177-3AD203B41FA5}">
                      <a16:colId xmlns:a16="http://schemas.microsoft.com/office/drawing/2014/main" val="1269860263"/>
                    </a:ext>
                  </a:extLst>
                </a:gridCol>
              </a:tblGrid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'__bool__’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init_subclass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351229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'__class__’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'__le__’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040209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delattr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lt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257225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dir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'__ne__’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0545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'__doc__’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'__new__’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988457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'__eq__’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'__reduce__’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37107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'__format__’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reduce_ex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42403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repr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06416"/>
                  </a:ext>
                </a:extLst>
              </a:tr>
              <a:tr h="5170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getattribute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setattr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13428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getstate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665662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gt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'__str__’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718954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'__hash__’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'__subclasshook__'</a:t>
                      </a:r>
                      <a:endParaRPr lang="en-US" sz="1600" b="0" i="0" u="none" strike="noStrike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07560"/>
                  </a:ext>
                </a:extLst>
              </a:tr>
              <a:tr h="2618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'__</a:t>
                      </a:r>
                      <a:r>
                        <a:rPr lang="en-US" sz="1600" u="none" strike="noStrike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init</a:t>
                      </a: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</a:rPr>
                        <a:t>__’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ctr">
                    <a:solidFill>
                      <a:srgbClr val="221F2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" marR="6350" marT="6350" marB="0" anchor="b">
                    <a:solidFill>
                      <a:srgbClr val="221F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98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99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1EF8-21DC-82AA-DD06-75DA1D64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Magic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A4682-84FB-59AA-9013-2AB0962421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Initialization &amp; Representation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init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(the constructor)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__str__  </a:t>
            </a:r>
            <a:r>
              <a:rPr lang="en-US" dirty="0"/>
              <a:t>(used by print)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repr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(official representation)</a:t>
            </a:r>
          </a:p>
          <a:p>
            <a:r>
              <a:rPr lang="en-US" dirty="0"/>
              <a:t>Comparison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__eq__ </a:t>
            </a:r>
            <a:r>
              <a:rPr lang="en-US" dirty="0"/>
              <a:t>(==)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__ne__ </a:t>
            </a:r>
            <a:r>
              <a:rPr lang="en-US" dirty="0"/>
              <a:t>(!=)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lt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(&lt;)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__le__ </a:t>
            </a:r>
            <a:r>
              <a:rPr lang="en-US" dirty="0"/>
              <a:t>(&lt;=)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gt</a:t>
            </a: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dirty="0"/>
              <a:t> (&gt;)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ge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(&gt;=)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680F7C-6060-97C4-9F72-B375F95C9ED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Arithmetic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__add__ </a:t>
            </a:r>
            <a:r>
              <a:rPr lang="en-US" dirty="0"/>
              <a:t>(+)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__sub__ </a:t>
            </a:r>
            <a:r>
              <a:rPr lang="en-US" dirty="0"/>
              <a:t>(-)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mul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(*)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truediv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(/)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floordiv</a:t>
            </a:r>
            <a:r>
              <a:rPr lang="en-US" b="1" dirty="0">
                <a:solidFill>
                  <a:schemeClr val="tx2"/>
                </a:solidFill>
              </a:rPr>
              <a:t>__ </a:t>
            </a:r>
            <a:r>
              <a:rPr lang="en-US" dirty="0"/>
              <a:t>(//)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__mod__ </a:t>
            </a:r>
            <a:r>
              <a:rPr lang="en-US" dirty="0"/>
              <a:t>(%)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__pow__ </a:t>
            </a:r>
            <a:r>
              <a:rPr lang="en-US" dirty="0"/>
              <a:t>(**)</a:t>
            </a:r>
          </a:p>
          <a:p>
            <a:r>
              <a:rPr lang="en-US" dirty="0"/>
              <a:t>Container</a:t>
            </a:r>
          </a:p>
          <a:p>
            <a:pPr marL="182880" lvl="1" indent="0">
              <a:buNone/>
            </a:pPr>
            <a:r>
              <a:rPr lang="en-US" b="1" dirty="0">
                <a:solidFill>
                  <a:schemeClr val="tx2"/>
                </a:solidFill>
              </a:rPr>
              <a:t>__</a:t>
            </a:r>
            <a:r>
              <a:rPr lang="en-US" b="1" dirty="0" err="1">
                <a:solidFill>
                  <a:schemeClr val="tx2"/>
                </a:solidFill>
              </a:rPr>
              <a:t>len</a:t>
            </a:r>
            <a:r>
              <a:rPr lang="en-US" b="1" dirty="0">
                <a:solidFill>
                  <a:schemeClr val="tx2"/>
                </a:solidFill>
              </a:rPr>
              <a:t>__</a:t>
            </a:r>
          </a:p>
          <a:p>
            <a:r>
              <a:rPr lang="en-US" dirty="0"/>
              <a:t>And many more!</a:t>
            </a:r>
          </a:p>
        </p:txBody>
      </p:sp>
    </p:spTree>
    <p:extLst>
      <p:ext uri="{BB962C8B-B14F-4D97-AF65-F5344CB8AC3E}">
        <p14:creationId xmlns:p14="http://schemas.microsoft.com/office/powerpoint/2010/main" val="20535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7245-B9ED-F8C8-796D-18FED3A3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311B-654A-9038-72A8-653A37CDA2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Create your own Planet class</a:t>
            </a:r>
          </a:p>
        </p:txBody>
      </p:sp>
    </p:spTree>
    <p:extLst>
      <p:ext uri="{BB962C8B-B14F-4D97-AF65-F5344CB8AC3E}">
        <p14:creationId xmlns:p14="http://schemas.microsoft.com/office/powerpoint/2010/main" val="2920448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FF80-2958-3B41-1B0E-0B01E4A0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1278-9DB9-4C3A-C328-B97AC5ADD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1600518"/>
            <a:ext cx="7721207" cy="4571682"/>
          </a:xfrm>
        </p:spPr>
        <p:txBody>
          <a:bodyPr/>
          <a:lstStyle/>
          <a:p>
            <a:r>
              <a:rPr lang="en-US" dirty="0"/>
              <a:t>Create a Player class</a:t>
            </a:r>
          </a:p>
          <a:p>
            <a:r>
              <a:rPr lang="en-US" dirty="0"/>
              <a:t>Build the terminal instructions for the game!</a:t>
            </a:r>
          </a:p>
        </p:txBody>
      </p:sp>
    </p:spTree>
    <p:extLst>
      <p:ext uri="{BB962C8B-B14F-4D97-AF65-F5344CB8AC3E}">
        <p14:creationId xmlns:p14="http://schemas.microsoft.com/office/powerpoint/2010/main" val="169978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E125A5-5436-DD96-1370-73C37989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3B77-E794-2112-3E9C-59A7C59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16AA4-23DE-E654-F8E9-463AD749CE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1027113"/>
            <a:ext cx="4904709" cy="4023360"/>
          </a:xfrm>
        </p:spPr>
        <p:txBody>
          <a:bodyPr/>
          <a:lstStyle/>
          <a:p>
            <a:r>
              <a:rPr lang="en-US" dirty="0"/>
              <a:t>Classes can inherit from other classes</a:t>
            </a:r>
          </a:p>
          <a:p>
            <a:r>
              <a:rPr lang="en-US" dirty="0"/>
              <a:t>Receives all those classes properties and methods</a:t>
            </a:r>
          </a:p>
          <a:p>
            <a:r>
              <a:rPr lang="en-US" dirty="0"/>
              <a:t>Can overwrite properties / methods with your own</a:t>
            </a:r>
          </a:p>
          <a:p>
            <a:r>
              <a:rPr lang="en-US" dirty="0"/>
              <a:t>All classes inherit from </a:t>
            </a:r>
            <a:r>
              <a:rPr lang="en-US" i="1" dirty="0"/>
              <a:t>object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22EF7F-1B87-E82A-ECFC-13AE0B39FCE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5536734" y="1027112"/>
            <a:ext cx="6019960" cy="5456955"/>
          </a:xfrm>
        </p:spPr>
      </p:pic>
    </p:spTree>
    <p:extLst>
      <p:ext uri="{BB962C8B-B14F-4D97-AF65-F5344CB8AC3E}">
        <p14:creationId xmlns:p14="http://schemas.microsoft.com/office/powerpoint/2010/main" val="2541685285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649</TotalTime>
  <Words>514</Words>
  <Application>Microsoft Office PowerPoint</Application>
  <PresentationFormat>Widescreen</PresentationFormat>
  <Paragraphs>113</Paragraphs>
  <Slides>16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Bold</vt:lpstr>
      <vt:lpstr>Congenial UltraLight</vt:lpstr>
      <vt:lpstr>Consolas</vt:lpstr>
      <vt:lpstr>US Army 2023 AFC DEVCOM Logo</vt:lpstr>
      <vt:lpstr>Classes</vt:lpstr>
      <vt:lpstr>Objectives</vt:lpstr>
      <vt:lpstr>Object Oriented Programming</vt:lpstr>
      <vt:lpstr>Objects Example</vt:lpstr>
      <vt:lpstr>Objects</vt:lpstr>
      <vt:lpstr>Other class ideas</vt:lpstr>
      <vt:lpstr>RPS Example</vt:lpstr>
      <vt:lpstr>Class attributes</vt:lpstr>
      <vt:lpstr>Other other class ideas</vt:lpstr>
      <vt:lpstr>Hands-On #1</vt:lpstr>
      <vt:lpstr>Polymorphism</vt:lpstr>
      <vt:lpstr>Magic Methods and Overloads</vt:lpstr>
      <vt:lpstr>Other Magic Methods</vt:lpstr>
      <vt:lpstr>Hands-On #2</vt:lpstr>
      <vt:lpstr>Final</vt:lpstr>
      <vt:lpstr>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raymond fernandez</cp:lastModifiedBy>
  <cp:revision>53</cp:revision>
  <dcterms:created xsi:type="dcterms:W3CDTF">2025-07-21T13:16:33Z</dcterms:created>
  <dcterms:modified xsi:type="dcterms:W3CDTF">2025-12-23T14:54:47Z</dcterms:modified>
</cp:coreProperties>
</file>