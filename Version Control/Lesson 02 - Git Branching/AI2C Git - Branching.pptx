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3"/>
  </p:notesMasterIdLst>
  <p:sldIdLst>
    <p:sldId id="256" r:id="rId6"/>
    <p:sldId id="257" r:id="rId7"/>
    <p:sldId id="259" r:id="rId8"/>
    <p:sldId id="260" r:id="rId9"/>
    <p:sldId id="261" r:id="rId10"/>
    <p:sldId id="258" r:id="rId11"/>
    <p:sldId id="262" r:id="rId12"/>
    <p:sldId id="263" r:id="rId13"/>
    <p:sldId id="269" r:id="rId14"/>
    <p:sldId id="270" r:id="rId15"/>
    <p:sldId id="264" r:id="rId16"/>
    <p:sldId id="265" r:id="rId17"/>
    <p:sldId id="266" r:id="rId18"/>
    <p:sldId id="271" r:id="rId19"/>
    <p:sldId id="267" r:id="rId20"/>
    <p:sldId id="268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C9E39-12FF-F357-690F-896888F669A0}" v="292" dt="2025-12-23T14:28:08.855"/>
    <p1510:client id="{FFEED2B6-54C5-4E72-9ACA-FD1F60CA9349}" v="20" dt="2025-12-22T14:37:28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Git - branching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Objectives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Utilize branching to manage changes to a git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Discuss the different merge strategies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Resolve merge conflicts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D641A-1FEA-AD5B-09DB-8549301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CCEF215-A0C0-C8EB-88C2-3A7B1A10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git review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2BEDA3-A61E-187A-FBCE-E3657940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3939"/>
            <a:ext cx="10703458" cy="4498259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Staged vs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unstaged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Commit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Diff?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7E6FE-98D1-996D-5724-D767BE30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1E9E7-7C92-A1B4-988B-B9A13FDABD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8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CAD43-946B-D10E-9857-92BCE322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6F28C39-21B6-03C0-DDC3-31C81ABE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Branches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31156D2-94F0-CB6E-A37C-09634533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cs typeface="Arial"/>
              </a:rPr>
              <a:t>Repositories are a tree-like structure </a:t>
            </a:r>
          </a:p>
          <a:p>
            <a:r>
              <a:rPr lang="en-US" sz="2800" dirty="0">
                <a:solidFill>
                  <a:schemeClr val="bg2"/>
                </a:solidFill>
                <a:cs typeface="Arial"/>
              </a:rPr>
              <a:t>Trees have branches </a:t>
            </a:r>
          </a:p>
          <a:p>
            <a:r>
              <a:rPr lang="en-US" sz="2800" dirty="0">
                <a:solidFill>
                  <a:schemeClr val="bg2"/>
                </a:solidFill>
                <a:cs typeface="Arial"/>
              </a:rPr>
              <a:t>Branches are made off of the trunk, or other branches </a:t>
            </a: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914BF-4390-1D53-B26F-E17D53BA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C2A2A-7E12-A3B4-4824-8813031D33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EEDEE9B-20F1-38D2-9E1B-3F4C5C43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3189561"/>
            <a:ext cx="75628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3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87F0B-5787-897B-3A83-0DD0F698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8D2CF84-9339-54B8-9D34-9F8471B7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Why branch?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79B835A-1F34-2BB1-D7D0-FAF7574F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3939"/>
            <a:ext cx="10703458" cy="4498259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Parallel work </a:t>
            </a:r>
            <a:endParaRPr lang="en-US" sz="2800" dirty="0">
              <a:solidFill>
                <a:schemeClr val="bg2"/>
              </a:solidFill>
              <a:latin typeface="Arial"/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Safe experimentation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Protect the main branch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A5178-E249-8435-0352-F91AD3BF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6E4DA-DAE6-74EB-38EA-2845C4B02C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9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"normal" branches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Main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Develop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Feature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Bugfix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Release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Hotfix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 sz="2800" dirty="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Diagram Of Git System Github Branching Workflow Diagram">
            <a:extLst>
              <a:ext uri="{FF2B5EF4-FFF2-40B4-BE49-F238E27FC236}">
                <a16:creationId xmlns:a16="http://schemas.microsoft.com/office/drawing/2014/main" id="{4933AE57-EA34-1BBB-1C8F-D79055F5A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605" y="1193253"/>
            <a:ext cx="76581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FBE2-879E-06EF-33D3-44E1C3E90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D651537-F1C6-AB10-5CC3-2C5FA11B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Conflicts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4B542B0-8CA1-C6C0-2C6E-AA5166D3F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endParaRPr lang="en-US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B12D0-8FF3-0F9F-9774-2A7FB266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CB8D4-D6D8-6B7E-5D31-5C7A53C79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A diagram of a cat and dog&#10;&#10;AI-generated content may be incorrect.">
            <a:extLst>
              <a:ext uri="{FF2B5EF4-FFF2-40B4-BE49-F238E27FC236}">
                <a16:creationId xmlns:a16="http://schemas.microsoft.com/office/drawing/2014/main" id="{76DE7F09-2E32-B459-D266-E7AEA7AE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8" y="1334157"/>
            <a:ext cx="8239125" cy="3086100"/>
          </a:xfrm>
          <a:prstGeom prst="rect">
            <a:avLst/>
          </a:prstGeom>
        </p:spPr>
      </p:pic>
      <p:pic>
        <p:nvPicPr>
          <p:cNvPr id="5" name="Picture 4" descr="It Burns GIFs - Find &amp; Share on GIPHY">
            <a:extLst>
              <a:ext uri="{FF2B5EF4-FFF2-40B4-BE49-F238E27FC236}">
                <a16:creationId xmlns:a16="http://schemas.microsoft.com/office/drawing/2014/main" id="{BC0294A4-37B0-2F1E-3C34-C9A5AF14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4649155"/>
            <a:ext cx="4762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92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956DA-9549-90B6-6719-44F850F1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F2602D9-6D8A-25E6-4099-446E6825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ea typeface="+mj-lt"/>
                <a:cs typeface="+mj-lt"/>
              </a:rPr>
              <a:t>Reading Conflicts (They’re not scary) </a:t>
            </a:r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8DCDFA2-85F1-D3A3-9301-8621785F7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1332562"/>
            <a:ext cx="10285587" cy="467710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3CEF51-880E-D6CB-763A-E6584666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CF94B-98AD-E6B0-C9D3-3CAAD066FF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18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A5533-424E-65C9-056B-C673C6A9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B214A5-BDA0-765F-DB5A-BFC206C3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After resolving?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C3DB99-8F61-B101-4F70-A46B8EE073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cs typeface="Arial"/>
              </a:rPr>
              <a:t>Git add / commit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055B6B-6E0F-671D-EA7F-D482504CD8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51EB7-EE71-9845-011F-8B63182F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770DB-DD22-0197-01FB-806BDB280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" name="Picture 1" descr="Image result for git conflict">
            <a:extLst>
              <a:ext uri="{FF2B5EF4-FFF2-40B4-BE49-F238E27FC236}">
                <a16:creationId xmlns:a16="http://schemas.microsoft.com/office/drawing/2014/main" id="{98E1C92D-6855-A8B1-AB3B-590E1ECA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044" y="1326603"/>
            <a:ext cx="573405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3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3B926-F0D3-A362-A3A2-F769C70F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57E62A-450D-C6FE-2226-28857FA3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Reading Conflicts (Resolution)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6D99C6-3899-061C-F5C8-8D5F29BE9E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TEXT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EFFE2B-8D5C-095C-B2C2-6A7AED689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21" y="873011"/>
            <a:ext cx="6248400" cy="2809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1771-8F87-224B-992E-4950D655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4C303-F099-D183-C955-CF044435A9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37AED6A-061E-B766-ABDB-4D02F6B9E0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5457" y="3254711"/>
            <a:ext cx="6544350" cy="291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9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DAE3C-B8C7-5ECE-DDC1-E55A8044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C323780-D990-CD88-C56D-C4EA8DAA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Reading Conflicts (Pretty Colors)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74E7341-D3B0-841D-131B-27FB1C85B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endParaRPr lang="en-US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876DE-1F78-FD12-7DFE-E8740477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88416-5C7F-04F4-ED8A-C9F8795C4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1C6BF-0168-541A-47FA-B4A56C012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78" y="1338571"/>
            <a:ext cx="8557444" cy="52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5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97518-9EE0-E563-0D61-08B161BB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E7C96DA-881D-93D1-950E-B0D57374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#1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75714FE-F598-FF62-95CA-367797016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Make and merge branches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Resolve conflicts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C04B5-BB35-E001-64F4-2310E271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ED5908-3744-E3F5-7C8B-30B28EFFB4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42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4EF27-EECD-EE6E-4CD7-891F3372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FD7CC9-44EA-0A00-61DF-878B207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Viewing Branches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EAB3983-4E99-F2A6-2C47-99FF4D3A5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3939"/>
            <a:ext cx="10900103" cy="4498259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for Windows has tig built-in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VS Code has branch visualization extensions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D7F00-E328-9355-0E63-FCC40101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23358E-A3EA-DBF7-1F04-0EFE1A3EA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709CA-1BB9-CF32-3A32-EFF31BC9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65ACE1-51C2-BAD6-F0DD-F5519B50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Merging Strategies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8B5174-8223-1A87-1EEC-9D268A8326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Fast-forward applies all commits onto the other branch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--no-ff keeps the branch history and creates a merge commit with all changes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--squash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C9A617-7CE8-F7CA-DE58-32533EA1BB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44D6C-A279-D6C1-67F6-D0CB193C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2AE8-B5E0-4024-8483-68F38AAE42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" name="Picture 1" descr="Understanding Git merge strategies - Mastering Microsoft Dynamics 365 ...">
            <a:extLst>
              <a:ext uri="{FF2B5EF4-FFF2-40B4-BE49-F238E27FC236}">
                <a16:creationId xmlns:a16="http://schemas.microsoft.com/office/drawing/2014/main" id="{C22D0493-C35D-13C1-642F-50C5C02A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32" y="1603321"/>
            <a:ext cx="53244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2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19A7A-F9D4-089D-EF8C-3B3F22CF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D815926-C237-6E1A-15B2-F5ED6E8C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Rebasing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0DB018A-A578-152A-69C8-06FF67C3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endParaRPr lang="en-US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854BC-30C7-D869-4651-5B464C13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1CF15E-53A3-779F-8A6D-31EB36542E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 descr="How to Rebase in Git: Explained Step-by-Step - Become A Better Programmer">
            <a:extLst>
              <a:ext uri="{FF2B5EF4-FFF2-40B4-BE49-F238E27FC236}">
                <a16:creationId xmlns:a16="http://schemas.microsoft.com/office/drawing/2014/main" id="{45472034-0216-F55E-2B6B-4B54CCAE9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803" y="1335651"/>
            <a:ext cx="8224683" cy="512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30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10DA8-8865-787B-A5FC-C0AE925B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A1C7812-219C-ACC4-9834-8383FABB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One strategy (feature branch)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2EB8120-F175-F31D-1A8E-82645DCF9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fetch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rebase main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checkout main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merge --squash feature-a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commit -m “feature-a”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73C51-DC10-79B3-AD34-5FB9671B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315CA-1697-6E21-9830-E09AEB8AF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16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70A58-7967-E185-D6FE-725D519C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5B4F07-FA73-0DFF-3F9D-7CC32E7D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#2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EAFE3F-C12D-AD7F-22C8-3BE177D9C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73941"/>
            <a:ext cx="10870544" cy="4498259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Visualize different merging strategies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E993-A417-EFB2-4068-72B2F7BE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93B49-EC90-50CE-FBAF-ADEC7425DF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E8F6-6C4D-A798-B247-754D544FE1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7180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US Army 2023 AFC DEVCOM Logo</vt:lpstr>
      <vt:lpstr>Git - branching</vt:lpstr>
      <vt:lpstr>Objectives </vt:lpstr>
      <vt:lpstr>git review</vt:lpstr>
      <vt:lpstr>Branches </vt:lpstr>
      <vt:lpstr>Why branch?</vt:lpstr>
      <vt:lpstr>"normal" branches</vt:lpstr>
      <vt:lpstr>Conflicts</vt:lpstr>
      <vt:lpstr>Reading Conflicts (They’re not scary) </vt:lpstr>
      <vt:lpstr>After resolving?</vt:lpstr>
      <vt:lpstr>Reading Conflicts (Resolution) </vt:lpstr>
      <vt:lpstr>Reading Conflicts (Pretty Colors) </vt:lpstr>
      <vt:lpstr>Hands-On #1 </vt:lpstr>
      <vt:lpstr>Viewing Branches </vt:lpstr>
      <vt:lpstr>Merging Strategies </vt:lpstr>
      <vt:lpstr>Rebasing </vt:lpstr>
      <vt:lpstr>One strategy (feature branch) </vt:lpstr>
      <vt:lpstr>Hands-On #2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179</cp:revision>
  <dcterms:created xsi:type="dcterms:W3CDTF">2024-10-01T14:45:26Z</dcterms:created>
  <dcterms:modified xsi:type="dcterms:W3CDTF">2025-12-23T14:28:33Z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